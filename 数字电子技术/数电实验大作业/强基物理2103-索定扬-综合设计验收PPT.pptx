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19"/>
  </p:notesMasterIdLst>
  <p:sldIdLst>
    <p:sldId id="261" r:id="rId2"/>
    <p:sldId id="260" r:id="rId3"/>
    <p:sldId id="264" r:id="rId4"/>
    <p:sldId id="293" r:id="rId5"/>
    <p:sldId id="313" r:id="rId6"/>
    <p:sldId id="314" r:id="rId7"/>
    <p:sldId id="315" r:id="rId8"/>
    <p:sldId id="316" r:id="rId9"/>
    <p:sldId id="312" r:id="rId10"/>
    <p:sldId id="317" r:id="rId11"/>
    <p:sldId id="318" r:id="rId12"/>
    <p:sldId id="319" r:id="rId13"/>
    <p:sldId id="320" r:id="rId14"/>
    <p:sldId id="321" r:id="rId15"/>
    <p:sldId id="322" r:id="rId16"/>
    <p:sldId id="323" r:id="rId17"/>
    <p:sldId id="305" r:id="rId18"/>
  </p:sldIdLst>
  <p:sldSz cx="9144000" cy="6858000" type="screen4x3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050E"/>
    <a:srgbClr val="E0414A"/>
    <a:srgbClr val="FF1919"/>
    <a:srgbClr val="85000B"/>
    <a:srgbClr val="CC0000"/>
    <a:srgbClr val="A6A6A6"/>
    <a:srgbClr val="FF2F2F"/>
    <a:srgbClr val="FF0000"/>
    <a:srgbClr val="DD0012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7" autoAdjust="0"/>
    <p:restoredTop sz="94660"/>
  </p:normalViewPr>
  <p:slideViewPr>
    <p:cSldViewPr snapToGrid="0">
      <p:cViewPr>
        <p:scale>
          <a:sx n="75" d="100"/>
          <a:sy n="75" d="100"/>
        </p:scale>
        <p:origin x="31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5EB25E-F66E-44BE-85A3-62191936F5C2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97D03D-ED54-44F4-93D3-469DD7E833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8706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97D03D-ED54-44F4-93D3-469DD7E8332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6327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97D03D-ED54-44F4-93D3-469DD7E8332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31258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97D03D-ED54-44F4-93D3-469DD7E8332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638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97D03D-ED54-44F4-93D3-469DD7E8332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565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97D03D-ED54-44F4-93D3-469DD7E8332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805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97D03D-ED54-44F4-93D3-469DD7E8332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6046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97D03D-ED54-44F4-93D3-469DD7E8332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10416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97D03D-ED54-44F4-93D3-469DD7E8332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535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Tm="2000">
        <p14:vortex dir="r"/>
      </p:transition>
    </mc:Choice>
    <mc:Fallback xmlns="">
      <p:transition spd="slow" advTm="2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0766475-3C67-4DF2-BE17-F0B0C8E38830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D48D3E-B07C-4BE8-84F7-DD272BD053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Tm="2000">
        <p14:vortex dir="r"/>
      </p:transition>
    </mc:Choice>
    <mc:Fallback xmlns="">
      <p:transition spd="slow" advTm="2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0766475-3C67-4DF2-BE17-F0B0C8E38830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D48D3E-B07C-4BE8-84F7-DD272BD053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Tm="2000">
        <p14:vortex dir="r"/>
      </p:transition>
    </mc:Choice>
    <mc:Fallback xmlns="">
      <p:transition spd="slow" advTm="2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0766475-3C67-4DF2-BE17-F0B0C8E38830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D48D3E-B07C-4BE8-84F7-DD272BD053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Tm="2000">
        <p14:vortex dir="r"/>
      </p:transition>
    </mc:Choice>
    <mc:Fallback xmlns="">
      <p:transition spd="slow" advTm="2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0766475-3C67-4DF2-BE17-F0B0C8E38830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D48D3E-B07C-4BE8-84F7-DD272BD053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Tm="2000">
        <p14:vortex dir="r"/>
      </p:transition>
    </mc:Choice>
    <mc:Fallback xmlns="">
      <p:transition spd="slow" advTm="2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0766475-3C67-4DF2-BE17-F0B0C8E38830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D48D3E-B07C-4BE8-84F7-DD272BD053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Tm="2000">
        <p14:vortex dir="r"/>
      </p:transition>
    </mc:Choice>
    <mc:Fallback xmlns="">
      <p:transition spd="slow" advTm="2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0766475-3C67-4DF2-BE17-F0B0C8E38830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D48D3E-B07C-4BE8-84F7-DD272BD053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Tm="2000">
        <p14:vortex dir="r"/>
      </p:transition>
    </mc:Choice>
    <mc:Fallback xmlns="">
      <p:transition spd="slow" advTm="2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0766475-3C67-4DF2-BE17-F0B0C8E38830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D48D3E-B07C-4BE8-84F7-DD272BD053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Tm="2000">
        <p14:vortex dir="r"/>
      </p:transition>
    </mc:Choice>
    <mc:Fallback xmlns="">
      <p:transition spd="slow" advTm="2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0766475-3C67-4DF2-BE17-F0B0C8E38830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D48D3E-B07C-4BE8-84F7-DD272BD053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Tm="2000">
        <p14:vortex dir="r"/>
      </p:transition>
    </mc:Choice>
    <mc:Fallback xmlns="">
      <p:transition spd="slow" advTm="2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0766475-3C67-4DF2-BE17-F0B0C8E38830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D48D3E-B07C-4BE8-84F7-DD272BD053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Tm="2000">
        <p14:vortex dir="r"/>
      </p:transition>
    </mc:Choice>
    <mc:Fallback xmlns="">
      <p:transition spd="slow" advTm="2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0766475-3C67-4DF2-BE17-F0B0C8E38830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D48D3E-B07C-4BE8-84F7-DD272BD053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Tm="2000">
        <p14:vortex dir="r"/>
      </p:transition>
    </mc:Choice>
    <mc:Fallback xmlns="">
      <p:transition spd="slow" advTm="2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3000" advTm="2000">
        <p14:vortex dir="r"/>
      </p:transition>
    </mc:Choice>
    <mc:Fallback xmlns="">
      <p:transition spd="slow" advTm="2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image" Target="../media/image1.png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 descr="e7d195523061f1c0deeec63e560781cfd59afb0ea006f2a87ABB68BF51EA6619813959095094C18C62A12F549504892A4AAA8C1554C6663626E05CA27F281A14E6983772AFC3FB97135759321DEA3D709AACD122C08E6ED1C77BAD4A88EF4CD28A80260D8F97957F436F83C1F553EF0169027D0DBFA7A77088E1513DBDFC101C4B4DFF310B01A5021663E46B6BC2AAB5"/>
          <p:cNvSpPr txBox="1"/>
          <p:nvPr/>
        </p:nvSpPr>
        <p:spPr>
          <a:xfrm>
            <a:off x="3294287" y="2442934"/>
            <a:ext cx="571342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>
              <a:defRPr/>
            </a:pPr>
            <a:r>
              <a:rPr lang="en-US" altLang="zh-CN" sz="6000" b="1" dirty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itchFamily="34" charset="-122"/>
                <a:ea typeface="微软雅黑" pitchFamily="34" charset="-122"/>
                <a:cs typeface="Kartika" panose="02020503030404060203" pitchFamily="18" charset="0"/>
              </a:rPr>
              <a:t>DDS</a:t>
            </a:r>
            <a:r>
              <a:rPr lang="zh-CN" altLang="en-US" sz="6000" b="1" dirty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itchFamily="34" charset="-122"/>
                <a:ea typeface="微软雅黑" pitchFamily="34" charset="-122"/>
                <a:cs typeface="Kartika" panose="02020503030404060203" pitchFamily="18" charset="0"/>
              </a:rPr>
              <a:t>波形发生器</a:t>
            </a:r>
            <a:endParaRPr lang="en-US" altLang="zh-CN" sz="6000" b="1" dirty="0">
              <a:gradFill>
                <a:gsLst>
                  <a:gs pos="0">
                    <a:srgbClr val="E30613"/>
                  </a:gs>
                  <a:gs pos="100000">
                    <a:srgbClr val="81040B"/>
                  </a:gs>
                </a:gsLst>
                <a:lin ang="5400000" scaled="1"/>
              </a:gradFill>
              <a:latin typeface="微软雅黑" pitchFamily="34" charset="-122"/>
              <a:ea typeface="微软雅黑" pitchFamily="34" charset="-122"/>
              <a:cs typeface="Kartika" panose="02020503030404060203" pitchFamily="18" charset="0"/>
            </a:endParaRPr>
          </a:p>
        </p:txBody>
      </p:sp>
      <p:sp>
        <p:nvSpPr>
          <p:cNvPr id="28" name="文本框 27" descr="e7d195523061f1c0deeec63e560781cfd59afb0ea006f2a87ABB68BF51EA6619813959095094C18C62A12F549504892A4AAA8C1554C6663626E05CA27F281A14E6983772AFC3FB97135759321DEA3D709AACD122C08E6ED1C77BAD4A88EF4CD28A80260D8F97957F436F83C1F553EF0169027D0DBFA7A77088E1513DBDFC101C4B4DFF310B01A5021663E46B6BC2AAB5"/>
          <p:cNvSpPr txBox="1"/>
          <p:nvPr/>
        </p:nvSpPr>
        <p:spPr>
          <a:xfrm>
            <a:off x="3850900" y="4515934"/>
            <a:ext cx="358303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1218565">
              <a:defRPr/>
            </a:pPr>
            <a:r>
              <a:rPr lang="zh-CN" altLang="en-US" sz="2800" b="1" dirty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itchFamily="34" charset="-122"/>
                <a:ea typeface="微软雅黑" pitchFamily="34" charset="-122"/>
                <a:cs typeface="Kartika" panose="02020503030404060203" pitchFamily="18" charset="0"/>
              </a:rPr>
              <a:t>汇报人：索定扬</a:t>
            </a:r>
            <a:endParaRPr lang="en-US" altLang="zh-CN" sz="2800" b="1" dirty="0">
              <a:gradFill>
                <a:gsLst>
                  <a:gs pos="0">
                    <a:srgbClr val="E30613"/>
                  </a:gs>
                  <a:gs pos="100000">
                    <a:srgbClr val="81040B"/>
                  </a:gs>
                </a:gsLst>
                <a:lin ang="5400000" scaled="1"/>
              </a:gradFill>
              <a:latin typeface="微软雅黑" pitchFamily="34" charset="-122"/>
              <a:ea typeface="微软雅黑" pitchFamily="34" charset="-122"/>
              <a:cs typeface="Kartika" panose="02020503030404060203" pitchFamily="18" charset="0"/>
            </a:endParaRPr>
          </a:p>
          <a:p>
            <a:pPr algn="ctr" defTabSz="1218565">
              <a:defRPr/>
            </a:pPr>
            <a:r>
              <a:rPr lang="zh-CN" altLang="en-US" sz="2800" b="1" dirty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itchFamily="34" charset="-122"/>
                <a:ea typeface="微软雅黑" pitchFamily="34" charset="-122"/>
                <a:cs typeface="Kartika" panose="02020503030404060203" pitchFamily="18" charset="0"/>
              </a:rPr>
              <a:t>班级：强基物理</a:t>
            </a:r>
            <a:r>
              <a:rPr lang="en-US" altLang="zh-CN" sz="2800" b="1" dirty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itchFamily="34" charset="-122"/>
                <a:ea typeface="微软雅黑" pitchFamily="34" charset="-122"/>
                <a:cs typeface="Kartika" panose="02020503030404060203" pitchFamily="18" charset="0"/>
              </a:rPr>
              <a:t>2103</a:t>
            </a:r>
          </a:p>
          <a:p>
            <a:pPr algn="ctr" defTabSz="1218565">
              <a:defRPr/>
            </a:pPr>
            <a:r>
              <a:rPr lang="zh-CN" altLang="en-US" sz="2800" b="1" dirty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itchFamily="34" charset="-122"/>
                <a:ea typeface="微软雅黑" pitchFamily="34" charset="-122"/>
                <a:cs typeface="Kartika" panose="02020503030404060203" pitchFamily="18" charset="0"/>
              </a:rPr>
              <a:t>学号：</a:t>
            </a:r>
            <a:r>
              <a:rPr lang="en-US" altLang="zh-CN" sz="2800" b="1" dirty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itchFamily="34" charset="-122"/>
                <a:ea typeface="微软雅黑" pitchFamily="34" charset="-122"/>
                <a:cs typeface="Kartika" panose="02020503030404060203" pitchFamily="18" charset="0"/>
              </a:rPr>
              <a:t>2216110081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17567" y="5691189"/>
            <a:ext cx="8890144" cy="432000"/>
            <a:chOff x="117567" y="5691189"/>
            <a:chExt cx="8890144" cy="432000"/>
          </a:xfrm>
        </p:grpSpPr>
        <p:cxnSp>
          <p:nvCxnSpPr>
            <p:cNvPr id="25" name="直接连接符 24"/>
            <p:cNvCxnSpPr/>
            <p:nvPr/>
          </p:nvCxnSpPr>
          <p:spPr>
            <a:xfrm flipH="1">
              <a:off x="117567" y="5912402"/>
              <a:ext cx="810000" cy="0"/>
            </a:xfrm>
            <a:prstGeom prst="line">
              <a:avLst/>
            </a:prstGeom>
            <a:ln w="12700">
              <a:solidFill>
                <a:srgbClr val="E30613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3472711" y="5907189"/>
              <a:ext cx="5535000" cy="0"/>
            </a:xfrm>
            <a:prstGeom prst="line">
              <a:avLst/>
            </a:prstGeom>
            <a:ln w="12700">
              <a:gradFill>
                <a:gsLst>
                  <a:gs pos="0">
                    <a:srgbClr val="E30613"/>
                  </a:gs>
                  <a:gs pos="100000">
                    <a:srgbClr val="81040B"/>
                  </a:gs>
                </a:gsLst>
                <a:lin ang="0" scaled="0"/>
              </a:gra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组合 1"/>
            <p:cNvGrpSpPr/>
            <p:nvPr/>
          </p:nvGrpSpPr>
          <p:grpSpPr>
            <a:xfrm>
              <a:off x="1159868" y="5691189"/>
              <a:ext cx="2083154" cy="432000"/>
              <a:chOff x="1064303" y="5622335"/>
              <a:chExt cx="2083154" cy="432000"/>
            </a:xfrm>
          </p:grpSpPr>
          <p:sp>
            <p:nvSpPr>
              <p:cNvPr id="15" name="圆角矩形 14"/>
              <p:cNvSpPr>
                <a:spLocks noChangeAspect="1"/>
              </p:cNvSpPr>
              <p:nvPr/>
            </p:nvSpPr>
            <p:spPr>
              <a:xfrm>
                <a:off x="1614503" y="5622335"/>
                <a:ext cx="432553" cy="432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8E040D"/>
                  </a:gs>
                  <a:gs pos="100000">
                    <a:srgbClr val="E40613"/>
                  </a:gs>
                </a:gsLst>
                <a:lin ang="10800000" scaled="0"/>
              </a:gradFill>
              <a:ln w="1270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</a:ln>
              <a:effectLst>
                <a:outerShdw blurRad="254000" dist="1270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dirty="0">
                    <a:latin typeface="Arial Black" panose="020B0A04020102020204" pitchFamily="34" charset="0"/>
                  </a:rPr>
                  <a:t>0</a:t>
                </a:r>
                <a:endParaRPr lang="zh-CN" altLang="en-US" sz="2400" dirty="0">
                  <a:latin typeface="Arial Black" panose="020B0A04020102020204" pitchFamily="34" charset="0"/>
                </a:endParaRPr>
              </a:p>
            </p:txBody>
          </p:sp>
          <p:sp>
            <p:nvSpPr>
              <p:cNvPr id="30" name="圆角矩形 29"/>
              <p:cNvSpPr>
                <a:spLocks noChangeAspect="1"/>
              </p:cNvSpPr>
              <p:nvPr/>
            </p:nvSpPr>
            <p:spPr>
              <a:xfrm>
                <a:off x="1064303" y="5622335"/>
                <a:ext cx="432553" cy="432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8E040D"/>
                  </a:gs>
                  <a:gs pos="100000">
                    <a:srgbClr val="E40613"/>
                  </a:gs>
                </a:gsLst>
                <a:lin ang="10800000" scaled="0"/>
              </a:gradFill>
              <a:ln w="1270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</a:ln>
              <a:effectLst>
                <a:outerShdw blurRad="254000" dist="1270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dirty="0">
                    <a:latin typeface="Arial Black" panose="020B0A04020102020204" pitchFamily="34" charset="0"/>
                  </a:rPr>
                  <a:t>2</a:t>
                </a:r>
                <a:endParaRPr lang="zh-CN" altLang="en-US" sz="2400" dirty="0">
                  <a:latin typeface="Arial Black" panose="020B0A04020102020204" pitchFamily="34" charset="0"/>
                </a:endParaRPr>
              </a:p>
            </p:txBody>
          </p:sp>
          <p:sp>
            <p:nvSpPr>
              <p:cNvPr id="31" name="圆角矩形 30"/>
              <p:cNvSpPr>
                <a:spLocks noChangeAspect="1"/>
              </p:cNvSpPr>
              <p:nvPr/>
            </p:nvSpPr>
            <p:spPr>
              <a:xfrm>
                <a:off x="2164703" y="5622335"/>
                <a:ext cx="432553" cy="432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8E040D"/>
                  </a:gs>
                  <a:gs pos="100000">
                    <a:srgbClr val="E40613"/>
                  </a:gs>
                </a:gsLst>
                <a:lin ang="10800000" scaled="0"/>
              </a:gradFill>
              <a:ln w="1270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</a:ln>
              <a:effectLst>
                <a:outerShdw blurRad="254000" dist="1270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dirty="0">
                    <a:latin typeface="Arial Black" panose="020B0A04020102020204" pitchFamily="34" charset="0"/>
                  </a:rPr>
                  <a:t>2</a:t>
                </a:r>
                <a:endParaRPr lang="zh-CN" altLang="en-US" sz="2400" dirty="0">
                  <a:latin typeface="Arial Black" panose="020B0A04020102020204" pitchFamily="34" charset="0"/>
                </a:endParaRPr>
              </a:p>
            </p:txBody>
          </p:sp>
          <p:sp>
            <p:nvSpPr>
              <p:cNvPr id="32" name="圆角矩形 31"/>
              <p:cNvSpPr>
                <a:spLocks noChangeAspect="1"/>
              </p:cNvSpPr>
              <p:nvPr/>
            </p:nvSpPr>
            <p:spPr>
              <a:xfrm>
                <a:off x="2714904" y="5622335"/>
                <a:ext cx="432553" cy="432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8E040D"/>
                  </a:gs>
                  <a:gs pos="100000">
                    <a:srgbClr val="E40613"/>
                  </a:gs>
                </a:gsLst>
                <a:lin ang="10800000" scaled="0"/>
              </a:gradFill>
              <a:ln w="1270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</a:ln>
              <a:effectLst>
                <a:outerShdw blurRad="254000" dist="1270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dirty="0">
                    <a:latin typeface="Arial Black" panose="020B0A04020102020204" pitchFamily="34" charset="0"/>
                  </a:rPr>
                  <a:t>4</a:t>
                </a:r>
                <a:endParaRPr lang="zh-CN" altLang="en-US" sz="2400" dirty="0">
                  <a:latin typeface="Arial Black" panose="020B0A04020102020204" pitchFamily="34" charset="0"/>
                </a:endParaRPr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439101" y="-8313"/>
            <a:ext cx="2612976" cy="4400343"/>
            <a:chOff x="439101" y="-8313"/>
            <a:chExt cx="2612976" cy="4400343"/>
          </a:xfrm>
        </p:grpSpPr>
        <p:sp>
          <p:nvSpPr>
            <p:cNvPr id="36" name="任意多边形 35"/>
            <p:cNvSpPr/>
            <p:nvPr/>
          </p:nvSpPr>
          <p:spPr>
            <a:xfrm rot="5400000">
              <a:off x="-454583" y="885371"/>
              <a:ext cx="4400343" cy="2612976"/>
            </a:xfrm>
            <a:custGeom>
              <a:avLst/>
              <a:gdLst>
                <a:gd name="connsiteX0" fmla="*/ 0 w 4400343"/>
                <a:gd name="connsiteY0" fmla="*/ 2612976 h 2612976"/>
                <a:gd name="connsiteX1" fmla="*/ 0 w 4400343"/>
                <a:gd name="connsiteY1" fmla="*/ 0 h 2612976"/>
                <a:gd name="connsiteX2" fmla="*/ 3093855 w 4400343"/>
                <a:gd name="connsiteY2" fmla="*/ 0 h 2612976"/>
                <a:gd name="connsiteX3" fmla="*/ 4400343 w 4400343"/>
                <a:gd name="connsiteY3" fmla="*/ 1306488 h 2612976"/>
                <a:gd name="connsiteX4" fmla="*/ 3093855 w 4400343"/>
                <a:gd name="connsiteY4" fmla="*/ 2612976 h 2612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00343" h="2612976">
                  <a:moveTo>
                    <a:pt x="0" y="2612976"/>
                  </a:moveTo>
                  <a:lnTo>
                    <a:pt x="0" y="0"/>
                  </a:lnTo>
                  <a:lnTo>
                    <a:pt x="3093855" y="0"/>
                  </a:lnTo>
                  <a:cubicBezTo>
                    <a:pt x="3815408" y="0"/>
                    <a:pt x="4400343" y="584935"/>
                    <a:pt x="4400343" y="1306488"/>
                  </a:cubicBezTo>
                  <a:cubicBezTo>
                    <a:pt x="4400343" y="2028041"/>
                    <a:pt x="3815408" y="2612976"/>
                    <a:pt x="3093855" y="2612976"/>
                  </a:cubicBezTo>
                  <a:close/>
                </a:path>
              </a:pathLst>
            </a:custGeom>
            <a:gradFill>
              <a:gsLst>
                <a:gs pos="0">
                  <a:srgbClr val="8E040D"/>
                </a:gs>
                <a:gs pos="100000">
                  <a:srgbClr val="E40613"/>
                </a:gs>
              </a:gsLst>
              <a:lin ang="10800000" scaled="0"/>
            </a:gradFill>
            <a:ln w="25400">
              <a:noFill/>
            </a:ln>
            <a:effectLst>
              <a:outerShdw blurRad="254000" dist="127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8" name="组合 7"/>
            <p:cNvGrpSpPr>
              <a:grpSpLocks noChangeAspect="1"/>
            </p:cNvGrpSpPr>
            <p:nvPr/>
          </p:nvGrpSpPr>
          <p:grpSpPr>
            <a:xfrm>
              <a:off x="583589" y="1834933"/>
              <a:ext cx="2323999" cy="2323999"/>
              <a:chOff x="3393105" y="2094170"/>
              <a:chExt cx="2664367" cy="2664367"/>
            </a:xfrm>
          </p:grpSpPr>
          <p:sp>
            <p:nvSpPr>
              <p:cNvPr id="9" name="椭圆 8"/>
              <p:cNvSpPr/>
              <p:nvPr/>
            </p:nvSpPr>
            <p:spPr>
              <a:xfrm>
                <a:off x="3393105" y="2094170"/>
                <a:ext cx="2664367" cy="2664367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  <a:ln w="19050"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279400" dist="152400" dir="2700000" sx="102000" sy="102000" algn="tl" rotWithShape="0">
                  <a:prstClr val="black">
                    <a:alpha val="28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1" name="圆角矩形 10"/>
              <p:cNvSpPr/>
              <p:nvPr/>
            </p:nvSpPr>
            <p:spPr>
              <a:xfrm>
                <a:off x="3655434" y="2332885"/>
                <a:ext cx="2167846" cy="2167846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100000">
                    <a:schemeClr val="bg1"/>
                  </a:gs>
                  <a:gs pos="0">
                    <a:srgbClr val="B8BBBC"/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pic>
          <p:nvPicPr>
            <p:cNvPr id="29" name="Picture 2" descr="E:\Hou\信息化建设\web\校徽相关\xjtu.png"/>
            <p:cNvPicPr>
              <a:picLocks noChangeAspect="1" noChangeArrowheads="1"/>
            </p:cNvPicPr>
            <p:nvPr/>
          </p:nvPicPr>
          <p:blipFill rotWithShape="1">
            <a:blip r:embed="rId3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463" t="76636" r="53439"/>
            <a:stretch/>
          </p:blipFill>
          <p:spPr bwMode="auto">
            <a:xfrm>
              <a:off x="579253" y="503503"/>
              <a:ext cx="2332671" cy="6515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图片 3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87" t="7404" r="17787" b="7404"/>
            <a:stretch>
              <a:fillRect/>
            </a:stretch>
          </p:blipFill>
          <p:spPr>
            <a:xfrm>
              <a:off x="884497" y="2135841"/>
              <a:ext cx="1722182" cy="1722182"/>
            </a:xfrm>
            <a:custGeom>
              <a:avLst/>
              <a:gdLst>
                <a:gd name="connsiteX0" fmla="*/ 1944000 w 3888000"/>
                <a:gd name="connsiteY0" fmla="*/ 0 h 3888000"/>
                <a:gd name="connsiteX1" fmla="*/ 3888000 w 3888000"/>
                <a:gd name="connsiteY1" fmla="*/ 1944000 h 3888000"/>
                <a:gd name="connsiteX2" fmla="*/ 1944000 w 3888000"/>
                <a:gd name="connsiteY2" fmla="*/ 3888000 h 3888000"/>
                <a:gd name="connsiteX3" fmla="*/ 0 w 3888000"/>
                <a:gd name="connsiteY3" fmla="*/ 1944000 h 3888000"/>
                <a:gd name="connsiteX4" fmla="*/ 1944000 w 3888000"/>
                <a:gd name="connsiteY4" fmla="*/ 0 h 388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88000" h="3888000">
                  <a:moveTo>
                    <a:pt x="1944000" y="0"/>
                  </a:moveTo>
                  <a:cubicBezTo>
                    <a:pt x="3017642" y="0"/>
                    <a:pt x="3888000" y="870358"/>
                    <a:pt x="3888000" y="1944000"/>
                  </a:cubicBezTo>
                  <a:cubicBezTo>
                    <a:pt x="3888000" y="3017642"/>
                    <a:pt x="3017642" y="3888000"/>
                    <a:pt x="1944000" y="3888000"/>
                  </a:cubicBezTo>
                  <a:cubicBezTo>
                    <a:pt x="870358" y="3888000"/>
                    <a:pt x="0" y="3017642"/>
                    <a:pt x="0" y="1944000"/>
                  </a:cubicBezTo>
                  <a:cubicBezTo>
                    <a:pt x="0" y="870358"/>
                    <a:pt x="870358" y="0"/>
                    <a:pt x="1944000" y="0"/>
                  </a:cubicBezTo>
                  <a:close/>
                </a:path>
              </a:pathLst>
            </a:custGeom>
          </p:spPr>
        </p:pic>
      </p:grpSp>
      <p:sp>
        <p:nvSpPr>
          <p:cNvPr id="20" name="矩形 19"/>
          <p:cNvSpPr/>
          <p:nvPr/>
        </p:nvSpPr>
        <p:spPr>
          <a:xfrm>
            <a:off x="3294287" y="1649568"/>
            <a:ext cx="466704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FPGA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综合设计实验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文本框 70"/>
          <p:cNvSpPr txBox="1"/>
          <p:nvPr/>
        </p:nvSpPr>
        <p:spPr>
          <a:xfrm>
            <a:off x="5370651" y="899038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设计原理</a:t>
            </a:r>
            <a:endParaRPr lang="zh-CN" altLang="en-US" sz="3600" dirty="0">
              <a:solidFill>
                <a:schemeClr val="bg2">
                  <a:lumMod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5370651" y="1955275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结构框架</a:t>
            </a:r>
            <a:endParaRPr lang="zh-CN" altLang="en-US" sz="3600" dirty="0">
              <a:solidFill>
                <a:schemeClr val="bg2">
                  <a:lumMod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5370651" y="4067749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遇到问题</a:t>
            </a:r>
            <a:endParaRPr lang="zh-CN" altLang="en-US" sz="3600" dirty="0">
              <a:solidFill>
                <a:schemeClr val="bg2">
                  <a:lumMod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" name="组合 4"/>
          <p:cNvGrpSpPr>
            <a:grpSpLocks noChangeAspect="1"/>
          </p:cNvGrpSpPr>
          <p:nvPr/>
        </p:nvGrpSpPr>
        <p:grpSpPr>
          <a:xfrm>
            <a:off x="4524915" y="2030144"/>
            <a:ext cx="540000" cy="540000"/>
            <a:chOff x="4597020" y="2340949"/>
            <a:chExt cx="720000" cy="720000"/>
          </a:xfrm>
        </p:grpSpPr>
        <p:grpSp>
          <p:nvGrpSpPr>
            <p:cNvPr id="82" name="组合 81"/>
            <p:cNvGrpSpPr/>
            <p:nvPr/>
          </p:nvGrpSpPr>
          <p:grpSpPr>
            <a:xfrm>
              <a:off x="4597020" y="2340949"/>
              <a:ext cx="720000" cy="720000"/>
              <a:chOff x="6585478" y="1661232"/>
              <a:chExt cx="928740" cy="928740"/>
            </a:xfrm>
          </p:grpSpPr>
          <p:sp>
            <p:nvSpPr>
              <p:cNvPr id="84" name="椭圆 83"/>
              <p:cNvSpPr/>
              <p:nvPr/>
            </p:nvSpPr>
            <p:spPr>
              <a:xfrm>
                <a:off x="6585478" y="1661232"/>
                <a:ext cx="928740" cy="928740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  <a:ln w="19050"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279400" dist="152400" dir="2700000" sx="102000" sy="102000" algn="tl" rotWithShape="0">
                  <a:prstClr val="black">
                    <a:alpha val="28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85" name="圆角矩形 84"/>
              <p:cNvSpPr/>
              <p:nvPr/>
            </p:nvSpPr>
            <p:spPr>
              <a:xfrm>
                <a:off x="6706336" y="1782090"/>
                <a:ext cx="687025" cy="687025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100000">
                    <a:schemeClr val="bg1"/>
                  </a:gs>
                  <a:gs pos="0">
                    <a:srgbClr val="B8BBBC"/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86" name="椭圆 85"/>
              <p:cNvSpPr/>
              <p:nvPr/>
            </p:nvSpPr>
            <p:spPr>
              <a:xfrm>
                <a:off x="6779848" y="1855602"/>
                <a:ext cx="540000" cy="540000"/>
              </a:xfrm>
              <a:prstGeom prst="ellipse">
                <a:avLst/>
              </a:prstGeom>
              <a:gradFill>
                <a:gsLst>
                  <a:gs pos="0">
                    <a:srgbClr val="E30613"/>
                  </a:gs>
                  <a:gs pos="100000">
                    <a:srgbClr val="81040B"/>
                  </a:gs>
                </a:gsLst>
                <a:lin ang="5400000" scaled="1"/>
              </a:gra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7" name="Freeform 16"/>
            <p:cNvSpPr>
              <a:spLocks noEditPoints="1"/>
            </p:cNvSpPr>
            <p:nvPr/>
          </p:nvSpPr>
          <p:spPr bwMode="auto">
            <a:xfrm>
              <a:off x="4870034" y="2586675"/>
              <a:ext cx="200867" cy="228549"/>
            </a:xfrm>
            <a:custGeom>
              <a:avLst/>
              <a:gdLst>
                <a:gd name="T0" fmla="*/ 381 w 598"/>
                <a:gd name="T1" fmla="*/ 84 h 674"/>
                <a:gd name="T2" fmla="*/ 296 w 598"/>
                <a:gd name="T3" fmla="*/ 169 h 674"/>
                <a:gd name="T4" fmla="*/ 212 w 598"/>
                <a:gd name="T5" fmla="*/ 169 h 674"/>
                <a:gd name="T6" fmla="*/ 127 w 598"/>
                <a:gd name="T7" fmla="*/ 84 h 674"/>
                <a:gd name="T8" fmla="*/ 212 w 598"/>
                <a:gd name="T9" fmla="*/ 0 h 674"/>
                <a:gd name="T10" fmla="*/ 296 w 598"/>
                <a:gd name="T11" fmla="*/ 0 h 674"/>
                <a:gd name="T12" fmla="*/ 381 w 598"/>
                <a:gd name="T13" fmla="*/ 84 h 674"/>
                <a:gd name="T14" fmla="*/ 421 w 598"/>
                <a:gd name="T15" fmla="*/ 84 h 674"/>
                <a:gd name="T16" fmla="*/ 423 w 598"/>
                <a:gd name="T17" fmla="*/ 103 h 674"/>
                <a:gd name="T18" fmla="*/ 317 w 598"/>
                <a:gd name="T19" fmla="*/ 209 h 674"/>
                <a:gd name="T20" fmla="*/ 191 w 598"/>
                <a:gd name="T21" fmla="*/ 209 h 674"/>
                <a:gd name="T22" fmla="*/ 85 w 598"/>
                <a:gd name="T23" fmla="*/ 103 h 674"/>
                <a:gd name="T24" fmla="*/ 87 w 598"/>
                <a:gd name="T25" fmla="*/ 84 h 674"/>
                <a:gd name="T26" fmla="*/ 0 w 598"/>
                <a:gd name="T27" fmla="*/ 188 h 674"/>
                <a:gd name="T28" fmla="*/ 0 w 598"/>
                <a:gd name="T29" fmla="*/ 569 h 674"/>
                <a:gd name="T30" fmla="*/ 106 w 598"/>
                <a:gd name="T31" fmla="*/ 674 h 674"/>
                <a:gd name="T32" fmla="*/ 387 w 598"/>
                <a:gd name="T33" fmla="*/ 674 h 674"/>
                <a:gd name="T34" fmla="*/ 272 w 598"/>
                <a:gd name="T35" fmla="*/ 500 h 674"/>
                <a:gd name="T36" fmla="*/ 461 w 598"/>
                <a:gd name="T37" fmla="*/ 311 h 674"/>
                <a:gd name="T38" fmla="*/ 508 w 598"/>
                <a:gd name="T39" fmla="*/ 317 h 674"/>
                <a:gd name="T40" fmla="*/ 508 w 598"/>
                <a:gd name="T41" fmla="*/ 188 h 674"/>
                <a:gd name="T42" fmla="*/ 421 w 598"/>
                <a:gd name="T43" fmla="*/ 84 h 674"/>
                <a:gd name="T44" fmla="*/ 238 w 598"/>
                <a:gd name="T45" fmla="*/ 422 h 674"/>
                <a:gd name="T46" fmla="*/ 238 w 598"/>
                <a:gd name="T47" fmla="*/ 422 h 674"/>
                <a:gd name="T48" fmla="*/ 106 w 598"/>
                <a:gd name="T49" fmla="*/ 422 h 674"/>
                <a:gd name="T50" fmla="*/ 85 w 598"/>
                <a:gd name="T51" fmla="*/ 401 h 674"/>
                <a:gd name="T52" fmla="*/ 106 w 598"/>
                <a:gd name="T53" fmla="*/ 380 h 674"/>
                <a:gd name="T54" fmla="*/ 238 w 598"/>
                <a:gd name="T55" fmla="*/ 380 h 674"/>
                <a:gd name="T56" fmla="*/ 259 w 598"/>
                <a:gd name="T57" fmla="*/ 401 h 674"/>
                <a:gd name="T58" fmla="*/ 238 w 598"/>
                <a:gd name="T59" fmla="*/ 422 h 674"/>
                <a:gd name="T60" fmla="*/ 280 w 598"/>
                <a:gd name="T61" fmla="*/ 338 h 674"/>
                <a:gd name="T62" fmla="*/ 280 w 598"/>
                <a:gd name="T63" fmla="*/ 338 h 674"/>
                <a:gd name="T64" fmla="*/ 106 w 598"/>
                <a:gd name="T65" fmla="*/ 338 h 674"/>
                <a:gd name="T66" fmla="*/ 85 w 598"/>
                <a:gd name="T67" fmla="*/ 317 h 674"/>
                <a:gd name="T68" fmla="*/ 106 w 598"/>
                <a:gd name="T69" fmla="*/ 296 h 674"/>
                <a:gd name="T70" fmla="*/ 280 w 598"/>
                <a:gd name="T71" fmla="*/ 296 h 674"/>
                <a:gd name="T72" fmla="*/ 302 w 598"/>
                <a:gd name="T73" fmla="*/ 317 h 674"/>
                <a:gd name="T74" fmla="*/ 280 w 598"/>
                <a:gd name="T75" fmla="*/ 338 h 674"/>
                <a:gd name="T76" fmla="*/ 496 w 598"/>
                <a:gd name="T77" fmla="*/ 369 h 674"/>
                <a:gd name="T78" fmla="*/ 463 w 598"/>
                <a:gd name="T79" fmla="*/ 365 h 674"/>
                <a:gd name="T80" fmla="*/ 328 w 598"/>
                <a:gd name="T81" fmla="*/ 500 h 674"/>
                <a:gd name="T82" fmla="*/ 434 w 598"/>
                <a:gd name="T83" fmla="*/ 632 h 674"/>
                <a:gd name="T84" fmla="*/ 463 w 598"/>
                <a:gd name="T85" fmla="*/ 635 h 674"/>
                <a:gd name="T86" fmla="*/ 598 w 598"/>
                <a:gd name="T87" fmla="*/ 500 h 674"/>
                <a:gd name="T88" fmla="*/ 496 w 598"/>
                <a:gd name="T89" fmla="*/ 369 h 674"/>
                <a:gd name="T90" fmla="*/ 539 w 598"/>
                <a:gd name="T91" fmla="*/ 481 h 674"/>
                <a:gd name="T92" fmla="*/ 539 w 598"/>
                <a:gd name="T93" fmla="*/ 481 h 674"/>
                <a:gd name="T94" fmla="*/ 496 w 598"/>
                <a:gd name="T95" fmla="*/ 523 h 674"/>
                <a:gd name="T96" fmla="*/ 463 w 598"/>
                <a:gd name="T97" fmla="*/ 557 h 674"/>
                <a:gd name="T98" fmla="*/ 425 w 598"/>
                <a:gd name="T99" fmla="*/ 557 h 674"/>
                <a:gd name="T100" fmla="*/ 386 w 598"/>
                <a:gd name="T101" fmla="*/ 519 h 674"/>
                <a:gd name="T102" fmla="*/ 386 w 598"/>
                <a:gd name="T103" fmla="*/ 481 h 674"/>
                <a:gd name="T104" fmla="*/ 425 w 598"/>
                <a:gd name="T105" fmla="*/ 481 h 674"/>
                <a:gd name="T106" fmla="*/ 444 w 598"/>
                <a:gd name="T107" fmla="*/ 500 h 674"/>
                <a:gd name="T108" fmla="*/ 496 w 598"/>
                <a:gd name="T109" fmla="*/ 447 h 674"/>
                <a:gd name="T110" fmla="*/ 501 w 598"/>
                <a:gd name="T111" fmla="*/ 443 h 674"/>
                <a:gd name="T112" fmla="*/ 539 w 598"/>
                <a:gd name="T113" fmla="*/ 443 h 674"/>
                <a:gd name="T114" fmla="*/ 539 w 598"/>
                <a:gd name="T115" fmla="*/ 481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98" h="674">
                  <a:moveTo>
                    <a:pt x="381" y="84"/>
                  </a:moveTo>
                  <a:cubicBezTo>
                    <a:pt x="381" y="131"/>
                    <a:pt x="343" y="169"/>
                    <a:pt x="296" y="169"/>
                  </a:cubicBezTo>
                  <a:lnTo>
                    <a:pt x="212" y="169"/>
                  </a:lnTo>
                  <a:cubicBezTo>
                    <a:pt x="165" y="169"/>
                    <a:pt x="127" y="131"/>
                    <a:pt x="127" y="84"/>
                  </a:cubicBezTo>
                  <a:cubicBezTo>
                    <a:pt x="127" y="37"/>
                    <a:pt x="165" y="0"/>
                    <a:pt x="212" y="0"/>
                  </a:cubicBezTo>
                  <a:lnTo>
                    <a:pt x="296" y="0"/>
                  </a:lnTo>
                  <a:cubicBezTo>
                    <a:pt x="343" y="0"/>
                    <a:pt x="381" y="37"/>
                    <a:pt x="381" y="84"/>
                  </a:cubicBezTo>
                  <a:close/>
                  <a:moveTo>
                    <a:pt x="421" y="84"/>
                  </a:moveTo>
                  <a:cubicBezTo>
                    <a:pt x="422" y="90"/>
                    <a:pt x="423" y="97"/>
                    <a:pt x="423" y="103"/>
                  </a:cubicBezTo>
                  <a:cubicBezTo>
                    <a:pt x="423" y="162"/>
                    <a:pt x="376" y="209"/>
                    <a:pt x="317" y="209"/>
                  </a:cubicBezTo>
                  <a:lnTo>
                    <a:pt x="191" y="209"/>
                  </a:lnTo>
                  <a:cubicBezTo>
                    <a:pt x="132" y="209"/>
                    <a:pt x="85" y="162"/>
                    <a:pt x="85" y="103"/>
                  </a:cubicBezTo>
                  <a:cubicBezTo>
                    <a:pt x="85" y="97"/>
                    <a:pt x="85" y="90"/>
                    <a:pt x="87" y="84"/>
                  </a:cubicBezTo>
                  <a:cubicBezTo>
                    <a:pt x="37" y="93"/>
                    <a:pt x="0" y="136"/>
                    <a:pt x="0" y="188"/>
                  </a:cubicBezTo>
                  <a:lnTo>
                    <a:pt x="0" y="569"/>
                  </a:lnTo>
                  <a:cubicBezTo>
                    <a:pt x="0" y="627"/>
                    <a:pt x="47" y="674"/>
                    <a:pt x="106" y="674"/>
                  </a:cubicBezTo>
                  <a:lnTo>
                    <a:pt x="387" y="674"/>
                  </a:lnTo>
                  <a:cubicBezTo>
                    <a:pt x="320" y="646"/>
                    <a:pt x="272" y="579"/>
                    <a:pt x="272" y="500"/>
                  </a:cubicBezTo>
                  <a:cubicBezTo>
                    <a:pt x="272" y="396"/>
                    <a:pt x="357" y="311"/>
                    <a:pt x="461" y="311"/>
                  </a:cubicBezTo>
                  <a:cubicBezTo>
                    <a:pt x="477" y="311"/>
                    <a:pt x="493" y="313"/>
                    <a:pt x="508" y="317"/>
                  </a:cubicBezTo>
                  <a:lnTo>
                    <a:pt x="508" y="188"/>
                  </a:lnTo>
                  <a:cubicBezTo>
                    <a:pt x="508" y="136"/>
                    <a:pt x="470" y="93"/>
                    <a:pt x="421" y="84"/>
                  </a:cubicBezTo>
                  <a:close/>
                  <a:moveTo>
                    <a:pt x="238" y="422"/>
                  </a:moveTo>
                  <a:lnTo>
                    <a:pt x="238" y="422"/>
                  </a:lnTo>
                  <a:lnTo>
                    <a:pt x="106" y="422"/>
                  </a:lnTo>
                  <a:cubicBezTo>
                    <a:pt x="94" y="422"/>
                    <a:pt x="85" y="413"/>
                    <a:pt x="85" y="401"/>
                  </a:cubicBezTo>
                  <a:cubicBezTo>
                    <a:pt x="85" y="390"/>
                    <a:pt x="94" y="380"/>
                    <a:pt x="106" y="380"/>
                  </a:cubicBezTo>
                  <a:lnTo>
                    <a:pt x="238" y="380"/>
                  </a:lnTo>
                  <a:cubicBezTo>
                    <a:pt x="250" y="380"/>
                    <a:pt x="259" y="390"/>
                    <a:pt x="259" y="401"/>
                  </a:cubicBezTo>
                  <a:cubicBezTo>
                    <a:pt x="259" y="413"/>
                    <a:pt x="250" y="422"/>
                    <a:pt x="238" y="422"/>
                  </a:cubicBezTo>
                  <a:close/>
                  <a:moveTo>
                    <a:pt x="280" y="338"/>
                  </a:moveTo>
                  <a:lnTo>
                    <a:pt x="280" y="338"/>
                  </a:lnTo>
                  <a:lnTo>
                    <a:pt x="106" y="338"/>
                  </a:lnTo>
                  <a:cubicBezTo>
                    <a:pt x="94" y="338"/>
                    <a:pt x="85" y="328"/>
                    <a:pt x="85" y="317"/>
                  </a:cubicBezTo>
                  <a:cubicBezTo>
                    <a:pt x="85" y="305"/>
                    <a:pt x="94" y="296"/>
                    <a:pt x="106" y="296"/>
                  </a:cubicBezTo>
                  <a:lnTo>
                    <a:pt x="280" y="296"/>
                  </a:lnTo>
                  <a:cubicBezTo>
                    <a:pt x="292" y="296"/>
                    <a:pt x="302" y="305"/>
                    <a:pt x="302" y="317"/>
                  </a:cubicBezTo>
                  <a:cubicBezTo>
                    <a:pt x="302" y="328"/>
                    <a:pt x="292" y="338"/>
                    <a:pt x="280" y="338"/>
                  </a:cubicBezTo>
                  <a:close/>
                  <a:moveTo>
                    <a:pt x="496" y="369"/>
                  </a:moveTo>
                  <a:cubicBezTo>
                    <a:pt x="486" y="367"/>
                    <a:pt x="474" y="365"/>
                    <a:pt x="463" y="365"/>
                  </a:cubicBezTo>
                  <a:cubicBezTo>
                    <a:pt x="388" y="365"/>
                    <a:pt x="328" y="425"/>
                    <a:pt x="328" y="500"/>
                  </a:cubicBezTo>
                  <a:cubicBezTo>
                    <a:pt x="328" y="565"/>
                    <a:pt x="374" y="619"/>
                    <a:pt x="434" y="632"/>
                  </a:cubicBezTo>
                  <a:cubicBezTo>
                    <a:pt x="443" y="634"/>
                    <a:pt x="453" y="635"/>
                    <a:pt x="463" y="635"/>
                  </a:cubicBezTo>
                  <a:cubicBezTo>
                    <a:pt x="537" y="635"/>
                    <a:pt x="598" y="574"/>
                    <a:pt x="598" y="500"/>
                  </a:cubicBezTo>
                  <a:cubicBezTo>
                    <a:pt x="598" y="437"/>
                    <a:pt x="555" y="384"/>
                    <a:pt x="496" y="369"/>
                  </a:cubicBezTo>
                  <a:close/>
                  <a:moveTo>
                    <a:pt x="539" y="481"/>
                  </a:moveTo>
                  <a:lnTo>
                    <a:pt x="539" y="481"/>
                  </a:lnTo>
                  <a:lnTo>
                    <a:pt x="496" y="523"/>
                  </a:lnTo>
                  <a:lnTo>
                    <a:pt x="463" y="557"/>
                  </a:lnTo>
                  <a:cubicBezTo>
                    <a:pt x="452" y="568"/>
                    <a:pt x="435" y="568"/>
                    <a:pt x="425" y="557"/>
                  </a:cubicBezTo>
                  <a:lnTo>
                    <a:pt x="386" y="519"/>
                  </a:lnTo>
                  <a:cubicBezTo>
                    <a:pt x="376" y="508"/>
                    <a:pt x="376" y="491"/>
                    <a:pt x="386" y="481"/>
                  </a:cubicBezTo>
                  <a:cubicBezTo>
                    <a:pt x="397" y="470"/>
                    <a:pt x="414" y="470"/>
                    <a:pt x="425" y="481"/>
                  </a:cubicBezTo>
                  <a:lnTo>
                    <a:pt x="444" y="500"/>
                  </a:lnTo>
                  <a:lnTo>
                    <a:pt x="496" y="447"/>
                  </a:lnTo>
                  <a:lnTo>
                    <a:pt x="501" y="443"/>
                  </a:lnTo>
                  <a:cubicBezTo>
                    <a:pt x="511" y="432"/>
                    <a:pt x="528" y="432"/>
                    <a:pt x="539" y="443"/>
                  </a:cubicBezTo>
                  <a:cubicBezTo>
                    <a:pt x="549" y="453"/>
                    <a:pt x="549" y="470"/>
                    <a:pt x="539" y="4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>
            <a:grpSpLocks noChangeAspect="1"/>
          </p:cNvGrpSpPr>
          <p:nvPr/>
        </p:nvGrpSpPr>
        <p:grpSpPr>
          <a:xfrm>
            <a:off x="4524915" y="993272"/>
            <a:ext cx="540000" cy="540000"/>
            <a:chOff x="4605330" y="979808"/>
            <a:chExt cx="720000" cy="720000"/>
          </a:xfrm>
        </p:grpSpPr>
        <p:grpSp>
          <p:nvGrpSpPr>
            <p:cNvPr id="76" name="组合 75"/>
            <p:cNvGrpSpPr/>
            <p:nvPr/>
          </p:nvGrpSpPr>
          <p:grpSpPr>
            <a:xfrm>
              <a:off x="4605330" y="979808"/>
              <a:ext cx="720000" cy="720000"/>
              <a:chOff x="6585482" y="1661233"/>
              <a:chExt cx="928741" cy="928741"/>
            </a:xfrm>
          </p:grpSpPr>
          <p:sp>
            <p:nvSpPr>
              <p:cNvPr id="78" name="椭圆 77"/>
              <p:cNvSpPr/>
              <p:nvPr/>
            </p:nvSpPr>
            <p:spPr>
              <a:xfrm>
                <a:off x="6585482" y="1661233"/>
                <a:ext cx="928741" cy="928741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  <a:ln w="19050"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279400" dist="152400" dir="2700000" sx="102000" sy="102000" algn="tl" rotWithShape="0">
                  <a:prstClr val="black">
                    <a:alpha val="28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79" name="圆角矩形 78"/>
              <p:cNvSpPr/>
              <p:nvPr/>
            </p:nvSpPr>
            <p:spPr>
              <a:xfrm>
                <a:off x="6706336" y="1782090"/>
                <a:ext cx="687025" cy="687025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100000">
                    <a:schemeClr val="bg1"/>
                  </a:gs>
                  <a:gs pos="0">
                    <a:srgbClr val="B8BBBC"/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6779848" y="1855602"/>
                <a:ext cx="540000" cy="540000"/>
              </a:xfrm>
              <a:prstGeom prst="ellipse">
                <a:avLst/>
              </a:prstGeom>
              <a:gradFill>
                <a:gsLst>
                  <a:gs pos="0">
                    <a:srgbClr val="E30613"/>
                  </a:gs>
                  <a:gs pos="100000">
                    <a:srgbClr val="81040B"/>
                  </a:gs>
                </a:gsLst>
                <a:lin ang="5400000" scaled="1"/>
              </a:gra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3" name="Freeform 22"/>
            <p:cNvSpPr>
              <a:spLocks noEditPoints="1"/>
            </p:cNvSpPr>
            <p:nvPr/>
          </p:nvSpPr>
          <p:spPr bwMode="auto">
            <a:xfrm>
              <a:off x="4869578" y="1208456"/>
              <a:ext cx="200334" cy="235261"/>
            </a:xfrm>
            <a:custGeom>
              <a:avLst/>
              <a:gdLst>
                <a:gd name="T0" fmla="*/ 90 w 641"/>
                <a:gd name="T1" fmla="*/ 424 h 748"/>
                <a:gd name="T2" fmla="*/ 158 w 641"/>
                <a:gd name="T3" fmla="*/ 424 h 748"/>
                <a:gd name="T4" fmla="*/ 205 w 641"/>
                <a:gd name="T5" fmla="*/ 408 h 748"/>
                <a:gd name="T6" fmla="*/ 291 w 641"/>
                <a:gd name="T7" fmla="*/ 588 h 748"/>
                <a:gd name="T8" fmla="*/ 312 w 641"/>
                <a:gd name="T9" fmla="*/ 475 h 748"/>
                <a:gd name="T10" fmla="*/ 297 w 641"/>
                <a:gd name="T11" fmla="*/ 468 h 748"/>
                <a:gd name="T12" fmla="*/ 298 w 641"/>
                <a:gd name="T13" fmla="*/ 452 h 748"/>
                <a:gd name="T14" fmla="*/ 360 w 641"/>
                <a:gd name="T15" fmla="*/ 452 h 748"/>
                <a:gd name="T16" fmla="*/ 360 w 641"/>
                <a:gd name="T17" fmla="*/ 468 h 748"/>
                <a:gd name="T18" fmla="*/ 346 w 641"/>
                <a:gd name="T19" fmla="*/ 475 h 748"/>
                <a:gd name="T20" fmla="*/ 365 w 641"/>
                <a:gd name="T21" fmla="*/ 583 h 748"/>
                <a:gd name="T22" fmla="*/ 439 w 641"/>
                <a:gd name="T23" fmla="*/ 415 h 748"/>
                <a:gd name="T24" fmla="*/ 482 w 641"/>
                <a:gd name="T25" fmla="*/ 420 h 748"/>
                <a:gd name="T26" fmla="*/ 545 w 641"/>
                <a:gd name="T27" fmla="*/ 420 h 748"/>
                <a:gd name="T28" fmla="*/ 632 w 641"/>
                <a:gd name="T29" fmla="*/ 691 h 748"/>
                <a:gd name="T30" fmla="*/ 544 w 641"/>
                <a:gd name="T31" fmla="*/ 722 h 748"/>
                <a:gd name="T32" fmla="*/ 532 w 641"/>
                <a:gd name="T33" fmla="*/ 681 h 748"/>
                <a:gd name="T34" fmla="*/ 504 w 641"/>
                <a:gd name="T35" fmla="*/ 729 h 748"/>
                <a:gd name="T36" fmla="*/ 123 w 641"/>
                <a:gd name="T37" fmla="*/ 731 h 748"/>
                <a:gd name="T38" fmla="*/ 94 w 641"/>
                <a:gd name="T39" fmla="*/ 681 h 748"/>
                <a:gd name="T40" fmla="*/ 81 w 641"/>
                <a:gd name="T41" fmla="*/ 724 h 748"/>
                <a:gd name="T42" fmla="*/ 0 w 641"/>
                <a:gd name="T43" fmla="*/ 691 h 748"/>
                <a:gd name="T44" fmla="*/ 90 w 641"/>
                <a:gd name="T45" fmla="*/ 424 h 748"/>
                <a:gd name="T46" fmla="*/ 185 w 641"/>
                <a:gd name="T47" fmla="*/ 289 h 748"/>
                <a:gd name="T48" fmla="*/ 185 w 641"/>
                <a:gd name="T49" fmla="*/ 289 h 748"/>
                <a:gd name="T50" fmla="*/ 163 w 641"/>
                <a:gd name="T51" fmla="*/ 264 h 748"/>
                <a:gd name="T52" fmla="*/ 155 w 641"/>
                <a:gd name="T53" fmla="*/ 214 h 748"/>
                <a:gd name="T54" fmla="*/ 155 w 641"/>
                <a:gd name="T55" fmla="*/ 207 h 748"/>
                <a:gd name="T56" fmla="*/ 160 w 641"/>
                <a:gd name="T57" fmla="*/ 204 h 748"/>
                <a:gd name="T58" fmla="*/ 164 w 641"/>
                <a:gd name="T59" fmla="*/ 202 h 748"/>
                <a:gd name="T60" fmla="*/ 199 w 641"/>
                <a:gd name="T61" fmla="*/ 47 h 748"/>
                <a:gd name="T62" fmla="*/ 423 w 641"/>
                <a:gd name="T63" fmla="*/ 43 h 748"/>
                <a:gd name="T64" fmla="*/ 466 w 641"/>
                <a:gd name="T65" fmla="*/ 200 h 748"/>
                <a:gd name="T66" fmla="*/ 472 w 641"/>
                <a:gd name="T67" fmla="*/ 204 h 748"/>
                <a:gd name="T68" fmla="*/ 478 w 641"/>
                <a:gd name="T69" fmla="*/ 207 h 748"/>
                <a:gd name="T70" fmla="*/ 478 w 641"/>
                <a:gd name="T71" fmla="*/ 214 h 748"/>
                <a:gd name="T72" fmla="*/ 471 w 641"/>
                <a:gd name="T73" fmla="*/ 263 h 748"/>
                <a:gd name="T74" fmla="*/ 449 w 641"/>
                <a:gd name="T75" fmla="*/ 288 h 748"/>
                <a:gd name="T76" fmla="*/ 328 w 641"/>
                <a:gd name="T77" fmla="*/ 397 h 748"/>
                <a:gd name="T78" fmla="*/ 299 w 641"/>
                <a:gd name="T79" fmla="*/ 395 h 748"/>
                <a:gd name="T80" fmla="*/ 185 w 641"/>
                <a:gd name="T81" fmla="*/ 289 h 7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41" h="748">
                  <a:moveTo>
                    <a:pt x="90" y="424"/>
                  </a:moveTo>
                  <a:cubicBezTo>
                    <a:pt x="114" y="424"/>
                    <a:pt x="137" y="424"/>
                    <a:pt x="158" y="424"/>
                  </a:cubicBezTo>
                  <a:cubicBezTo>
                    <a:pt x="178" y="425"/>
                    <a:pt x="194" y="421"/>
                    <a:pt x="205" y="408"/>
                  </a:cubicBezTo>
                  <a:lnTo>
                    <a:pt x="291" y="588"/>
                  </a:lnTo>
                  <a:lnTo>
                    <a:pt x="312" y="475"/>
                  </a:lnTo>
                  <a:lnTo>
                    <a:pt x="297" y="468"/>
                  </a:lnTo>
                  <a:lnTo>
                    <a:pt x="298" y="452"/>
                  </a:lnTo>
                  <a:lnTo>
                    <a:pt x="360" y="452"/>
                  </a:lnTo>
                  <a:lnTo>
                    <a:pt x="360" y="468"/>
                  </a:lnTo>
                  <a:lnTo>
                    <a:pt x="346" y="475"/>
                  </a:lnTo>
                  <a:lnTo>
                    <a:pt x="365" y="583"/>
                  </a:lnTo>
                  <a:lnTo>
                    <a:pt x="439" y="415"/>
                  </a:lnTo>
                  <a:cubicBezTo>
                    <a:pt x="450" y="420"/>
                    <a:pt x="464" y="422"/>
                    <a:pt x="482" y="420"/>
                  </a:cubicBezTo>
                  <a:cubicBezTo>
                    <a:pt x="502" y="420"/>
                    <a:pt x="523" y="420"/>
                    <a:pt x="545" y="420"/>
                  </a:cubicBezTo>
                  <a:cubicBezTo>
                    <a:pt x="604" y="475"/>
                    <a:pt x="641" y="606"/>
                    <a:pt x="632" y="691"/>
                  </a:cubicBezTo>
                  <a:cubicBezTo>
                    <a:pt x="614" y="704"/>
                    <a:pt x="583" y="714"/>
                    <a:pt x="544" y="722"/>
                  </a:cubicBezTo>
                  <a:lnTo>
                    <a:pt x="532" y="681"/>
                  </a:lnTo>
                  <a:lnTo>
                    <a:pt x="504" y="729"/>
                  </a:lnTo>
                  <a:cubicBezTo>
                    <a:pt x="390" y="746"/>
                    <a:pt x="233" y="748"/>
                    <a:pt x="123" y="731"/>
                  </a:cubicBezTo>
                  <a:lnTo>
                    <a:pt x="94" y="681"/>
                  </a:lnTo>
                  <a:lnTo>
                    <a:pt x="81" y="724"/>
                  </a:lnTo>
                  <a:cubicBezTo>
                    <a:pt x="43" y="716"/>
                    <a:pt x="14" y="705"/>
                    <a:pt x="0" y="691"/>
                  </a:cubicBezTo>
                  <a:cubicBezTo>
                    <a:pt x="1" y="616"/>
                    <a:pt x="15" y="489"/>
                    <a:pt x="90" y="424"/>
                  </a:cubicBezTo>
                  <a:close/>
                  <a:moveTo>
                    <a:pt x="185" y="289"/>
                  </a:moveTo>
                  <a:lnTo>
                    <a:pt x="185" y="289"/>
                  </a:lnTo>
                  <a:cubicBezTo>
                    <a:pt x="175" y="284"/>
                    <a:pt x="168" y="275"/>
                    <a:pt x="163" y="264"/>
                  </a:cubicBezTo>
                  <a:cubicBezTo>
                    <a:pt x="157" y="251"/>
                    <a:pt x="155" y="234"/>
                    <a:pt x="155" y="214"/>
                  </a:cubicBezTo>
                  <a:lnTo>
                    <a:pt x="155" y="207"/>
                  </a:lnTo>
                  <a:lnTo>
                    <a:pt x="160" y="204"/>
                  </a:lnTo>
                  <a:cubicBezTo>
                    <a:pt x="162" y="203"/>
                    <a:pt x="163" y="202"/>
                    <a:pt x="164" y="202"/>
                  </a:cubicBezTo>
                  <a:cubicBezTo>
                    <a:pt x="152" y="117"/>
                    <a:pt x="162" y="78"/>
                    <a:pt x="199" y="47"/>
                  </a:cubicBezTo>
                  <a:cubicBezTo>
                    <a:pt x="256" y="0"/>
                    <a:pt x="365" y="0"/>
                    <a:pt x="423" y="43"/>
                  </a:cubicBezTo>
                  <a:cubicBezTo>
                    <a:pt x="463" y="72"/>
                    <a:pt x="477" y="123"/>
                    <a:pt x="466" y="200"/>
                  </a:cubicBezTo>
                  <a:cubicBezTo>
                    <a:pt x="468" y="201"/>
                    <a:pt x="470" y="202"/>
                    <a:pt x="472" y="204"/>
                  </a:cubicBezTo>
                  <a:lnTo>
                    <a:pt x="478" y="207"/>
                  </a:lnTo>
                  <a:lnTo>
                    <a:pt x="478" y="214"/>
                  </a:lnTo>
                  <a:cubicBezTo>
                    <a:pt x="478" y="233"/>
                    <a:pt x="476" y="250"/>
                    <a:pt x="471" y="263"/>
                  </a:cubicBezTo>
                  <a:cubicBezTo>
                    <a:pt x="466" y="275"/>
                    <a:pt x="459" y="283"/>
                    <a:pt x="449" y="288"/>
                  </a:cubicBezTo>
                  <a:cubicBezTo>
                    <a:pt x="434" y="338"/>
                    <a:pt x="381" y="392"/>
                    <a:pt x="328" y="397"/>
                  </a:cubicBezTo>
                  <a:cubicBezTo>
                    <a:pt x="319" y="398"/>
                    <a:pt x="308" y="398"/>
                    <a:pt x="299" y="395"/>
                  </a:cubicBezTo>
                  <a:cubicBezTo>
                    <a:pt x="241" y="374"/>
                    <a:pt x="203" y="350"/>
                    <a:pt x="185" y="2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87" name="组合 86"/>
          <p:cNvGrpSpPr>
            <a:grpSpLocks noChangeAspect="1"/>
          </p:cNvGrpSpPr>
          <p:nvPr/>
        </p:nvGrpSpPr>
        <p:grpSpPr>
          <a:xfrm>
            <a:off x="4524915" y="3067016"/>
            <a:ext cx="540000" cy="540000"/>
            <a:chOff x="6782426" y="4000925"/>
            <a:chExt cx="928740" cy="928740"/>
          </a:xfrm>
        </p:grpSpPr>
        <p:grpSp>
          <p:nvGrpSpPr>
            <p:cNvPr id="88" name="组合 87"/>
            <p:cNvGrpSpPr/>
            <p:nvPr/>
          </p:nvGrpSpPr>
          <p:grpSpPr>
            <a:xfrm>
              <a:off x="6782426" y="4000925"/>
              <a:ext cx="928740" cy="928740"/>
              <a:chOff x="6585478" y="1661232"/>
              <a:chExt cx="928740" cy="928740"/>
            </a:xfrm>
          </p:grpSpPr>
          <p:sp>
            <p:nvSpPr>
              <p:cNvPr id="90" name="椭圆 89"/>
              <p:cNvSpPr/>
              <p:nvPr/>
            </p:nvSpPr>
            <p:spPr>
              <a:xfrm>
                <a:off x="6585478" y="1661232"/>
                <a:ext cx="928740" cy="928740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  <a:ln w="19050"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279400" dist="152400" dir="2700000" sx="102000" sy="102000" algn="tl" rotWithShape="0">
                  <a:prstClr val="black">
                    <a:alpha val="28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91" name="圆角矩形 90"/>
              <p:cNvSpPr/>
              <p:nvPr/>
            </p:nvSpPr>
            <p:spPr>
              <a:xfrm>
                <a:off x="6706336" y="1782090"/>
                <a:ext cx="687025" cy="687025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100000">
                    <a:schemeClr val="bg1"/>
                  </a:gs>
                  <a:gs pos="0">
                    <a:srgbClr val="B8BBBC"/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92" name="椭圆 91"/>
              <p:cNvSpPr/>
              <p:nvPr/>
            </p:nvSpPr>
            <p:spPr>
              <a:xfrm>
                <a:off x="6779848" y="1855602"/>
                <a:ext cx="540000" cy="540000"/>
              </a:xfrm>
              <a:prstGeom prst="ellipse">
                <a:avLst/>
              </a:prstGeom>
              <a:gradFill>
                <a:gsLst>
                  <a:gs pos="0">
                    <a:srgbClr val="E30613"/>
                  </a:gs>
                  <a:gs pos="100000">
                    <a:srgbClr val="81040B"/>
                  </a:gs>
                </a:gsLst>
                <a:lin ang="5400000" scaled="1"/>
              </a:gra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9" name="Freeform 31"/>
            <p:cNvSpPr>
              <a:spLocks noEditPoints="1"/>
            </p:cNvSpPr>
            <p:nvPr/>
          </p:nvSpPr>
          <p:spPr bwMode="auto">
            <a:xfrm>
              <a:off x="7118936" y="4312540"/>
              <a:ext cx="260967" cy="328186"/>
            </a:xfrm>
            <a:custGeom>
              <a:avLst/>
              <a:gdLst>
                <a:gd name="T0" fmla="*/ 82 w 484"/>
                <a:gd name="T1" fmla="*/ 166 h 606"/>
                <a:gd name="T2" fmla="*/ 82 w 484"/>
                <a:gd name="T3" fmla="*/ 186 h 606"/>
                <a:gd name="T4" fmla="*/ 331 w 484"/>
                <a:gd name="T5" fmla="*/ 193 h 606"/>
                <a:gd name="T6" fmla="*/ 331 w 484"/>
                <a:gd name="T7" fmla="*/ 173 h 606"/>
                <a:gd name="T8" fmla="*/ 387 w 484"/>
                <a:gd name="T9" fmla="*/ 556 h 606"/>
                <a:gd name="T10" fmla="*/ 388 w 484"/>
                <a:gd name="T11" fmla="*/ 564 h 606"/>
                <a:gd name="T12" fmla="*/ 418 w 484"/>
                <a:gd name="T13" fmla="*/ 594 h 606"/>
                <a:gd name="T14" fmla="*/ 474 w 484"/>
                <a:gd name="T15" fmla="*/ 581 h 606"/>
                <a:gd name="T16" fmla="*/ 474 w 484"/>
                <a:gd name="T17" fmla="*/ 531 h 606"/>
                <a:gd name="T18" fmla="*/ 444 w 484"/>
                <a:gd name="T19" fmla="*/ 501 h 606"/>
                <a:gd name="T20" fmla="*/ 418 w 484"/>
                <a:gd name="T21" fmla="*/ 519 h 606"/>
                <a:gd name="T22" fmla="*/ 384 w 484"/>
                <a:gd name="T23" fmla="*/ 553 h 606"/>
                <a:gd name="T24" fmla="*/ 218 w 484"/>
                <a:gd name="T25" fmla="*/ 354 h 606"/>
                <a:gd name="T26" fmla="*/ 229 w 484"/>
                <a:gd name="T27" fmla="*/ 336 h 606"/>
                <a:gd name="T28" fmla="*/ 207 w 484"/>
                <a:gd name="T29" fmla="*/ 320 h 606"/>
                <a:gd name="T30" fmla="*/ 207 w 484"/>
                <a:gd name="T31" fmla="*/ 327 h 606"/>
                <a:gd name="T32" fmla="*/ 246 w 484"/>
                <a:gd name="T33" fmla="*/ 422 h 606"/>
                <a:gd name="T34" fmla="*/ 297 w 484"/>
                <a:gd name="T35" fmla="*/ 364 h 606"/>
                <a:gd name="T36" fmla="*/ 296 w 484"/>
                <a:gd name="T37" fmla="*/ 357 h 606"/>
                <a:gd name="T38" fmla="*/ 224 w 484"/>
                <a:gd name="T39" fmla="*/ 362 h 606"/>
                <a:gd name="T40" fmla="*/ 224 w 484"/>
                <a:gd name="T41" fmla="*/ 368 h 606"/>
                <a:gd name="T42" fmla="*/ 246 w 484"/>
                <a:gd name="T43" fmla="*/ 422 h 606"/>
                <a:gd name="T44" fmla="*/ 429 w 484"/>
                <a:gd name="T45" fmla="*/ 493 h 606"/>
                <a:gd name="T46" fmla="*/ 429 w 484"/>
                <a:gd name="T47" fmla="*/ 487 h 606"/>
                <a:gd name="T48" fmla="*/ 394 w 484"/>
                <a:gd name="T49" fmla="*/ 451 h 606"/>
                <a:gd name="T50" fmla="*/ 256 w 484"/>
                <a:gd name="T51" fmla="*/ 425 h 606"/>
                <a:gd name="T52" fmla="*/ 256 w 484"/>
                <a:gd name="T53" fmla="*/ 432 h 606"/>
                <a:gd name="T54" fmla="*/ 354 w 484"/>
                <a:gd name="T55" fmla="*/ 530 h 606"/>
                <a:gd name="T56" fmla="*/ 395 w 484"/>
                <a:gd name="T57" fmla="*/ 528 h 606"/>
                <a:gd name="T58" fmla="*/ 20 w 484"/>
                <a:gd name="T59" fmla="*/ 150 h 606"/>
                <a:gd name="T60" fmla="*/ 89 w 484"/>
                <a:gd name="T61" fmla="*/ 152 h 606"/>
                <a:gd name="T62" fmla="*/ 141 w 484"/>
                <a:gd name="T63" fmla="*/ 100 h 606"/>
                <a:gd name="T64" fmla="*/ 141 w 484"/>
                <a:gd name="T65" fmla="*/ 93 h 606"/>
                <a:gd name="T66" fmla="*/ 383 w 484"/>
                <a:gd name="T67" fmla="*/ 27 h 606"/>
                <a:gd name="T68" fmla="*/ 394 w 484"/>
                <a:gd name="T69" fmla="*/ 422 h 606"/>
                <a:gd name="T70" fmla="*/ 414 w 484"/>
                <a:gd name="T71" fmla="*/ 449 h 606"/>
                <a:gd name="T72" fmla="*/ 414 w 484"/>
                <a:gd name="T73" fmla="*/ 39 h 606"/>
                <a:gd name="T74" fmla="*/ 383 w 484"/>
                <a:gd name="T75" fmla="*/ 0 h 606"/>
                <a:gd name="T76" fmla="*/ 121 w 484"/>
                <a:gd name="T77" fmla="*/ 2 h 606"/>
                <a:gd name="T78" fmla="*/ 0 w 484"/>
                <a:gd name="T79" fmla="*/ 123 h 606"/>
                <a:gd name="T80" fmla="*/ 0 w 484"/>
                <a:gd name="T81" fmla="*/ 492 h 606"/>
                <a:gd name="T82" fmla="*/ 32 w 484"/>
                <a:gd name="T83" fmla="*/ 530 h 606"/>
                <a:gd name="T84" fmla="*/ 319 w 484"/>
                <a:gd name="T85" fmla="*/ 524 h 606"/>
                <a:gd name="T86" fmla="*/ 305 w 484"/>
                <a:gd name="T87" fmla="*/ 503 h 606"/>
                <a:gd name="T88" fmla="*/ 20 w 484"/>
                <a:gd name="T89" fmla="*/ 492 h 606"/>
                <a:gd name="T90" fmla="*/ 20 w 484"/>
                <a:gd name="T91" fmla="*/ 150 h 606"/>
                <a:gd name="T92" fmla="*/ 156 w 484"/>
                <a:gd name="T93" fmla="*/ 321 h 606"/>
                <a:gd name="T94" fmla="*/ 156 w 484"/>
                <a:gd name="T95" fmla="*/ 301 h 606"/>
                <a:gd name="T96" fmla="*/ 82 w 484"/>
                <a:gd name="T97" fmla="*/ 294 h 606"/>
                <a:gd name="T98" fmla="*/ 82 w 484"/>
                <a:gd name="T99" fmla="*/ 315 h 606"/>
                <a:gd name="T100" fmla="*/ 82 w 484"/>
                <a:gd name="T101" fmla="*/ 272 h 606"/>
                <a:gd name="T102" fmla="*/ 331 w 484"/>
                <a:gd name="T103" fmla="*/ 279 h 606"/>
                <a:gd name="T104" fmla="*/ 331 w 484"/>
                <a:gd name="T105" fmla="*/ 258 h 606"/>
                <a:gd name="T106" fmla="*/ 82 w 484"/>
                <a:gd name="T107" fmla="*/ 252 h 606"/>
                <a:gd name="T108" fmla="*/ 82 w 484"/>
                <a:gd name="T109" fmla="*/ 272 h 606"/>
                <a:gd name="T110" fmla="*/ 82 w 484"/>
                <a:gd name="T111" fmla="*/ 236 h 606"/>
                <a:gd name="T112" fmla="*/ 331 w 484"/>
                <a:gd name="T113" fmla="*/ 229 h 606"/>
                <a:gd name="T114" fmla="*/ 331 w 484"/>
                <a:gd name="T115" fmla="*/ 209 h 606"/>
                <a:gd name="T116" fmla="*/ 82 w 484"/>
                <a:gd name="T117" fmla="*/ 216 h 6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84" h="606">
                  <a:moveTo>
                    <a:pt x="331" y="166"/>
                  </a:moveTo>
                  <a:lnTo>
                    <a:pt x="82" y="166"/>
                  </a:lnTo>
                  <a:lnTo>
                    <a:pt x="82" y="173"/>
                  </a:lnTo>
                  <a:lnTo>
                    <a:pt x="82" y="186"/>
                  </a:lnTo>
                  <a:lnTo>
                    <a:pt x="82" y="193"/>
                  </a:lnTo>
                  <a:lnTo>
                    <a:pt x="331" y="193"/>
                  </a:lnTo>
                  <a:lnTo>
                    <a:pt x="331" y="186"/>
                  </a:lnTo>
                  <a:lnTo>
                    <a:pt x="331" y="173"/>
                  </a:lnTo>
                  <a:lnTo>
                    <a:pt x="331" y="166"/>
                  </a:lnTo>
                  <a:close/>
                  <a:moveTo>
                    <a:pt x="387" y="556"/>
                  </a:moveTo>
                  <a:lnTo>
                    <a:pt x="384" y="560"/>
                  </a:lnTo>
                  <a:lnTo>
                    <a:pt x="388" y="564"/>
                  </a:lnTo>
                  <a:lnTo>
                    <a:pt x="408" y="583"/>
                  </a:lnTo>
                  <a:lnTo>
                    <a:pt x="418" y="594"/>
                  </a:lnTo>
                  <a:cubicBezTo>
                    <a:pt x="430" y="606"/>
                    <a:pt x="450" y="606"/>
                    <a:pt x="462" y="594"/>
                  </a:cubicBezTo>
                  <a:lnTo>
                    <a:pt x="474" y="581"/>
                  </a:lnTo>
                  <a:cubicBezTo>
                    <a:pt x="481" y="575"/>
                    <a:pt x="484" y="565"/>
                    <a:pt x="483" y="556"/>
                  </a:cubicBezTo>
                  <a:cubicBezTo>
                    <a:pt x="484" y="547"/>
                    <a:pt x="481" y="538"/>
                    <a:pt x="474" y="531"/>
                  </a:cubicBezTo>
                  <a:lnTo>
                    <a:pt x="462" y="519"/>
                  </a:lnTo>
                  <a:lnTo>
                    <a:pt x="444" y="501"/>
                  </a:lnTo>
                  <a:lnTo>
                    <a:pt x="440" y="497"/>
                  </a:lnTo>
                  <a:lnTo>
                    <a:pt x="418" y="519"/>
                  </a:lnTo>
                  <a:lnTo>
                    <a:pt x="412" y="525"/>
                  </a:lnTo>
                  <a:lnTo>
                    <a:pt x="384" y="553"/>
                  </a:lnTo>
                  <a:lnTo>
                    <a:pt x="387" y="556"/>
                  </a:lnTo>
                  <a:close/>
                  <a:moveTo>
                    <a:pt x="218" y="354"/>
                  </a:moveTo>
                  <a:lnTo>
                    <a:pt x="234" y="338"/>
                  </a:lnTo>
                  <a:lnTo>
                    <a:pt x="229" y="336"/>
                  </a:lnTo>
                  <a:lnTo>
                    <a:pt x="234" y="331"/>
                  </a:lnTo>
                  <a:lnTo>
                    <a:pt x="207" y="320"/>
                  </a:lnTo>
                  <a:lnTo>
                    <a:pt x="211" y="328"/>
                  </a:lnTo>
                  <a:lnTo>
                    <a:pt x="207" y="327"/>
                  </a:lnTo>
                  <a:lnTo>
                    <a:pt x="218" y="354"/>
                  </a:lnTo>
                  <a:close/>
                  <a:moveTo>
                    <a:pt x="246" y="422"/>
                  </a:moveTo>
                  <a:lnTo>
                    <a:pt x="302" y="366"/>
                  </a:lnTo>
                  <a:lnTo>
                    <a:pt x="297" y="364"/>
                  </a:lnTo>
                  <a:lnTo>
                    <a:pt x="302" y="359"/>
                  </a:lnTo>
                  <a:lnTo>
                    <a:pt x="296" y="357"/>
                  </a:lnTo>
                  <a:lnTo>
                    <a:pt x="249" y="337"/>
                  </a:lnTo>
                  <a:lnTo>
                    <a:pt x="224" y="362"/>
                  </a:lnTo>
                  <a:lnTo>
                    <a:pt x="226" y="366"/>
                  </a:lnTo>
                  <a:lnTo>
                    <a:pt x="224" y="368"/>
                  </a:lnTo>
                  <a:lnTo>
                    <a:pt x="243" y="416"/>
                  </a:lnTo>
                  <a:lnTo>
                    <a:pt x="246" y="422"/>
                  </a:lnTo>
                  <a:close/>
                  <a:moveTo>
                    <a:pt x="412" y="511"/>
                  </a:moveTo>
                  <a:lnTo>
                    <a:pt x="429" y="493"/>
                  </a:lnTo>
                  <a:lnTo>
                    <a:pt x="426" y="490"/>
                  </a:lnTo>
                  <a:lnTo>
                    <a:pt x="429" y="487"/>
                  </a:lnTo>
                  <a:lnTo>
                    <a:pt x="414" y="472"/>
                  </a:lnTo>
                  <a:lnTo>
                    <a:pt x="394" y="451"/>
                  </a:lnTo>
                  <a:lnTo>
                    <a:pt x="312" y="369"/>
                  </a:lnTo>
                  <a:lnTo>
                    <a:pt x="256" y="425"/>
                  </a:lnTo>
                  <a:lnTo>
                    <a:pt x="260" y="429"/>
                  </a:lnTo>
                  <a:lnTo>
                    <a:pt x="256" y="432"/>
                  </a:lnTo>
                  <a:lnTo>
                    <a:pt x="334" y="510"/>
                  </a:lnTo>
                  <a:lnTo>
                    <a:pt x="354" y="530"/>
                  </a:lnTo>
                  <a:lnTo>
                    <a:pt x="374" y="549"/>
                  </a:lnTo>
                  <a:lnTo>
                    <a:pt x="395" y="528"/>
                  </a:lnTo>
                  <a:lnTo>
                    <a:pt x="412" y="511"/>
                  </a:lnTo>
                  <a:close/>
                  <a:moveTo>
                    <a:pt x="20" y="150"/>
                  </a:moveTo>
                  <a:lnTo>
                    <a:pt x="89" y="152"/>
                  </a:lnTo>
                  <a:lnTo>
                    <a:pt x="89" y="152"/>
                  </a:lnTo>
                  <a:lnTo>
                    <a:pt x="89" y="152"/>
                  </a:lnTo>
                  <a:cubicBezTo>
                    <a:pt x="118" y="152"/>
                    <a:pt x="141" y="129"/>
                    <a:pt x="141" y="100"/>
                  </a:cubicBezTo>
                  <a:lnTo>
                    <a:pt x="141" y="94"/>
                  </a:lnTo>
                  <a:lnTo>
                    <a:pt x="141" y="93"/>
                  </a:lnTo>
                  <a:lnTo>
                    <a:pt x="141" y="27"/>
                  </a:lnTo>
                  <a:lnTo>
                    <a:pt x="383" y="27"/>
                  </a:lnTo>
                  <a:cubicBezTo>
                    <a:pt x="389" y="27"/>
                    <a:pt x="394" y="32"/>
                    <a:pt x="394" y="38"/>
                  </a:cubicBezTo>
                  <a:lnTo>
                    <a:pt x="394" y="422"/>
                  </a:lnTo>
                  <a:lnTo>
                    <a:pt x="394" y="429"/>
                  </a:lnTo>
                  <a:lnTo>
                    <a:pt x="414" y="449"/>
                  </a:lnTo>
                  <a:lnTo>
                    <a:pt x="414" y="443"/>
                  </a:lnTo>
                  <a:lnTo>
                    <a:pt x="414" y="39"/>
                  </a:lnTo>
                  <a:lnTo>
                    <a:pt x="414" y="32"/>
                  </a:lnTo>
                  <a:cubicBezTo>
                    <a:pt x="414" y="14"/>
                    <a:pt x="400" y="0"/>
                    <a:pt x="383" y="0"/>
                  </a:cubicBezTo>
                  <a:lnTo>
                    <a:pt x="123" y="0"/>
                  </a:lnTo>
                  <a:lnTo>
                    <a:pt x="121" y="2"/>
                  </a:lnTo>
                  <a:lnTo>
                    <a:pt x="1" y="122"/>
                  </a:lnTo>
                  <a:lnTo>
                    <a:pt x="0" y="123"/>
                  </a:lnTo>
                  <a:lnTo>
                    <a:pt x="0" y="130"/>
                  </a:lnTo>
                  <a:lnTo>
                    <a:pt x="0" y="492"/>
                  </a:lnTo>
                  <a:lnTo>
                    <a:pt x="0" y="499"/>
                  </a:lnTo>
                  <a:cubicBezTo>
                    <a:pt x="0" y="516"/>
                    <a:pt x="14" y="530"/>
                    <a:pt x="32" y="530"/>
                  </a:cubicBezTo>
                  <a:lnTo>
                    <a:pt x="326" y="530"/>
                  </a:lnTo>
                  <a:lnTo>
                    <a:pt x="319" y="524"/>
                  </a:lnTo>
                  <a:lnTo>
                    <a:pt x="326" y="524"/>
                  </a:lnTo>
                  <a:lnTo>
                    <a:pt x="305" y="503"/>
                  </a:lnTo>
                  <a:lnTo>
                    <a:pt x="32" y="503"/>
                  </a:lnTo>
                  <a:cubicBezTo>
                    <a:pt x="25" y="503"/>
                    <a:pt x="21" y="498"/>
                    <a:pt x="20" y="492"/>
                  </a:cubicBezTo>
                  <a:lnTo>
                    <a:pt x="20" y="492"/>
                  </a:lnTo>
                  <a:lnTo>
                    <a:pt x="20" y="150"/>
                  </a:lnTo>
                  <a:close/>
                  <a:moveTo>
                    <a:pt x="82" y="321"/>
                  </a:moveTo>
                  <a:lnTo>
                    <a:pt x="156" y="321"/>
                  </a:lnTo>
                  <a:lnTo>
                    <a:pt x="156" y="315"/>
                  </a:lnTo>
                  <a:lnTo>
                    <a:pt x="156" y="301"/>
                  </a:lnTo>
                  <a:lnTo>
                    <a:pt x="156" y="294"/>
                  </a:lnTo>
                  <a:lnTo>
                    <a:pt x="82" y="294"/>
                  </a:lnTo>
                  <a:lnTo>
                    <a:pt x="82" y="301"/>
                  </a:lnTo>
                  <a:lnTo>
                    <a:pt x="82" y="315"/>
                  </a:lnTo>
                  <a:lnTo>
                    <a:pt x="82" y="321"/>
                  </a:lnTo>
                  <a:close/>
                  <a:moveTo>
                    <a:pt x="82" y="272"/>
                  </a:moveTo>
                  <a:lnTo>
                    <a:pt x="82" y="279"/>
                  </a:lnTo>
                  <a:lnTo>
                    <a:pt x="331" y="279"/>
                  </a:lnTo>
                  <a:lnTo>
                    <a:pt x="331" y="272"/>
                  </a:lnTo>
                  <a:lnTo>
                    <a:pt x="331" y="258"/>
                  </a:lnTo>
                  <a:lnTo>
                    <a:pt x="331" y="252"/>
                  </a:lnTo>
                  <a:lnTo>
                    <a:pt x="82" y="252"/>
                  </a:lnTo>
                  <a:lnTo>
                    <a:pt x="82" y="258"/>
                  </a:lnTo>
                  <a:lnTo>
                    <a:pt x="82" y="272"/>
                  </a:lnTo>
                  <a:close/>
                  <a:moveTo>
                    <a:pt x="82" y="229"/>
                  </a:moveTo>
                  <a:lnTo>
                    <a:pt x="82" y="236"/>
                  </a:lnTo>
                  <a:lnTo>
                    <a:pt x="331" y="236"/>
                  </a:lnTo>
                  <a:lnTo>
                    <a:pt x="331" y="229"/>
                  </a:lnTo>
                  <a:lnTo>
                    <a:pt x="331" y="216"/>
                  </a:lnTo>
                  <a:lnTo>
                    <a:pt x="331" y="209"/>
                  </a:lnTo>
                  <a:lnTo>
                    <a:pt x="82" y="209"/>
                  </a:lnTo>
                  <a:lnTo>
                    <a:pt x="82" y="216"/>
                  </a:lnTo>
                  <a:lnTo>
                    <a:pt x="82" y="2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</p:grpSp>
      <p:grpSp>
        <p:nvGrpSpPr>
          <p:cNvPr id="93" name="组合 92"/>
          <p:cNvGrpSpPr>
            <a:grpSpLocks noChangeAspect="1"/>
          </p:cNvGrpSpPr>
          <p:nvPr/>
        </p:nvGrpSpPr>
        <p:grpSpPr>
          <a:xfrm>
            <a:off x="4524915" y="5140761"/>
            <a:ext cx="540000" cy="540000"/>
            <a:chOff x="6782426" y="5362065"/>
            <a:chExt cx="928740" cy="928740"/>
          </a:xfrm>
        </p:grpSpPr>
        <p:grpSp>
          <p:nvGrpSpPr>
            <p:cNvPr id="94" name="组合 93"/>
            <p:cNvGrpSpPr/>
            <p:nvPr/>
          </p:nvGrpSpPr>
          <p:grpSpPr>
            <a:xfrm>
              <a:off x="6782426" y="5362065"/>
              <a:ext cx="928740" cy="928740"/>
              <a:chOff x="6585478" y="1661232"/>
              <a:chExt cx="928740" cy="928740"/>
            </a:xfrm>
          </p:grpSpPr>
          <p:sp>
            <p:nvSpPr>
              <p:cNvPr id="96" name="椭圆 95"/>
              <p:cNvSpPr/>
              <p:nvPr/>
            </p:nvSpPr>
            <p:spPr>
              <a:xfrm>
                <a:off x="6585478" y="1661232"/>
                <a:ext cx="928740" cy="928740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  <a:ln w="19050"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279400" dist="152400" dir="2700000" sx="102000" sy="102000" algn="tl" rotWithShape="0">
                  <a:prstClr val="black">
                    <a:alpha val="28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97" name="圆角矩形 96"/>
              <p:cNvSpPr/>
              <p:nvPr/>
            </p:nvSpPr>
            <p:spPr>
              <a:xfrm>
                <a:off x="6706336" y="1782090"/>
                <a:ext cx="687025" cy="687025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100000">
                    <a:schemeClr val="bg1"/>
                  </a:gs>
                  <a:gs pos="0">
                    <a:srgbClr val="B8BBBC"/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6779848" y="1855602"/>
                <a:ext cx="540000" cy="540000"/>
              </a:xfrm>
              <a:prstGeom prst="ellipse">
                <a:avLst/>
              </a:prstGeom>
              <a:gradFill>
                <a:gsLst>
                  <a:gs pos="0">
                    <a:srgbClr val="E30613"/>
                  </a:gs>
                  <a:gs pos="100000">
                    <a:srgbClr val="81040B"/>
                  </a:gs>
                </a:gsLst>
                <a:lin ang="5400000" scaled="1"/>
              </a:gra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95" name="Freeform 12"/>
            <p:cNvSpPr>
              <a:spLocks noEditPoints="1"/>
            </p:cNvSpPr>
            <p:nvPr/>
          </p:nvSpPr>
          <p:spPr bwMode="auto">
            <a:xfrm>
              <a:off x="7128729" y="5705784"/>
              <a:ext cx="305515" cy="227718"/>
            </a:xfrm>
            <a:custGeom>
              <a:avLst/>
              <a:gdLst>
                <a:gd name="T0" fmla="*/ 201 w 983"/>
                <a:gd name="T1" fmla="*/ 386 h 731"/>
                <a:gd name="T2" fmla="*/ 359 w 983"/>
                <a:gd name="T3" fmla="*/ 110 h 731"/>
                <a:gd name="T4" fmla="*/ 398 w 983"/>
                <a:gd name="T5" fmla="*/ 64 h 731"/>
                <a:gd name="T6" fmla="*/ 759 w 983"/>
                <a:gd name="T7" fmla="*/ 93 h 731"/>
                <a:gd name="T8" fmla="*/ 738 w 983"/>
                <a:gd name="T9" fmla="*/ 49 h 731"/>
                <a:gd name="T10" fmla="*/ 821 w 983"/>
                <a:gd name="T11" fmla="*/ 24 h 731"/>
                <a:gd name="T12" fmla="*/ 877 w 983"/>
                <a:gd name="T13" fmla="*/ 27 h 731"/>
                <a:gd name="T14" fmla="*/ 859 w 983"/>
                <a:gd name="T15" fmla="*/ 109 h 731"/>
                <a:gd name="T16" fmla="*/ 830 w 983"/>
                <a:gd name="T17" fmla="*/ 154 h 731"/>
                <a:gd name="T18" fmla="*/ 623 w 983"/>
                <a:gd name="T19" fmla="*/ 344 h 731"/>
                <a:gd name="T20" fmla="*/ 622 w 983"/>
                <a:gd name="T21" fmla="*/ 345 h 731"/>
                <a:gd name="T22" fmla="*/ 952 w 983"/>
                <a:gd name="T23" fmla="*/ 670 h 731"/>
                <a:gd name="T24" fmla="*/ 952 w 983"/>
                <a:gd name="T25" fmla="*/ 731 h 731"/>
                <a:gd name="T26" fmla="*/ 763 w 983"/>
                <a:gd name="T27" fmla="*/ 731 h 731"/>
                <a:gd name="T28" fmla="*/ 558 w 983"/>
                <a:gd name="T29" fmla="*/ 731 h 731"/>
                <a:gd name="T30" fmla="*/ 353 w 983"/>
                <a:gd name="T31" fmla="*/ 731 h 731"/>
                <a:gd name="T32" fmla="*/ 148 w 983"/>
                <a:gd name="T33" fmla="*/ 731 h 731"/>
                <a:gd name="T34" fmla="*/ 0 w 983"/>
                <a:gd name="T35" fmla="*/ 701 h 731"/>
                <a:gd name="T36" fmla="*/ 31 w 983"/>
                <a:gd name="T37" fmla="*/ 0 h 731"/>
                <a:gd name="T38" fmla="*/ 62 w 983"/>
                <a:gd name="T39" fmla="*/ 670 h 731"/>
                <a:gd name="T40" fmla="*/ 148 w 983"/>
                <a:gd name="T41" fmla="*/ 530 h 731"/>
                <a:gd name="T42" fmla="*/ 236 w 983"/>
                <a:gd name="T43" fmla="*/ 499 h 731"/>
                <a:gd name="T44" fmla="*/ 267 w 983"/>
                <a:gd name="T45" fmla="*/ 670 h 731"/>
                <a:gd name="T46" fmla="*/ 353 w 983"/>
                <a:gd name="T47" fmla="*/ 316 h 731"/>
                <a:gd name="T48" fmla="*/ 441 w 983"/>
                <a:gd name="T49" fmla="*/ 286 h 731"/>
                <a:gd name="T50" fmla="*/ 472 w 983"/>
                <a:gd name="T51" fmla="*/ 670 h 731"/>
                <a:gd name="T52" fmla="*/ 558 w 983"/>
                <a:gd name="T53" fmla="*/ 421 h 731"/>
                <a:gd name="T54" fmla="*/ 646 w 983"/>
                <a:gd name="T55" fmla="*/ 390 h 731"/>
                <a:gd name="T56" fmla="*/ 677 w 983"/>
                <a:gd name="T57" fmla="*/ 670 h 731"/>
                <a:gd name="T58" fmla="*/ 763 w 983"/>
                <a:gd name="T59" fmla="*/ 245 h 731"/>
                <a:gd name="T60" fmla="*/ 851 w 983"/>
                <a:gd name="T61" fmla="*/ 214 h 731"/>
                <a:gd name="T62" fmla="*/ 881 w 983"/>
                <a:gd name="T63" fmla="*/ 67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83" h="731">
                  <a:moveTo>
                    <a:pt x="404" y="154"/>
                  </a:moveTo>
                  <a:lnTo>
                    <a:pt x="201" y="386"/>
                  </a:lnTo>
                  <a:lnTo>
                    <a:pt x="153" y="345"/>
                  </a:lnTo>
                  <a:lnTo>
                    <a:pt x="359" y="110"/>
                  </a:lnTo>
                  <a:lnTo>
                    <a:pt x="359" y="110"/>
                  </a:lnTo>
                  <a:lnTo>
                    <a:pt x="398" y="64"/>
                  </a:lnTo>
                  <a:lnTo>
                    <a:pt x="616" y="255"/>
                  </a:lnTo>
                  <a:lnTo>
                    <a:pt x="759" y="93"/>
                  </a:lnTo>
                  <a:lnTo>
                    <a:pt x="734" y="71"/>
                  </a:lnTo>
                  <a:cubicBezTo>
                    <a:pt x="724" y="63"/>
                    <a:pt x="726" y="53"/>
                    <a:pt x="738" y="49"/>
                  </a:cubicBezTo>
                  <a:lnTo>
                    <a:pt x="777" y="37"/>
                  </a:lnTo>
                  <a:cubicBezTo>
                    <a:pt x="789" y="34"/>
                    <a:pt x="809" y="27"/>
                    <a:pt x="821" y="24"/>
                  </a:cubicBezTo>
                  <a:lnTo>
                    <a:pt x="860" y="12"/>
                  </a:lnTo>
                  <a:cubicBezTo>
                    <a:pt x="872" y="8"/>
                    <a:pt x="880" y="15"/>
                    <a:pt x="877" y="27"/>
                  </a:cubicBezTo>
                  <a:lnTo>
                    <a:pt x="869" y="65"/>
                  </a:lnTo>
                  <a:cubicBezTo>
                    <a:pt x="866" y="77"/>
                    <a:pt x="862" y="97"/>
                    <a:pt x="859" y="109"/>
                  </a:cubicBezTo>
                  <a:lnTo>
                    <a:pt x="851" y="147"/>
                  </a:lnTo>
                  <a:cubicBezTo>
                    <a:pt x="849" y="159"/>
                    <a:pt x="839" y="162"/>
                    <a:pt x="830" y="154"/>
                  </a:cubicBezTo>
                  <a:lnTo>
                    <a:pt x="807" y="134"/>
                  </a:lnTo>
                  <a:lnTo>
                    <a:pt x="623" y="344"/>
                  </a:lnTo>
                  <a:lnTo>
                    <a:pt x="623" y="344"/>
                  </a:lnTo>
                  <a:lnTo>
                    <a:pt x="622" y="345"/>
                  </a:lnTo>
                  <a:lnTo>
                    <a:pt x="404" y="154"/>
                  </a:lnTo>
                  <a:close/>
                  <a:moveTo>
                    <a:pt x="952" y="670"/>
                  </a:moveTo>
                  <a:cubicBezTo>
                    <a:pt x="969" y="670"/>
                    <a:pt x="983" y="684"/>
                    <a:pt x="983" y="701"/>
                  </a:cubicBezTo>
                  <a:cubicBezTo>
                    <a:pt x="983" y="718"/>
                    <a:pt x="969" y="731"/>
                    <a:pt x="952" y="731"/>
                  </a:cubicBezTo>
                  <a:lnTo>
                    <a:pt x="881" y="731"/>
                  </a:lnTo>
                  <a:lnTo>
                    <a:pt x="763" y="731"/>
                  </a:lnTo>
                  <a:lnTo>
                    <a:pt x="677" y="731"/>
                  </a:lnTo>
                  <a:lnTo>
                    <a:pt x="558" y="731"/>
                  </a:lnTo>
                  <a:lnTo>
                    <a:pt x="472" y="731"/>
                  </a:lnTo>
                  <a:lnTo>
                    <a:pt x="353" y="731"/>
                  </a:lnTo>
                  <a:lnTo>
                    <a:pt x="267" y="731"/>
                  </a:lnTo>
                  <a:lnTo>
                    <a:pt x="148" y="731"/>
                  </a:lnTo>
                  <a:lnTo>
                    <a:pt x="32" y="731"/>
                  </a:lnTo>
                  <a:cubicBezTo>
                    <a:pt x="14" y="731"/>
                    <a:pt x="0" y="718"/>
                    <a:pt x="0" y="701"/>
                  </a:cubicBezTo>
                  <a:lnTo>
                    <a:pt x="0" y="31"/>
                  </a:lnTo>
                  <a:cubicBezTo>
                    <a:pt x="0" y="14"/>
                    <a:pt x="14" y="0"/>
                    <a:pt x="31" y="0"/>
                  </a:cubicBezTo>
                  <a:cubicBezTo>
                    <a:pt x="48" y="0"/>
                    <a:pt x="62" y="14"/>
                    <a:pt x="62" y="31"/>
                  </a:cubicBezTo>
                  <a:lnTo>
                    <a:pt x="62" y="670"/>
                  </a:lnTo>
                  <a:lnTo>
                    <a:pt x="148" y="670"/>
                  </a:lnTo>
                  <a:lnTo>
                    <a:pt x="148" y="530"/>
                  </a:lnTo>
                  <a:cubicBezTo>
                    <a:pt x="148" y="513"/>
                    <a:pt x="162" y="499"/>
                    <a:pt x="179" y="499"/>
                  </a:cubicBezTo>
                  <a:lnTo>
                    <a:pt x="236" y="499"/>
                  </a:lnTo>
                  <a:cubicBezTo>
                    <a:pt x="253" y="499"/>
                    <a:pt x="267" y="513"/>
                    <a:pt x="267" y="530"/>
                  </a:cubicBezTo>
                  <a:lnTo>
                    <a:pt x="267" y="670"/>
                  </a:lnTo>
                  <a:lnTo>
                    <a:pt x="353" y="670"/>
                  </a:lnTo>
                  <a:lnTo>
                    <a:pt x="353" y="316"/>
                  </a:lnTo>
                  <a:cubicBezTo>
                    <a:pt x="353" y="299"/>
                    <a:pt x="367" y="286"/>
                    <a:pt x="384" y="286"/>
                  </a:cubicBezTo>
                  <a:lnTo>
                    <a:pt x="441" y="286"/>
                  </a:lnTo>
                  <a:cubicBezTo>
                    <a:pt x="458" y="286"/>
                    <a:pt x="472" y="299"/>
                    <a:pt x="472" y="316"/>
                  </a:cubicBezTo>
                  <a:lnTo>
                    <a:pt x="472" y="670"/>
                  </a:lnTo>
                  <a:lnTo>
                    <a:pt x="558" y="670"/>
                  </a:lnTo>
                  <a:lnTo>
                    <a:pt x="558" y="421"/>
                  </a:lnTo>
                  <a:cubicBezTo>
                    <a:pt x="558" y="404"/>
                    <a:pt x="572" y="390"/>
                    <a:pt x="589" y="390"/>
                  </a:cubicBezTo>
                  <a:lnTo>
                    <a:pt x="646" y="390"/>
                  </a:lnTo>
                  <a:cubicBezTo>
                    <a:pt x="663" y="390"/>
                    <a:pt x="677" y="404"/>
                    <a:pt x="677" y="421"/>
                  </a:cubicBezTo>
                  <a:lnTo>
                    <a:pt x="677" y="670"/>
                  </a:lnTo>
                  <a:lnTo>
                    <a:pt x="763" y="670"/>
                  </a:lnTo>
                  <a:lnTo>
                    <a:pt x="763" y="245"/>
                  </a:lnTo>
                  <a:cubicBezTo>
                    <a:pt x="763" y="228"/>
                    <a:pt x="776" y="214"/>
                    <a:pt x="793" y="214"/>
                  </a:cubicBezTo>
                  <a:lnTo>
                    <a:pt x="851" y="214"/>
                  </a:lnTo>
                  <a:cubicBezTo>
                    <a:pt x="868" y="214"/>
                    <a:pt x="881" y="228"/>
                    <a:pt x="881" y="245"/>
                  </a:cubicBezTo>
                  <a:lnTo>
                    <a:pt x="881" y="670"/>
                  </a:lnTo>
                  <a:lnTo>
                    <a:pt x="952" y="67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</p:grpSp>
      <p:grpSp>
        <p:nvGrpSpPr>
          <p:cNvPr id="4" name="组合 3"/>
          <p:cNvGrpSpPr>
            <a:grpSpLocks noChangeAspect="1"/>
          </p:cNvGrpSpPr>
          <p:nvPr/>
        </p:nvGrpSpPr>
        <p:grpSpPr>
          <a:xfrm>
            <a:off x="816329" y="1628395"/>
            <a:ext cx="2484000" cy="2484000"/>
            <a:chOff x="836778" y="1675054"/>
            <a:chExt cx="2004782" cy="2673043"/>
          </a:xfrm>
        </p:grpSpPr>
        <p:sp>
          <p:nvSpPr>
            <p:cNvPr id="67" name="椭圆 66"/>
            <p:cNvSpPr/>
            <p:nvPr/>
          </p:nvSpPr>
          <p:spPr>
            <a:xfrm>
              <a:off x="836778" y="1675054"/>
              <a:ext cx="2004782" cy="2673043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  <a:ln w="19050">
              <a:gradFill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1"/>
              </a:gradFill>
            </a:ln>
            <a:effectLst>
              <a:outerShdw blurRad="279400" dist="152400" dir="2700000" sx="102000" sy="102000" algn="tl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grpSp>
          <p:nvGrpSpPr>
            <p:cNvPr id="68" name="组合 67"/>
            <p:cNvGrpSpPr/>
            <p:nvPr/>
          </p:nvGrpSpPr>
          <p:grpSpPr>
            <a:xfrm>
              <a:off x="1034165" y="1914547"/>
              <a:ext cx="1631179" cy="2174905"/>
              <a:chOff x="3739822" y="2440887"/>
              <a:chExt cx="1970936" cy="1970936"/>
            </a:xfrm>
          </p:grpSpPr>
          <p:sp>
            <p:nvSpPr>
              <p:cNvPr id="69" name="圆角矩形 68"/>
              <p:cNvSpPr/>
              <p:nvPr/>
            </p:nvSpPr>
            <p:spPr>
              <a:xfrm>
                <a:off x="3739822" y="2440887"/>
                <a:ext cx="1970936" cy="1970936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100000">
                    <a:schemeClr val="bg1"/>
                  </a:gs>
                  <a:gs pos="0">
                    <a:srgbClr val="B8BBBC"/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70" name="椭圆 69"/>
              <p:cNvSpPr>
                <a:spLocks noChangeAspect="1"/>
              </p:cNvSpPr>
              <p:nvPr/>
            </p:nvSpPr>
            <p:spPr>
              <a:xfrm>
                <a:off x="3837054" y="2549460"/>
                <a:ext cx="1776466" cy="1776466"/>
              </a:xfrm>
              <a:prstGeom prst="ellipse">
                <a:avLst/>
              </a:prstGeom>
              <a:gradFill>
                <a:gsLst>
                  <a:gs pos="0">
                    <a:srgbClr val="E30613"/>
                  </a:gs>
                  <a:gs pos="100000">
                    <a:srgbClr val="81040B"/>
                  </a:gs>
                </a:gsLst>
                <a:lin ang="5400000" scaled="1"/>
              </a:gra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99" name="文本框 20"/>
          <p:cNvSpPr>
            <a:spLocks noChangeArrowheads="1"/>
          </p:cNvSpPr>
          <p:nvPr/>
        </p:nvSpPr>
        <p:spPr bwMode="auto">
          <a:xfrm>
            <a:off x="1270580" y="4542547"/>
            <a:ext cx="160172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4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sym typeface="微软雅黑" panose="020B0503020204020204" pitchFamily="34" charset="-122"/>
              </a:rPr>
              <a:t>目 录</a:t>
            </a:r>
            <a:endParaRPr lang="en-US" altLang="en-US" sz="48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026" name="Picture 2" descr="E:\Hou\信息化建设\web\校徽相关\xjtu.png"/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383" r="87582"/>
          <a:stretch/>
        </p:blipFill>
        <p:spPr bwMode="auto">
          <a:xfrm>
            <a:off x="1300731" y="2087509"/>
            <a:ext cx="1603696" cy="1569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文本框 36"/>
          <p:cNvSpPr txBox="1"/>
          <p:nvPr/>
        </p:nvSpPr>
        <p:spPr>
          <a:xfrm>
            <a:off x="5370651" y="3011512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结果展示</a:t>
            </a:r>
            <a:endParaRPr lang="zh-CN" altLang="en-US" sz="3600" dirty="0">
              <a:solidFill>
                <a:schemeClr val="bg2">
                  <a:lumMod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直角三角形 1"/>
          <p:cNvSpPr/>
          <p:nvPr/>
        </p:nvSpPr>
        <p:spPr>
          <a:xfrm rot="5400000">
            <a:off x="-60590" y="60590"/>
            <a:ext cx="1240245" cy="1119065"/>
          </a:xfrm>
          <a:prstGeom prst="rtTriangle">
            <a:avLst/>
          </a:prstGeom>
          <a:gradFill flip="none" rotWithShape="1">
            <a:gsLst>
              <a:gs pos="0">
                <a:srgbClr val="DD0012"/>
              </a:gs>
              <a:gs pos="100000">
                <a:srgbClr val="85000B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直角三角形 38"/>
          <p:cNvSpPr/>
          <p:nvPr/>
        </p:nvSpPr>
        <p:spPr>
          <a:xfrm rot="16200000">
            <a:off x="7964345" y="5678345"/>
            <a:ext cx="1240245" cy="1119065"/>
          </a:xfrm>
          <a:prstGeom prst="rtTriangle">
            <a:avLst/>
          </a:prstGeom>
          <a:gradFill flip="none" rotWithShape="1">
            <a:gsLst>
              <a:gs pos="0">
                <a:srgbClr val="DD0012"/>
              </a:gs>
              <a:gs pos="100000">
                <a:srgbClr val="85000B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>
            <a:grpSpLocks noChangeAspect="1"/>
          </p:cNvGrpSpPr>
          <p:nvPr/>
        </p:nvGrpSpPr>
        <p:grpSpPr>
          <a:xfrm>
            <a:off x="4524915" y="4103888"/>
            <a:ext cx="540000" cy="540000"/>
            <a:chOff x="3635275" y="3872042"/>
            <a:chExt cx="720000" cy="720000"/>
          </a:xfrm>
        </p:grpSpPr>
        <p:sp>
          <p:nvSpPr>
            <p:cNvPr id="44" name="椭圆 43"/>
            <p:cNvSpPr/>
            <p:nvPr/>
          </p:nvSpPr>
          <p:spPr>
            <a:xfrm>
              <a:off x="3635275" y="3872042"/>
              <a:ext cx="720000" cy="720000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  <a:ln w="19050">
              <a:gradFill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1"/>
              </a:gradFill>
            </a:ln>
            <a:effectLst>
              <a:outerShdw blurRad="279400" dist="152400" dir="2700000" sx="102000" sy="102000" algn="tl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5" name="圆角矩形 44"/>
            <p:cNvSpPr/>
            <p:nvPr/>
          </p:nvSpPr>
          <p:spPr>
            <a:xfrm>
              <a:off x="3728969" y="3965736"/>
              <a:ext cx="532612" cy="53261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chemeClr val="bg1"/>
                </a:gs>
                <a:gs pos="0">
                  <a:srgbClr val="B8BBBC"/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6" name="椭圆 45"/>
            <p:cNvSpPr/>
            <p:nvPr/>
          </p:nvSpPr>
          <p:spPr>
            <a:xfrm>
              <a:off x="3785959" y="4022726"/>
              <a:ext cx="418632" cy="418632"/>
            </a:xfrm>
            <a:prstGeom prst="ellipse">
              <a:avLst/>
            </a:prstGeom>
            <a:gradFill>
              <a:gsLst>
                <a:gs pos="0">
                  <a:srgbClr val="E30613"/>
                </a:gs>
                <a:gs pos="100000">
                  <a:srgbClr val="81040B"/>
                </a:gs>
              </a:gsLst>
              <a:lin ang="5400000" scaled="1"/>
            </a:gra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Freeform 32"/>
            <p:cNvSpPr>
              <a:spLocks noEditPoints="1"/>
            </p:cNvSpPr>
            <p:nvPr/>
          </p:nvSpPr>
          <p:spPr bwMode="auto">
            <a:xfrm>
              <a:off x="3897626" y="4088042"/>
              <a:ext cx="216000" cy="288000"/>
            </a:xfrm>
            <a:custGeom>
              <a:avLst/>
              <a:gdLst>
                <a:gd name="T0" fmla="*/ 171 w 568"/>
                <a:gd name="T1" fmla="*/ 92 h 606"/>
                <a:gd name="T2" fmla="*/ 372 w 568"/>
                <a:gd name="T3" fmla="*/ 67 h 606"/>
                <a:gd name="T4" fmla="*/ 300 w 568"/>
                <a:gd name="T5" fmla="*/ 41 h 606"/>
                <a:gd name="T6" fmla="*/ 217 w 568"/>
                <a:gd name="T7" fmla="*/ 41 h 606"/>
                <a:gd name="T8" fmla="*/ 145 w 568"/>
                <a:gd name="T9" fmla="*/ 67 h 606"/>
                <a:gd name="T10" fmla="*/ 468 w 568"/>
                <a:gd name="T11" fmla="*/ 525 h 606"/>
                <a:gd name="T12" fmla="*/ 475 w 568"/>
                <a:gd name="T13" fmla="*/ 507 h 606"/>
                <a:gd name="T14" fmla="*/ 443 w 568"/>
                <a:gd name="T15" fmla="*/ 393 h 606"/>
                <a:gd name="T16" fmla="*/ 422 w 568"/>
                <a:gd name="T17" fmla="*/ 393 h 606"/>
                <a:gd name="T18" fmla="*/ 422 w 568"/>
                <a:gd name="T19" fmla="*/ 481 h 606"/>
                <a:gd name="T20" fmla="*/ 422 w 568"/>
                <a:gd name="T21" fmla="*/ 483 h 606"/>
                <a:gd name="T22" fmla="*/ 423 w 568"/>
                <a:gd name="T23" fmla="*/ 484 h 606"/>
                <a:gd name="T24" fmla="*/ 425 w 568"/>
                <a:gd name="T25" fmla="*/ 486 h 606"/>
                <a:gd name="T26" fmla="*/ 541 w 568"/>
                <a:gd name="T27" fmla="*/ 400 h 606"/>
                <a:gd name="T28" fmla="*/ 432 w 568"/>
                <a:gd name="T29" fmla="*/ 342 h 606"/>
                <a:gd name="T30" fmla="*/ 407 w 568"/>
                <a:gd name="T31" fmla="*/ 604 h 606"/>
                <a:gd name="T32" fmla="*/ 562 w 568"/>
                <a:gd name="T33" fmla="*/ 499 h 606"/>
                <a:gd name="T34" fmla="*/ 542 w 568"/>
                <a:gd name="T35" fmla="*/ 495 h 606"/>
                <a:gd name="T36" fmla="*/ 432 w 568"/>
                <a:gd name="T37" fmla="*/ 586 h 606"/>
                <a:gd name="T38" fmla="*/ 323 w 568"/>
                <a:gd name="T39" fmla="*/ 453 h 606"/>
                <a:gd name="T40" fmla="*/ 453 w 568"/>
                <a:gd name="T41" fmla="*/ 364 h 606"/>
                <a:gd name="T42" fmla="*/ 542 w 568"/>
                <a:gd name="T43" fmla="*/ 495 h 606"/>
                <a:gd name="T44" fmla="*/ 190 w 568"/>
                <a:gd name="T45" fmla="*/ 494 h 606"/>
                <a:gd name="T46" fmla="*/ 325 w 568"/>
                <a:gd name="T47" fmla="*/ 360 h 606"/>
                <a:gd name="T48" fmla="*/ 353 w 568"/>
                <a:gd name="T49" fmla="*/ 339 h 606"/>
                <a:gd name="T50" fmla="*/ 491 w 568"/>
                <a:gd name="T51" fmla="*/ 205 h 606"/>
                <a:gd name="T52" fmla="*/ 496 w 568"/>
                <a:gd name="T53" fmla="*/ 331 h 606"/>
                <a:gd name="T54" fmla="*/ 518 w 568"/>
                <a:gd name="T55" fmla="*/ 339 h 606"/>
                <a:gd name="T56" fmla="*/ 518 w 568"/>
                <a:gd name="T57" fmla="*/ 139 h 606"/>
                <a:gd name="T58" fmla="*/ 27 w 568"/>
                <a:gd name="T59" fmla="*/ 112 h 606"/>
                <a:gd name="T60" fmla="*/ 0 w 568"/>
                <a:gd name="T61" fmla="*/ 211 h 606"/>
                <a:gd name="T62" fmla="*/ 0 w 568"/>
                <a:gd name="T63" fmla="*/ 360 h 606"/>
                <a:gd name="T64" fmla="*/ 0 w 568"/>
                <a:gd name="T65" fmla="*/ 504 h 606"/>
                <a:gd name="T66" fmla="*/ 286 w 568"/>
                <a:gd name="T67" fmla="*/ 531 h 606"/>
                <a:gd name="T68" fmla="*/ 21 w 568"/>
                <a:gd name="T69" fmla="*/ 211 h 606"/>
                <a:gd name="T70" fmla="*/ 27 w 568"/>
                <a:gd name="T71" fmla="*/ 205 h 606"/>
                <a:gd name="T72" fmla="*/ 169 w 568"/>
                <a:gd name="T73" fmla="*/ 339 h 606"/>
                <a:gd name="T74" fmla="*/ 21 w 568"/>
                <a:gd name="T75" fmla="*/ 211 h 606"/>
                <a:gd name="T76" fmla="*/ 169 w 568"/>
                <a:gd name="T77" fmla="*/ 360 h 606"/>
                <a:gd name="T78" fmla="*/ 27 w 568"/>
                <a:gd name="T79" fmla="*/ 494 h 606"/>
                <a:gd name="T80" fmla="*/ 21 w 568"/>
                <a:gd name="T81" fmla="*/ 360 h 606"/>
                <a:gd name="T82" fmla="*/ 190 w 568"/>
                <a:gd name="T83" fmla="*/ 339 h 606"/>
                <a:gd name="T84" fmla="*/ 190 w 568"/>
                <a:gd name="T85" fmla="*/ 205 h 606"/>
                <a:gd name="T86" fmla="*/ 332 w 568"/>
                <a:gd name="T87" fmla="*/ 339 h 606"/>
                <a:gd name="T88" fmla="*/ 342 w 568"/>
                <a:gd name="T89" fmla="*/ 139 h 606"/>
                <a:gd name="T90" fmla="*/ 361 w 568"/>
                <a:gd name="T91" fmla="*/ 157 h 606"/>
                <a:gd name="T92" fmla="*/ 324 w 568"/>
                <a:gd name="T93" fmla="*/ 157 h 606"/>
                <a:gd name="T94" fmla="*/ 180 w 568"/>
                <a:gd name="T95" fmla="*/ 139 h 606"/>
                <a:gd name="T96" fmla="*/ 198 w 568"/>
                <a:gd name="T97" fmla="*/ 157 h 606"/>
                <a:gd name="T98" fmla="*/ 161 w 568"/>
                <a:gd name="T99" fmla="*/ 157 h 6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68" h="606">
                  <a:moveTo>
                    <a:pt x="145" y="67"/>
                  </a:moveTo>
                  <a:cubicBezTo>
                    <a:pt x="145" y="81"/>
                    <a:pt x="157" y="92"/>
                    <a:pt x="171" y="92"/>
                  </a:cubicBezTo>
                  <a:lnTo>
                    <a:pt x="347" y="92"/>
                  </a:lnTo>
                  <a:cubicBezTo>
                    <a:pt x="361" y="92"/>
                    <a:pt x="372" y="81"/>
                    <a:pt x="372" y="67"/>
                  </a:cubicBezTo>
                  <a:cubicBezTo>
                    <a:pt x="372" y="53"/>
                    <a:pt x="361" y="41"/>
                    <a:pt x="347" y="41"/>
                  </a:cubicBezTo>
                  <a:lnTo>
                    <a:pt x="300" y="41"/>
                  </a:lnTo>
                  <a:cubicBezTo>
                    <a:pt x="300" y="18"/>
                    <a:pt x="282" y="0"/>
                    <a:pt x="259" y="0"/>
                  </a:cubicBezTo>
                  <a:cubicBezTo>
                    <a:pt x="236" y="0"/>
                    <a:pt x="217" y="18"/>
                    <a:pt x="217" y="41"/>
                  </a:cubicBezTo>
                  <a:lnTo>
                    <a:pt x="171" y="41"/>
                  </a:lnTo>
                  <a:cubicBezTo>
                    <a:pt x="157" y="41"/>
                    <a:pt x="145" y="53"/>
                    <a:pt x="145" y="67"/>
                  </a:cubicBezTo>
                  <a:close/>
                  <a:moveTo>
                    <a:pt x="460" y="522"/>
                  </a:moveTo>
                  <a:cubicBezTo>
                    <a:pt x="462" y="524"/>
                    <a:pt x="465" y="525"/>
                    <a:pt x="468" y="525"/>
                  </a:cubicBezTo>
                  <a:cubicBezTo>
                    <a:pt x="471" y="525"/>
                    <a:pt x="473" y="524"/>
                    <a:pt x="475" y="522"/>
                  </a:cubicBezTo>
                  <a:cubicBezTo>
                    <a:pt x="480" y="517"/>
                    <a:pt x="480" y="511"/>
                    <a:pt x="475" y="507"/>
                  </a:cubicBezTo>
                  <a:lnTo>
                    <a:pt x="443" y="474"/>
                  </a:lnTo>
                  <a:lnTo>
                    <a:pt x="443" y="393"/>
                  </a:lnTo>
                  <a:cubicBezTo>
                    <a:pt x="443" y="387"/>
                    <a:pt x="438" y="382"/>
                    <a:pt x="432" y="382"/>
                  </a:cubicBezTo>
                  <a:cubicBezTo>
                    <a:pt x="426" y="382"/>
                    <a:pt x="422" y="387"/>
                    <a:pt x="422" y="393"/>
                  </a:cubicBezTo>
                  <a:lnTo>
                    <a:pt x="422" y="478"/>
                  </a:lnTo>
                  <a:cubicBezTo>
                    <a:pt x="422" y="479"/>
                    <a:pt x="422" y="480"/>
                    <a:pt x="422" y="481"/>
                  </a:cubicBezTo>
                  <a:cubicBezTo>
                    <a:pt x="422" y="481"/>
                    <a:pt x="422" y="481"/>
                    <a:pt x="422" y="481"/>
                  </a:cubicBezTo>
                  <a:cubicBezTo>
                    <a:pt x="422" y="482"/>
                    <a:pt x="422" y="482"/>
                    <a:pt x="422" y="483"/>
                  </a:cubicBezTo>
                  <a:cubicBezTo>
                    <a:pt x="423" y="483"/>
                    <a:pt x="423" y="483"/>
                    <a:pt x="423" y="483"/>
                  </a:cubicBezTo>
                  <a:cubicBezTo>
                    <a:pt x="423" y="484"/>
                    <a:pt x="423" y="484"/>
                    <a:pt x="423" y="484"/>
                  </a:cubicBezTo>
                  <a:cubicBezTo>
                    <a:pt x="424" y="485"/>
                    <a:pt x="424" y="485"/>
                    <a:pt x="425" y="486"/>
                  </a:cubicBezTo>
                  <a:cubicBezTo>
                    <a:pt x="425" y="486"/>
                    <a:pt x="425" y="486"/>
                    <a:pt x="425" y="486"/>
                  </a:cubicBezTo>
                  <a:lnTo>
                    <a:pt x="460" y="522"/>
                  </a:lnTo>
                  <a:close/>
                  <a:moveTo>
                    <a:pt x="541" y="400"/>
                  </a:moveTo>
                  <a:cubicBezTo>
                    <a:pt x="522" y="371"/>
                    <a:pt x="492" y="351"/>
                    <a:pt x="457" y="344"/>
                  </a:cubicBezTo>
                  <a:cubicBezTo>
                    <a:pt x="449" y="343"/>
                    <a:pt x="440" y="342"/>
                    <a:pt x="432" y="342"/>
                  </a:cubicBezTo>
                  <a:cubicBezTo>
                    <a:pt x="369" y="342"/>
                    <a:pt x="314" y="387"/>
                    <a:pt x="303" y="449"/>
                  </a:cubicBezTo>
                  <a:cubicBezTo>
                    <a:pt x="289" y="521"/>
                    <a:pt x="336" y="590"/>
                    <a:pt x="407" y="604"/>
                  </a:cubicBezTo>
                  <a:cubicBezTo>
                    <a:pt x="416" y="605"/>
                    <a:pt x="424" y="606"/>
                    <a:pt x="432" y="606"/>
                  </a:cubicBezTo>
                  <a:cubicBezTo>
                    <a:pt x="496" y="606"/>
                    <a:pt x="550" y="561"/>
                    <a:pt x="562" y="499"/>
                  </a:cubicBezTo>
                  <a:cubicBezTo>
                    <a:pt x="568" y="464"/>
                    <a:pt x="561" y="429"/>
                    <a:pt x="541" y="400"/>
                  </a:cubicBezTo>
                  <a:close/>
                  <a:moveTo>
                    <a:pt x="542" y="495"/>
                  </a:moveTo>
                  <a:lnTo>
                    <a:pt x="542" y="495"/>
                  </a:lnTo>
                  <a:cubicBezTo>
                    <a:pt x="532" y="547"/>
                    <a:pt x="486" y="586"/>
                    <a:pt x="432" y="586"/>
                  </a:cubicBezTo>
                  <a:cubicBezTo>
                    <a:pt x="425" y="586"/>
                    <a:pt x="418" y="585"/>
                    <a:pt x="411" y="584"/>
                  </a:cubicBezTo>
                  <a:cubicBezTo>
                    <a:pt x="351" y="572"/>
                    <a:pt x="311" y="513"/>
                    <a:pt x="323" y="453"/>
                  </a:cubicBezTo>
                  <a:cubicBezTo>
                    <a:pt x="333" y="401"/>
                    <a:pt x="379" y="362"/>
                    <a:pt x="432" y="362"/>
                  </a:cubicBezTo>
                  <a:cubicBezTo>
                    <a:pt x="439" y="362"/>
                    <a:pt x="446" y="363"/>
                    <a:pt x="453" y="364"/>
                  </a:cubicBezTo>
                  <a:cubicBezTo>
                    <a:pt x="482" y="370"/>
                    <a:pt x="508" y="387"/>
                    <a:pt x="524" y="411"/>
                  </a:cubicBezTo>
                  <a:cubicBezTo>
                    <a:pt x="541" y="436"/>
                    <a:pt x="547" y="466"/>
                    <a:pt x="542" y="495"/>
                  </a:cubicBezTo>
                  <a:close/>
                  <a:moveTo>
                    <a:pt x="277" y="494"/>
                  </a:moveTo>
                  <a:lnTo>
                    <a:pt x="190" y="494"/>
                  </a:lnTo>
                  <a:lnTo>
                    <a:pt x="190" y="360"/>
                  </a:lnTo>
                  <a:lnTo>
                    <a:pt x="325" y="360"/>
                  </a:lnTo>
                  <a:cubicBezTo>
                    <a:pt x="334" y="352"/>
                    <a:pt x="343" y="345"/>
                    <a:pt x="353" y="339"/>
                  </a:cubicBezTo>
                  <a:lnTo>
                    <a:pt x="353" y="339"/>
                  </a:lnTo>
                  <a:lnTo>
                    <a:pt x="353" y="205"/>
                  </a:lnTo>
                  <a:lnTo>
                    <a:pt x="491" y="205"/>
                  </a:lnTo>
                  <a:cubicBezTo>
                    <a:pt x="494" y="205"/>
                    <a:pt x="496" y="208"/>
                    <a:pt x="496" y="211"/>
                  </a:cubicBezTo>
                  <a:lnTo>
                    <a:pt x="496" y="331"/>
                  </a:lnTo>
                  <a:cubicBezTo>
                    <a:pt x="504" y="335"/>
                    <a:pt x="511" y="339"/>
                    <a:pt x="518" y="343"/>
                  </a:cubicBezTo>
                  <a:lnTo>
                    <a:pt x="518" y="339"/>
                  </a:lnTo>
                  <a:lnTo>
                    <a:pt x="518" y="211"/>
                  </a:lnTo>
                  <a:lnTo>
                    <a:pt x="518" y="139"/>
                  </a:lnTo>
                  <a:cubicBezTo>
                    <a:pt x="518" y="124"/>
                    <a:pt x="506" y="112"/>
                    <a:pt x="491" y="112"/>
                  </a:cubicBezTo>
                  <a:lnTo>
                    <a:pt x="27" y="112"/>
                  </a:lnTo>
                  <a:cubicBezTo>
                    <a:pt x="12" y="112"/>
                    <a:pt x="0" y="124"/>
                    <a:pt x="0" y="139"/>
                  </a:cubicBezTo>
                  <a:lnTo>
                    <a:pt x="0" y="211"/>
                  </a:lnTo>
                  <a:lnTo>
                    <a:pt x="0" y="339"/>
                  </a:lnTo>
                  <a:lnTo>
                    <a:pt x="0" y="360"/>
                  </a:lnTo>
                  <a:lnTo>
                    <a:pt x="0" y="488"/>
                  </a:lnTo>
                  <a:lnTo>
                    <a:pt x="0" y="504"/>
                  </a:lnTo>
                  <a:cubicBezTo>
                    <a:pt x="0" y="519"/>
                    <a:pt x="12" y="531"/>
                    <a:pt x="27" y="531"/>
                  </a:cubicBezTo>
                  <a:lnTo>
                    <a:pt x="286" y="531"/>
                  </a:lnTo>
                  <a:cubicBezTo>
                    <a:pt x="282" y="519"/>
                    <a:pt x="278" y="506"/>
                    <a:pt x="277" y="494"/>
                  </a:cubicBezTo>
                  <a:close/>
                  <a:moveTo>
                    <a:pt x="21" y="211"/>
                  </a:moveTo>
                  <a:lnTo>
                    <a:pt x="21" y="211"/>
                  </a:lnTo>
                  <a:cubicBezTo>
                    <a:pt x="21" y="208"/>
                    <a:pt x="24" y="205"/>
                    <a:pt x="27" y="205"/>
                  </a:cubicBezTo>
                  <a:lnTo>
                    <a:pt x="169" y="205"/>
                  </a:lnTo>
                  <a:lnTo>
                    <a:pt x="169" y="339"/>
                  </a:lnTo>
                  <a:lnTo>
                    <a:pt x="21" y="339"/>
                  </a:lnTo>
                  <a:lnTo>
                    <a:pt x="21" y="211"/>
                  </a:lnTo>
                  <a:close/>
                  <a:moveTo>
                    <a:pt x="169" y="360"/>
                  </a:moveTo>
                  <a:lnTo>
                    <a:pt x="169" y="360"/>
                  </a:lnTo>
                  <a:lnTo>
                    <a:pt x="169" y="494"/>
                  </a:lnTo>
                  <a:lnTo>
                    <a:pt x="27" y="494"/>
                  </a:lnTo>
                  <a:cubicBezTo>
                    <a:pt x="24" y="494"/>
                    <a:pt x="21" y="491"/>
                    <a:pt x="21" y="488"/>
                  </a:cubicBezTo>
                  <a:lnTo>
                    <a:pt x="21" y="360"/>
                  </a:lnTo>
                  <a:lnTo>
                    <a:pt x="169" y="360"/>
                  </a:lnTo>
                  <a:close/>
                  <a:moveTo>
                    <a:pt x="190" y="339"/>
                  </a:moveTo>
                  <a:lnTo>
                    <a:pt x="190" y="339"/>
                  </a:lnTo>
                  <a:lnTo>
                    <a:pt x="190" y="205"/>
                  </a:lnTo>
                  <a:lnTo>
                    <a:pt x="332" y="205"/>
                  </a:lnTo>
                  <a:lnTo>
                    <a:pt x="332" y="339"/>
                  </a:lnTo>
                  <a:lnTo>
                    <a:pt x="190" y="339"/>
                  </a:lnTo>
                  <a:close/>
                  <a:moveTo>
                    <a:pt x="342" y="139"/>
                  </a:moveTo>
                  <a:lnTo>
                    <a:pt x="342" y="139"/>
                  </a:lnTo>
                  <a:cubicBezTo>
                    <a:pt x="353" y="139"/>
                    <a:pt x="361" y="147"/>
                    <a:pt x="361" y="157"/>
                  </a:cubicBezTo>
                  <a:cubicBezTo>
                    <a:pt x="361" y="167"/>
                    <a:pt x="353" y="176"/>
                    <a:pt x="342" y="176"/>
                  </a:cubicBezTo>
                  <a:cubicBezTo>
                    <a:pt x="332" y="176"/>
                    <a:pt x="324" y="167"/>
                    <a:pt x="324" y="157"/>
                  </a:cubicBezTo>
                  <a:cubicBezTo>
                    <a:pt x="324" y="147"/>
                    <a:pt x="332" y="139"/>
                    <a:pt x="342" y="139"/>
                  </a:cubicBezTo>
                  <a:close/>
                  <a:moveTo>
                    <a:pt x="180" y="139"/>
                  </a:moveTo>
                  <a:lnTo>
                    <a:pt x="180" y="139"/>
                  </a:lnTo>
                  <a:cubicBezTo>
                    <a:pt x="190" y="139"/>
                    <a:pt x="198" y="147"/>
                    <a:pt x="198" y="157"/>
                  </a:cubicBezTo>
                  <a:cubicBezTo>
                    <a:pt x="198" y="167"/>
                    <a:pt x="190" y="176"/>
                    <a:pt x="180" y="176"/>
                  </a:cubicBezTo>
                  <a:cubicBezTo>
                    <a:pt x="170" y="176"/>
                    <a:pt x="161" y="167"/>
                    <a:pt x="161" y="157"/>
                  </a:cubicBezTo>
                  <a:cubicBezTo>
                    <a:pt x="161" y="147"/>
                    <a:pt x="170" y="139"/>
                    <a:pt x="180" y="13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47" name="文本框 46"/>
          <p:cNvSpPr txBox="1"/>
          <p:nvPr/>
        </p:nvSpPr>
        <p:spPr>
          <a:xfrm>
            <a:off x="5370651" y="5123987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创新创意</a:t>
            </a:r>
            <a:endParaRPr lang="zh-CN" altLang="en-US" sz="3600" dirty="0">
              <a:solidFill>
                <a:schemeClr val="bg2">
                  <a:lumMod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3365381"/>
            <a:ext cx="9144000" cy="102841"/>
          </a:xfrm>
          <a:prstGeom prst="rect">
            <a:avLst/>
          </a:prstGeom>
          <a:gradFill>
            <a:gsLst>
              <a:gs pos="0">
                <a:srgbClr val="E30613"/>
              </a:gs>
              <a:gs pos="100000">
                <a:srgbClr val="81040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6" name="组合 105"/>
          <p:cNvGrpSpPr/>
          <p:nvPr/>
        </p:nvGrpSpPr>
        <p:grpSpPr>
          <a:xfrm>
            <a:off x="3901506" y="3838139"/>
            <a:ext cx="3856500" cy="1208703"/>
            <a:chOff x="322748" y="3665374"/>
            <a:chExt cx="5680529" cy="1027864"/>
          </a:xfrm>
        </p:grpSpPr>
        <p:sp>
          <p:nvSpPr>
            <p:cNvPr id="108" name="圆角矩形 107"/>
            <p:cNvSpPr/>
            <p:nvPr/>
          </p:nvSpPr>
          <p:spPr>
            <a:xfrm>
              <a:off x="322748" y="3665374"/>
              <a:ext cx="5680529" cy="1027864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bg1"/>
                </a:gs>
                <a:gs pos="100000">
                  <a:srgbClr val="D1D1D1"/>
                </a:gs>
              </a:gsLst>
              <a:lin ang="5400000" scaled="0"/>
            </a:gradFill>
            <a:ln>
              <a:noFill/>
            </a:ln>
            <a:effectLst>
              <a:outerShdw blurRad="127000" dist="508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圆角矩形 108"/>
            <p:cNvSpPr/>
            <p:nvPr/>
          </p:nvSpPr>
          <p:spPr>
            <a:xfrm>
              <a:off x="516699" y="3785998"/>
              <a:ext cx="5277329" cy="784227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bg1"/>
                </a:gs>
                <a:gs pos="100000">
                  <a:srgbClr val="D1D1D1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7" name="文本框 106"/>
          <p:cNvSpPr txBox="1"/>
          <p:nvPr/>
        </p:nvSpPr>
        <p:spPr>
          <a:xfrm>
            <a:off x="4572000" y="4056364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设计原理</a:t>
            </a:r>
            <a:endParaRPr lang="zh-CN" altLang="en-US" sz="4400" dirty="0">
              <a:solidFill>
                <a:schemeClr val="bg2">
                  <a:lumMod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6963"/>
            <a:ext cx="9144000" cy="1828800"/>
          </a:xfrm>
          <a:prstGeom prst="rect">
            <a:avLst/>
          </a:prstGeom>
        </p:spPr>
      </p:pic>
      <p:grpSp>
        <p:nvGrpSpPr>
          <p:cNvPr id="16" name="组合 15"/>
          <p:cNvGrpSpPr>
            <a:grpSpLocks noChangeAspect="1"/>
          </p:cNvGrpSpPr>
          <p:nvPr/>
        </p:nvGrpSpPr>
        <p:grpSpPr>
          <a:xfrm>
            <a:off x="708753" y="2932759"/>
            <a:ext cx="2484000" cy="2484000"/>
            <a:chOff x="836778" y="1675054"/>
            <a:chExt cx="2004782" cy="2673043"/>
          </a:xfrm>
        </p:grpSpPr>
        <p:sp>
          <p:nvSpPr>
            <p:cNvPr id="17" name="椭圆 16"/>
            <p:cNvSpPr/>
            <p:nvPr/>
          </p:nvSpPr>
          <p:spPr>
            <a:xfrm>
              <a:off x="836778" y="1675054"/>
              <a:ext cx="2004782" cy="2673043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  <a:ln w="19050">
              <a:gradFill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1"/>
              </a:gradFill>
            </a:ln>
            <a:effectLst>
              <a:outerShdw blurRad="279400" dist="152400" dir="2700000" sx="102000" sy="102000" algn="tl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1034165" y="1914547"/>
              <a:ext cx="1631179" cy="2174905"/>
              <a:chOff x="3739822" y="2440887"/>
              <a:chExt cx="1970936" cy="1970936"/>
            </a:xfrm>
          </p:grpSpPr>
          <p:sp>
            <p:nvSpPr>
              <p:cNvPr id="19" name="圆角矩形 18"/>
              <p:cNvSpPr/>
              <p:nvPr/>
            </p:nvSpPr>
            <p:spPr>
              <a:xfrm>
                <a:off x="3739822" y="2440887"/>
                <a:ext cx="1970936" cy="1970936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100000">
                    <a:schemeClr val="bg1"/>
                  </a:gs>
                  <a:gs pos="0">
                    <a:srgbClr val="B8BBBC"/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0" name="椭圆 19"/>
              <p:cNvSpPr>
                <a:spLocks noChangeAspect="1"/>
              </p:cNvSpPr>
              <p:nvPr/>
            </p:nvSpPr>
            <p:spPr>
              <a:xfrm>
                <a:off x="3837054" y="2549460"/>
                <a:ext cx="1776466" cy="1776466"/>
              </a:xfrm>
              <a:prstGeom prst="ellipse">
                <a:avLst/>
              </a:prstGeom>
              <a:gradFill>
                <a:gsLst>
                  <a:gs pos="0">
                    <a:srgbClr val="E30613"/>
                  </a:gs>
                  <a:gs pos="100000">
                    <a:srgbClr val="81040B"/>
                  </a:gs>
                </a:gsLst>
                <a:lin ang="5400000" scaled="1"/>
              </a:gra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8000" dirty="0">
                  <a:latin typeface="Arial Black" panose="020B0A04020102020204" pitchFamily="34" charset="0"/>
                </a:endParaRPr>
              </a:p>
            </p:txBody>
          </p:sp>
        </p:grpSp>
      </p:grpSp>
      <p:sp>
        <p:nvSpPr>
          <p:cNvPr id="3" name="矩形 2"/>
          <p:cNvSpPr/>
          <p:nvPr/>
        </p:nvSpPr>
        <p:spPr>
          <a:xfrm>
            <a:off x="1187049" y="3548892"/>
            <a:ext cx="1553631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8000" dirty="0">
                <a:solidFill>
                  <a:schemeClr val="bg1"/>
                </a:solidFill>
                <a:latin typeface="Arial Black" panose="020B0A04020102020204" pitchFamily="34" charset="0"/>
              </a:rPr>
              <a:t>01</a:t>
            </a:r>
            <a:endParaRPr lang="zh-CN" altLang="en-US" sz="8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22" name="Picture 2" descr="E:\Hou\信息化建设\web\校徽相关\xjtu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63" t="-1001" r="53439" b="77637"/>
          <a:stretch/>
        </p:blipFill>
        <p:spPr bwMode="auto">
          <a:xfrm>
            <a:off x="199951" y="237148"/>
            <a:ext cx="2674751" cy="747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54206" y="299118"/>
            <a:ext cx="8435588" cy="589667"/>
            <a:chOff x="533603" y="299118"/>
            <a:chExt cx="8435588" cy="589667"/>
          </a:xfrm>
        </p:grpSpPr>
        <p:pic>
          <p:nvPicPr>
            <p:cNvPr id="2" name="Picture 2" descr="E:\Hou\信息化建设\web\校徽相关\xjtu.pn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463" t="-1001" r="53439" b="77637"/>
            <a:stretch/>
          </p:blipFill>
          <p:spPr bwMode="auto">
            <a:xfrm>
              <a:off x="6858003" y="299118"/>
              <a:ext cx="2111188" cy="5896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" name="组合 2"/>
            <p:cNvGrpSpPr/>
            <p:nvPr/>
          </p:nvGrpSpPr>
          <p:grpSpPr>
            <a:xfrm>
              <a:off x="533603" y="473621"/>
              <a:ext cx="435327" cy="405245"/>
              <a:chOff x="290945" y="346364"/>
              <a:chExt cx="859090" cy="799725"/>
            </a:xfrm>
          </p:grpSpPr>
          <p:sp>
            <p:nvSpPr>
              <p:cNvPr id="4" name="圆角矩形 3"/>
              <p:cNvSpPr>
                <a:spLocks noChangeAspect="1"/>
              </p:cNvSpPr>
              <p:nvPr/>
            </p:nvSpPr>
            <p:spPr>
              <a:xfrm>
                <a:off x="290945" y="346364"/>
                <a:ext cx="648000" cy="648000"/>
              </a:xfrm>
              <a:prstGeom prst="roundRect">
                <a:avLst/>
              </a:prstGeom>
              <a:noFill/>
              <a:ln w="539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 useBgFill="1">
            <p:nvSpPr>
              <p:cNvPr id="5" name="圆角矩形 4"/>
              <p:cNvSpPr>
                <a:spLocks noChangeAspect="1"/>
              </p:cNvSpPr>
              <p:nvPr/>
            </p:nvSpPr>
            <p:spPr>
              <a:xfrm>
                <a:off x="528654" y="526125"/>
                <a:ext cx="540000" cy="540000"/>
              </a:xfrm>
              <a:prstGeom prst="roundRect">
                <a:avLst/>
              </a:prstGeom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6" name="圆角矩形 5"/>
              <p:cNvSpPr>
                <a:spLocks noChangeAspect="1"/>
              </p:cNvSpPr>
              <p:nvPr/>
            </p:nvSpPr>
            <p:spPr>
              <a:xfrm>
                <a:off x="610035" y="606089"/>
                <a:ext cx="540000" cy="540000"/>
              </a:xfrm>
              <a:prstGeom prst="roundRect">
                <a:avLst/>
              </a:prstGeom>
              <a:solidFill>
                <a:srgbClr val="C00000"/>
              </a:solidFill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7" name="直接连接符 6"/>
            <p:cNvCxnSpPr/>
            <p:nvPr/>
          </p:nvCxnSpPr>
          <p:spPr>
            <a:xfrm>
              <a:off x="1227882" y="878865"/>
              <a:ext cx="5436000" cy="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26"/>
          <p:cNvSpPr txBox="1"/>
          <p:nvPr/>
        </p:nvSpPr>
        <p:spPr>
          <a:xfrm>
            <a:off x="941375" y="272323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itchFamily="34" charset="-122"/>
                <a:ea typeface="微软雅黑" pitchFamily="34" charset="-122"/>
              </a:rPr>
              <a:t>一、设计原理</a:t>
            </a:r>
          </a:p>
        </p:txBody>
      </p:sp>
      <p:pic>
        <p:nvPicPr>
          <p:cNvPr id="1026" name="Picture 2" descr="16 状态相位累加器运行的简化图">
            <a:extLst>
              <a:ext uri="{FF2B5EF4-FFF2-40B4-BE49-F238E27FC236}">
                <a16:creationId xmlns:a16="http://schemas.microsoft.com/office/drawing/2014/main" id="{BBE0AB61-B8E8-4B6B-9C0F-35E450090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899" y="1312321"/>
            <a:ext cx="4746028" cy="486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DB812F3-08BC-42E6-8D90-CA22A80C7CF1}"/>
              </a:ext>
            </a:extLst>
          </p:cNvPr>
          <p:cNvSpPr/>
          <p:nvPr/>
        </p:nvSpPr>
        <p:spPr>
          <a:xfrm>
            <a:off x="5428595" y="1383343"/>
            <a:ext cx="3591118" cy="828135"/>
          </a:xfrm>
          <a:prstGeom prst="rect">
            <a:avLst/>
          </a:prstGeom>
          <a:gradFill>
            <a:gsLst>
              <a:gs pos="0">
                <a:srgbClr val="E30613">
                  <a:alpha val="79000"/>
                </a:srgbClr>
              </a:gs>
              <a:gs pos="100000">
                <a:srgbClr val="81040B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00" b="1" dirty="0"/>
              <a:t>直接数字合成器</a:t>
            </a:r>
            <a:r>
              <a:rPr lang="en-US" altLang="zh-CN" sz="2600" b="1" dirty="0"/>
              <a:t>(DDS)</a:t>
            </a:r>
            <a:endParaRPr lang="zh-CN" altLang="en-US" sz="2600" b="1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4D983B05-2CF8-40D2-8CCA-6AB1C5307C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4073597"/>
              </p:ext>
            </p:extLst>
          </p:nvPr>
        </p:nvGraphicFramePr>
        <p:xfrm>
          <a:off x="5847188" y="2854548"/>
          <a:ext cx="2506698" cy="11310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5" imgW="1041120" imgH="469800" progId="Equation.DSMT4">
                  <p:embed/>
                </p:oleObj>
              </mc:Choice>
              <mc:Fallback>
                <p:oleObj name="Equation" r:id="rId5" imgW="104112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47188" y="2854548"/>
                        <a:ext cx="2506698" cy="11310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95A6AA79-CF70-43DC-95D1-E0C02C28B7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9338259"/>
              </p:ext>
            </p:extLst>
          </p:nvPr>
        </p:nvGraphicFramePr>
        <p:xfrm>
          <a:off x="5847188" y="4311343"/>
          <a:ext cx="2506699" cy="1069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quation" r:id="rId7" imgW="952200" imgH="406080" progId="Equation.DSMT4">
                  <p:embed/>
                </p:oleObj>
              </mc:Choice>
              <mc:Fallback>
                <p:oleObj name="Equation" r:id="rId7" imgW="9522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47188" y="4311343"/>
                        <a:ext cx="2506699" cy="10695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30791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3365381"/>
            <a:ext cx="9144000" cy="102841"/>
          </a:xfrm>
          <a:prstGeom prst="rect">
            <a:avLst/>
          </a:prstGeom>
          <a:gradFill>
            <a:gsLst>
              <a:gs pos="0">
                <a:srgbClr val="E30613"/>
              </a:gs>
              <a:gs pos="100000">
                <a:srgbClr val="81040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6" name="组合 105"/>
          <p:cNvGrpSpPr/>
          <p:nvPr/>
        </p:nvGrpSpPr>
        <p:grpSpPr>
          <a:xfrm>
            <a:off x="3901506" y="3838139"/>
            <a:ext cx="3856500" cy="1208703"/>
            <a:chOff x="322748" y="3665374"/>
            <a:chExt cx="5680529" cy="1027864"/>
          </a:xfrm>
        </p:grpSpPr>
        <p:sp>
          <p:nvSpPr>
            <p:cNvPr id="108" name="圆角矩形 107"/>
            <p:cNvSpPr/>
            <p:nvPr/>
          </p:nvSpPr>
          <p:spPr>
            <a:xfrm>
              <a:off x="322748" y="3665374"/>
              <a:ext cx="5680529" cy="1027864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bg1"/>
                </a:gs>
                <a:gs pos="100000">
                  <a:srgbClr val="D1D1D1"/>
                </a:gs>
              </a:gsLst>
              <a:lin ang="5400000" scaled="0"/>
            </a:gradFill>
            <a:ln>
              <a:noFill/>
            </a:ln>
            <a:effectLst>
              <a:outerShdw blurRad="127000" dist="508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圆角矩形 108"/>
            <p:cNvSpPr/>
            <p:nvPr/>
          </p:nvSpPr>
          <p:spPr>
            <a:xfrm>
              <a:off x="516699" y="3785998"/>
              <a:ext cx="5277329" cy="784227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bg1"/>
                </a:gs>
                <a:gs pos="100000">
                  <a:srgbClr val="D1D1D1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7" name="文本框 106"/>
          <p:cNvSpPr txBox="1"/>
          <p:nvPr/>
        </p:nvSpPr>
        <p:spPr>
          <a:xfrm>
            <a:off x="4572000" y="4056364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结构框架</a:t>
            </a:r>
            <a:endParaRPr lang="zh-CN" altLang="en-US" sz="4400" dirty="0">
              <a:solidFill>
                <a:schemeClr val="bg2">
                  <a:lumMod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6963"/>
            <a:ext cx="9144000" cy="1828800"/>
          </a:xfrm>
          <a:prstGeom prst="rect">
            <a:avLst/>
          </a:prstGeom>
        </p:spPr>
      </p:pic>
      <p:grpSp>
        <p:nvGrpSpPr>
          <p:cNvPr id="16" name="组合 15"/>
          <p:cNvGrpSpPr>
            <a:grpSpLocks noChangeAspect="1"/>
          </p:cNvGrpSpPr>
          <p:nvPr/>
        </p:nvGrpSpPr>
        <p:grpSpPr>
          <a:xfrm>
            <a:off x="708753" y="2932759"/>
            <a:ext cx="2484000" cy="2484000"/>
            <a:chOff x="836778" y="1675054"/>
            <a:chExt cx="2004782" cy="2673043"/>
          </a:xfrm>
        </p:grpSpPr>
        <p:sp>
          <p:nvSpPr>
            <p:cNvPr id="17" name="椭圆 16"/>
            <p:cNvSpPr/>
            <p:nvPr/>
          </p:nvSpPr>
          <p:spPr>
            <a:xfrm>
              <a:off x="836778" y="1675054"/>
              <a:ext cx="2004782" cy="2673043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  <a:ln w="19050">
              <a:gradFill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1"/>
              </a:gradFill>
            </a:ln>
            <a:effectLst>
              <a:outerShdw blurRad="279400" dist="152400" dir="2700000" sx="102000" sy="102000" algn="tl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1034165" y="1914547"/>
              <a:ext cx="1631179" cy="2174905"/>
              <a:chOff x="3739822" y="2440887"/>
              <a:chExt cx="1970936" cy="1970936"/>
            </a:xfrm>
          </p:grpSpPr>
          <p:sp>
            <p:nvSpPr>
              <p:cNvPr id="19" name="圆角矩形 18"/>
              <p:cNvSpPr/>
              <p:nvPr/>
            </p:nvSpPr>
            <p:spPr>
              <a:xfrm>
                <a:off x="3739822" y="2440887"/>
                <a:ext cx="1970936" cy="1970936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100000">
                    <a:schemeClr val="bg1"/>
                  </a:gs>
                  <a:gs pos="0">
                    <a:srgbClr val="B8BBBC"/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0" name="椭圆 19"/>
              <p:cNvSpPr>
                <a:spLocks noChangeAspect="1"/>
              </p:cNvSpPr>
              <p:nvPr/>
            </p:nvSpPr>
            <p:spPr>
              <a:xfrm>
                <a:off x="3837054" y="2549460"/>
                <a:ext cx="1776466" cy="1776466"/>
              </a:xfrm>
              <a:prstGeom prst="ellipse">
                <a:avLst/>
              </a:prstGeom>
              <a:gradFill>
                <a:gsLst>
                  <a:gs pos="0">
                    <a:srgbClr val="E30613"/>
                  </a:gs>
                  <a:gs pos="100000">
                    <a:srgbClr val="81040B"/>
                  </a:gs>
                </a:gsLst>
                <a:lin ang="5400000" scaled="1"/>
              </a:gra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8000" dirty="0">
                  <a:latin typeface="Arial Black" panose="020B0A04020102020204" pitchFamily="34" charset="0"/>
                </a:endParaRPr>
              </a:p>
            </p:txBody>
          </p:sp>
        </p:grpSp>
      </p:grpSp>
      <p:sp>
        <p:nvSpPr>
          <p:cNvPr id="3" name="矩形 2"/>
          <p:cNvSpPr/>
          <p:nvPr/>
        </p:nvSpPr>
        <p:spPr>
          <a:xfrm>
            <a:off x="1187049" y="3548892"/>
            <a:ext cx="1553631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8000" dirty="0">
                <a:solidFill>
                  <a:schemeClr val="bg1"/>
                </a:solidFill>
                <a:latin typeface="Arial Black" panose="020B0A04020102020204" pitchFamily="34" charset="0"/>
              </a:rPr>
              <a:t>02</a:t>
            </a:r>
            <a:endParaRPr lang="zh-CN" altLang="en-US" sz="8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22" name="Picture 2" descr="E:\Hou\信息化建设\web\校徽相关\xjtu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63" t="-1001" r="53439" b="77637"/>
          <a:stretch/>
        </p:blipFill>
        <p:spPr bwMode="auto">
          <a:xfrm>
            <a:off x="199951" y="237148"/>
            <a:ext cx="2674751" cy="747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7814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54206" y="299118"/>
            <a:ext cx="8435588" cy="589667"/>
            <a:chOff x="533603" y="299118"/>
            <a:chExt cx="8435588" cy="589667"/>
          </a:xfrm>
        </p:grpSpPr>
        <p:pic>
          <p:nvPicPr>
            <p:cNvPr id="2" name="Picture 2" descr="E:\Hou\信息化建设\web\校徽相关\xjtu.pn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463" t="-1001" r="53439" b="77637"/>
            <a:stretch/>
          </p:blipFill>
          <p:spPr bwMode="auto">
            <a:xfrm>
              <a:off x="6858003" y="299118"/>
              <a:ext cx="2111188" cy="5896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" name="组合 2"/>
            <p:cNvGrpSpPr/>
            <p:nvPr/>
          </p:nvGrpSpPr>
          <p:grpSpPr>
            <a:xfrm>
              <a:off x="533603" y="473621"/>
              <a:ext cx="435327" cy="405245"/>
              <a:chOff x="290945" y="346364"/>
              <a:chExt cx="859090" cy="799725"/>
            </a:xfrm>
          </p:grpSpPr>
          <p:sp>
            <p:nvSpPr>
              <p:cNvPr id="4" name="圆角矩形 3"/>
              <p:cNvSpPr>
                <a:spLocks noChangeAspect="1"/>
              </p:cNvSpPr>
              <p:nvPr/>
            </p:nvSpPr>
            <p:spPr>
              <a:xfrm>
                <a:off x="290945" y="346364"/>
                <a:ext cx="648000" cy="648000"/>
              </a:xfrm>
              <a:prstGeom prst="roundRect">
                <a:avLst/>
              </a:prstGeom>
              <a:noFill/>
              <a:ln w="539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 useBgFill="1">
            <p:nvSpPr>
              <p:cNvPr id="5" name="圆角矩形 4"/>
              <p:cNvSpPr>
                <a:spLocks noChangeAspect="1"/>
              </p:cNvSpPr>
              <p:nvPr/>
            </p:nvSpPr>
            <p:spPr>
              <a:xfrm>
                <a:off x="528654" y="526125"/>
                <a:ext cx="540000" cy="540000"/>
              </a:xfrm>
              <a:prstGeom prst="roundRect">
                <a:avLst/>
              </a:prstGeom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6" name="圆角矩形 5"/>
              <p:cNvSpPr>
                <a:spLocks noChangeAspect="1"/>
              </p:cNvSpPr>
              <p:nvPr/>
            </p:nvSpPr>
            <p:spPr>
              <a:xfrm>
                <a:off x="610035" y="606089"/>
                <a:ext cx="540000" cy="540000"/>
              </a:xfrm>
              <a:prstGeom prst="roundRect">
                <a:avLst/>
              </a:prstGeom>
              <a:solidFill>
                <a:srgbClr val="C00000"/>
              </a:solidFill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7" name="直接连接符 6"/>
            <p:cNvCxnSpPr/>
            <p:nvPr/>
          </p:nvCxnSpPr>
          <p:spPr>
            <a:xfrm>
              <a:off x="1227882" y="878865"/>
              <a:ext cx="5436000" cy="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26"/>
          <p:cNvSpPr txBox="1"/>
          <p:nvPr/>
        </p:nvSpPr>
        <p:spPr>
          <a:xfrm>
            <a:off x="941375" y="272323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itchFamily="34" charset="-122"/>
                <a:ea typeface="微软雅黑" pitchFamily="34" charset="-122"/>
              </a:rPr>
              <a:t>一、结构框架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DB812F3-08BC-42E6-8D90-CA22A80C7CF1}"/>
              </a:ext>
            </a:extLst>
          </p:cNvPr>
          <p:cNvSpPr/>
          <p:nvPr/>
        </p:nvSpPr>
        <p:spPr>
          <a:xfrm>
            <a:off x="2776441" y="1117013"/>
            <a:ext cx="3163510" cy="747298"/>
          </a:xfrm>
          <a:prstGeom prst="rect">
            <a:avLst/>
          </a:prstGeom>
          <a:gradFill>
            <a:gsLst>
              <a:gs pos="0">
                <a:srgbClr val="E30613">
                  <a:alpha val="79000"/>
                </a:srgbClr>
              </a:gs>
              <a:gs pos="100000">
                <a:srgbClr val="81040B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00" b="1" dirty="0"/>
              <a:t>顶层文件</a:t>
            </a:r>
            <a:r>
              <a:rPr lang="en-US" altLang="zh-CN" sz="2600" b="1" dirty="0"/>
              <a:t>(</a:t>
            </a:r>
            <a:r>
              <a:rPr lang="en-US" altLang="zh-CN" sz="2600" b="1" dirty="0" err="1"/>
              <a:t>top_dds.v</a:t>
            </a:r>
            <a:r>
              <a:rPr lang="en-US" altLang="zh-CN" sz="2600" b="1" dirty="0"/>
              <a:t>)</a:t>
            </a:r>
            <a:endParaRPr lang="zh-CN" altLang="en-US" sz="2600" b="1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0C7734E-1F5E-45D8-9ECB-D54E66D61F62}"/>
              </a:ext>
            </a:extLst>
          </p:cNvPr>
          <p:cNvSpPr/>
          <p:nvPr/>
        </p:nvSpPr>
        <p:spPr>
          <a:xfrm>
            <a:off x="485176" y="2160458"/>
            <a:ext cx="2646878" cy="828133"/>
          </a:xfrm>
          <a:prstGeom prst="rect">
            <a:avLst/>
          </a:prstGeom>
          <a:gradFill>
            <a:gsLst>
              <a:gs pos="0">
                <a:srgbClr val="E30613">
                  <a:alpha val="79000"/>
                </a:srgbClr>
              </a:gs>
              <a:gs pos="100000">
                <a:srgbClr val="81040B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按键与状态机模块</a:t>
            </a:r>
            <a:r>
              <a:rPr lang="en-US" altLang="zh-CN" sz="2000" b="1" dirty="0"/>
              <a:t>(</a:t>
            </a:r>
            <a:r>
              <a:rPr lang="en-US" altLang="zh-CN" sz="2000" b="1" dirty="0" err="1"/>
              <a:t>top_key_and_FSM.v</a:t>
            </a:r>
            <a:r>
              <a:rPr lang="en-US" altLang="zh-CN" sz="2000" b="1" dirty="0"/>
              <a:t>)</a:t>
            </a:r>
            <a:endParaRPr lang="zh-CN" altLang="en-US" sz="2000" b="1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534E0F8-0767-405D-AB81-70B9FBED1AB8}"/>
              </a:ext>
            </a:extLst>
          </p:cNvPr>
          <p:cNvSpPr/>
          <p:nvPr/>
        </p:nvSpPr>
        <p:spPr>
          <a:xfrm>
            <a:off x="4934739" y="2149329"/>
            <a:ext cx="2888468" cy="828132"/>
          </a:xfrm>
          <a:prstGeom prst="rect">
            <a:avLst/>
          </a:prstGeom>
          <a:gradFill>
            <a:gsLst>
              <a:gs pos="0">
                <a:srgbClr val="E30613">
                  <a:alpha val="79000"/>
                </a:srgbClr>
              </a:gs>
              <a:gs pos="100000">
                <a:srgbClr val="81040B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波形发生模块</a:t>
            </a:r>
            <a:r>
              <a:rPr lang="en-US" altLang="zh-CN" sz="2000" b="1" dirty="0"/>
              <a:t>(</a:t>
            </a:r>
            <a:r>
              <a:rPr lang="en-US" altLang="zh-CN" sz="2000" b="1" dirty="0" err="1"/>
              <a:t>top_wave.v</a:t>
            </a:r>
            <a:r>
              <a:rPr lang="en-US" altLang="zh-CN" sz="2000" b="1" dirty="0"/>
              <a:t>)</a:t>
            </a:r>
            <a:endParaRPr lang="zh-CN" altLang="en-US" sz="2000" b="1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8670E3E-B5E7-4F28-AC2F-1E879DBEDDB0}"/>
              </a:ext>
            </a:extLst>
          </p:cNvPr>
          <p:cNvSpPr/>
          <p:nvPr/>
        </p:nvSpPr>
        <p:spPr>
          <a:xfrm>
            <a:off x="354206" y="3291401"/>
            <a:ext cx="1358283" cy="828134"/>
          </a:xfrm>
          <a:prstGeom prst="rect">
            <a:avLst/>
          </a:prstGeom>
          <a:gradFill>
            <a:gsLst>
              <a:gs pos="0">
                <a:srgbClr val="E30613">
                  <a:alpha val="79000"/>
                </a:srgbClr>
              </a:gs>
              <a:gs pos="100000">
                <a:srgbClr val="81040B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按键模块</a:t>
            </a:r>
            <a:r>
              <a:rPr lang="en-US" altLang="zh-CN" b="1" dirty="0"/>
              <a:t>(get_5key.v)</a:t>
            </a:r>
            <a:endParaRPr lang="zh-CN" altLang="en-US" b="1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07D86D5-F1F8-4E6E-855B-71934289CC24}"/>
              </a:ext>
            </a:extLst>
          </p:cNvPr>
          <p:cNvSpPr/>
          <p:nvPr/>
        </p:nvSpPr>
        <p:spPr>
          <a:xfrm>
            <a:off x="1887929" y="3298064"/>
            <a:ext cx="1411660" cy="828134"/>
          </a:xfrm>
          <a:prstGeom prst="rect">
            <a:avLst/>
          </a:prstGeom>
          <a:gradFill>
            <a:gsLst>
              <a:gs pos="0">
                <a:srgbClr val="E30613">
                  <a:alpha val="79000"/>
                </a:srgbClr>
              </a:gs>
              <a:gs pos="100000">
                <a:srgbClr val="81040B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状态机模块</a:t>
            </a:r>
            <a:r>
              <a:rPr lang="en-US" altLang="zh-CN" b="1" dirty="0"/>
              <a:t>(FSM_5key.v)</a:t>
            </a:r>
            <a:endParaRPr lang="zh-CN" altLang="en-US" b="1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74EFE29-A1A4-4C69-814C-C22C4C73D060}"/>
              </a:ext>
            </a:extLst>
          </p:cNvPr>
          <p:cNvSpPr/>
          <p:nvPr/>
        </p:nvSpPr>
        <p:spPr>
          <a:xfrm>
            <a:off x="3475029" y="3298064"/>
            <a:ext cx="1819003" cy="828134"/>
          </a:xfrm>
          <a:prstGeom prst="rect">
            <a:avLst/>
          </a:prstGeom>
          <a:gradFill>
            <a:gsLst>
              <a:gs pos="0">
                <a:srgbClr val="E30613">
                  <a:alpha val="79000"/>
                </a:srgbClr>
              </a:gs>
              <a:gs pos="100000">
                <a:srgbClr val="81040B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XADC</a:t>
            </a:r>
            <a:r>
              <a:rPr lang="zh-CN" altLang="en-US" b="1" dirty="0"/>
              <a:t>模块</a:t>
            </a:r>
            <a:r>
              <a:rPr lang="en-US" altLang="zh-CN" b="1" dirty="0"/>
              <a:t>(</a:t>
            </a:r>
            <a:r>
              <a:rPr lang="en-US" altLang="zh-CN" b="1" dirty="0" err="1"/>
              <a:t>XADC_to_data.v</a:t>
            </a:r>
            <a:r>
              <a:rPr lang="en-US" altLang="zh-CN" b="1" dirty="0"/>
              <a:t>)</a:t>
            </a:r>
            <a:endParaRPr lang="zh-CN" altLang="en-US" b="1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DA3708F-5595-4F20-8B13-A35E22C7E18B}"/>
              </a:ext>
            </a:extLst>
          </p:cNvPr>
          <p:cNvSpPr/>
          <p:nvPr/>
        </p:nvSpPr>
        <p:spPr>
          <a:xfrm>
            <a:off x="5469472" y="3298064"/>
            <a:ext cx="1819003" cy="828134"/>
          </a:xfrm>
          <a:prstGeom prst="rect">
            <a:avLst/>
          </a:prstGeom>
          <a:gradFill>
            <a:gsLst>
              <a:gs pos="0">
                <a:srgbClr val="E30613">
                  <a:alpha val="79000"/>
                </a:srgbClr>
              </a:gs>
              <a:gs pos="100000">
                <a:srgbClr val="81040B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采样脉冲模块</a:t>
            </a:r>
            <a:r>
              <a:rPr lang="en-US" altLang="zh-CN" b="1" dirty="0"/>
              <a:t>(</a:t>
            </a:r>
            <a:r>
              <a:rPr lang="en-US" altLang="zh-CN" b="1" dirty="0" err="1"/>
              <a:t>pulse.v</a:t>
            </a:r>
            <a:r>
              <a:rPr lang="en-US" altLang="zh-CN" b="1" dirty="0"/>
              <a:t>)</a:t>
            </a:r>
            <a:endParaRPr lang="zh-CN" altLang="en-US" b="1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6ACCDC1-60C6-42AA-A735-458D7DEA5935}"/>
              </a:ext>
            </a:extLst>
          </p:cNvPr>
          <p:cNvSpPr/>
          <p:nvPr/>
        </p:nvSpPr>
        <p:spPr>
          <a:xfrm>
            <a:off x="7463917" y="3298065"/>
            <a:ext cx="1558646" cy="821470"/>
          </a:xfrm>
          <a:prstGeom prst="rect">
            <a:avLst/>
          </a:prstGeom>
          <a:gradFill>
            <a:gsLst>
              <a:gs pos="0">
                <a:srgbClr val="E30613">
                  <a:alpha val="79000"/>
                </a:srgbClr>
              </a:gs>
              <a:gs pos="100000">
                <a:srgbClr val="81040B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DAC</a:t>
            </a:r>
            <a:r>
              <a:rPr lang="zh-CN" altLang="en-US" b="1" dirty="0"/>
              <a:t>波形模块</a:t>
            </a:r>
            <a:r>
              <a:rPr lang="en-US" altLang="zh-CN" b="1" dirty="0"/>
              <a:t>(</a:t>
            </a:r>
            <a:r>
              <a:rPr lang="en-US" altLang="zh-CN" b="1" dirty="0" err="1"/>
              <a:t>wave.v</a:t>
            </a:r>
            <a:r>
              <a:rPr lang="en-US" altLang="zh-CN" b="1" dirty="0"/>
              <a:t>)</a:t>
            </a:r>
            <a:endParaRPr lang="zh-CN" altLang="en-US" b="1" dirty="0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E96BDC84-4F4A-4236-ABCB-DC9AC58C9024}"/>
              </a:ext>
            </a:extLst>
          </p:cNvPr>
          <p:cNvGrpSpPr/>
          <p:nvPr/>
        </p:nvGrpSpPr>
        <p:grpSpPr>
          <a:xfrm>
            <a:off x="60719" y="4561394"/>
            <a:ext cx="9022562" cy="496663"/>
            <a:chOff x="84000" y="4554731"/>
            <a:chExt cx="9022562" cy="49666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58F55FC4-F5FC-4C66-A7D3-6441C37AF4CD}"/>
                </a:ext>
              </a:extLst>
            </p:cNvPr>
            <p:cNvSpPr/>
            <p:nvPr/>
          </p:nvSpPr>
          <p:spPr>
            <a:xfrm>
              <a:off x="6890381" y="4559665"/>
              <a:ext cx="1082905" cy="483337"/>
            </a:xfrm>
            <a:prstGeom prst="rect">
              <a:avLst/>
            </a:prstGeom>
            <a:gradFill>
              <a:gsLst>
                <a:gs pos="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/>
                <a:t>三角波模块</a:t>
              </a:r>
              <a:r>
                <a:rPr lang="en-US" altLang="zh-CN" sz="1000" b="1" dirty="0"/>
                <a:t>(</a:t>
              </a:r>
              <a:r>
                <a:rPr lang="en-US" altLang="zh-CN" sz="1000" b="1" dirty="0" err="1"/>
                <a:t>triangle_wave.v</a:t>
              </a:r>
              <a:r>
                <a:rPr lang="en-US" altLang="zh-CN" sz="1000" b="1" dirty="0"/>
                <a:t>)</a:t>
              </a:r>
              <a:endParaRPr lang="zh-CN" altLang="en-US" sz="1000" b="1" dirty="0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DC00C550-EEC5-42E6-A399-0AF969DFD064}"/>
                </a:ext>
              </a:extLst>
            </p:cNvPr>
            <p:cNvSpPr/>
            <p:nvPr/>
          </p:nvSpPr>
          <p:spPr>
            <a:xfrm>
              <a:off x="5932386" y="4568057"/>
              <a:ext cx="889014" cy="483337"/>
            </a:xfrm>
            <a:prstGeom prst="rect">
              <a:avLst/>
            </a:prstGeom>
            <a:gradFill>
              <a:gsLst>
                <a:gs pos="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/>
                <a:t>正弦波模块</a:t>
              </a:r>
              <a:r>
                <a:rPr lang="en-US" altLang="zh-CN" sz="1000" b="1" dirty="0"/>
                <a:t>(</a:t>
              </a:r>
              <a:r>
                <a:rPr lang="en-US" altLang="zh-CN" sz="1000" b="1" dirty="0" err="1"/>
                <a:t>sine_wave.v</a:t>
              </a:r>
              <a:r>
                <a:rPr lang="en-US" altLang="zh-CN" sz="1000" b="1" dirty="0"/>
                <a:t>)</a:t>
              </a:r>
              <a:endParaRPr lang="zh-CN" altLang="en-US" sz="1000" b="1" dirty="0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6AB690F2-2AB4-483E-83A4-8F97653ADB62}"/>
                </a:ext>
              </a:extLst>
            </p:cNvPr>
            <p:cNvSpPr/>
            <p:nvPr/>
          </p:nvSpPr>
          <p:spPr>
            <a:xfrm>
              <a:off x="4762574" y="4568057"/>
              <a:ext cx="1100831" cy="483337"/>
            </a:xfrm>
            <a:prstGeom prst="rect">
              <a:avLst/>
            </a:prstGeom>
            <a:gradFill>
              <a:gsLst>
                <a:gs pos="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/>
                <a:t>方波模块</a:t>
              </a:r>
              <a:r>
                <a:rPr lang="en-US" altLang="zh-CN" sz="1000" b="1" dirty="0"/>
                <a:t>(</a:t>
              </a:r>
              <a:r>
                <a:rPr lang="en-US" altLang="zh-CN" sz="1000" b="1" dirty="0" err="1"/>
                <a:t>square_wave.v</a:t>
              </a:r>
              <a:r>
                <a:rPr lang="en-US" altLang="zh-CN" sz="1000" b="1" dirty="0"/>
                <a:t>)</a:t>
              </a:r>
              <a:endParaRPr lang="zh-CN" altLang="en-US" sz="1000" b="1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AB4F2E61-A2B1-432C-B032-1AE4E8FD0DE8}"/>
                </a:ext>
              </a:extLst>
            </p:cNvPr>
            <p:cNvSpPr/>
            <p:nvPr/>
          </p:nvSpPr>
          <p:spPr>
            <a:xfrm>
              <a:off x="8042267" y="4568057"/>
              <a:ext cx="1064295" cy="483337"/>
            </a:xfrm>
            <a:prstGeom prst="rect">
              <a:avLst/>
            </a:prstGeom>
            <a:gradFill>
              <a:gsLst>
                <a:gs pos="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/>
                <a:t>波形选择模块</a:t>
              </a:r>
              <a:r>
                <a:rPr lang="en-US" altLang="zh-CN" sz="1000" b="1" dirty="0"/>
                <a:t>(</a:t>
              </a:r>
              <a:r>
                <a:rPr lang="en-US" altLang="zh-CN" sz="1000" b="1" dirty="0" err="1"/>
                <a:t>select_wave.v</a:t>
              </a:r>
              <a:r>
                <a:rPr lang="en-US" altLang="zh-CN" sz="1000" b="1" dirty="0"/>
                <a:t>)</a:t>
              </a:r>
              <a:endParaRPr lang="zh-CN" altLang="en-US" sz="1000" b="1" dirty="0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1AEA4893-ADF5-4914-A92B-9C39BACA79DC}"/>
                </a:ext>
              </a:extLst>
            </p:cNvPr>
            <p:cNvSpPr/>
            <p:nvPr/>
          </p:nvSpPr>
          <p:spPr>
            <a:xfrm>
              <a:off x="84000" y="4554731"/>
              <a:ext cx="1219174" cy="483336"/>
            </a:xfrm>
            <a:prstGeom prst="rect">
              <a:avLst/>
            </a:prstGeom>
            <a:gradFill>
              <a:gsLst>
                <a:gs pos="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b="1" dirty="0"/>
                <a:t>XADC</a:t>
              </a:r>
              <a:r>
                <a:rPr lang="zh-CN" altLang="en-US" sz="1000" b="1" dirty="0"/>
                <a:t>模块</a:t>
              </a:r>
              <a:r>
                <a:rPr lang="en-US" altLang="zh-CN" sz="1000" b="1" dirty="0"/>
                <a:t>(XADC_channel_1.v)</a:t>
              </a:r>
              <a:endParaRPr lang="zh-CN" altLang="en-US" sz="1000" b="1" dirty="0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BC4A91EC-0435-4AAF-B368-616E05A65B42}"/>
                </a:ext>
              </a:extLst>
            </p:cNvPr>
            <p:cNvSpPr/>
            <p:nvPr/>
          </p:nvSpPr>
          <p:spPr>
            <a:xfrm>
              <a:off x="1372155" y="4554731"/>
              <a:ext cx="1013073" cy="483336"/>
            </a:xfrm>
            <a:prstGeom prst="rect">
              <a:avLst/>
            </a:prstGeom>
            <a:gradFill>
              <a:gsLst>
                <a:gs pos="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b="1" dirty="0"/>
                <a:t>XADC</a:t>
              </a:r>
              <a:r>
                <a:rPr lang="zh-CN" altLang="en-US" sz="1000" b="1" dirty="0"/>
                <a:t>输出模块</a:t>
              </a:r>
              <a:r>
                <a:rPr lang="en-US" altLang="zh-CN" sz="1000" b="1" dirty="0"/>
                <a:t>(</a:t>
              </a:r>
              <a:r>
                <a:rPr lang="en-US" altLang="zh-CN" sz="1000" b="1" dirty="0" err="1"/>
                <a:t>data_output.v</a:t>
              </a:r>
              <a:r>
                <a:rPr lang="en-US" altLang="zh-CN" sz="1000" b="1" dirty="0"/>
                <a:t>)</a:t>
              </a:r>
              <a:endParaRPr lang="zh-CN" altLang="en-US" sz="1000" b="1" dirty="0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B9DCA705-6087-405D-8B01-4C1B9B131492}"/>
                </a:ext>
              </a:extLst>
            </p:cNvPr>
            <p:cNvSpPr/>
            <p:nvPr/>
          </p:nvSpPr>
          <p:spPr>
            <a:xfrm>
              <a:off x="2454209" y="4554731"/>
              <a:ext cx="1013073" cy="483336"/>
            </a:xfrm>
            <a:prstGeom prst="rect">
              <a:avLst/>
            </a:prstGeom>
            <a:gradFill>
              <a:gsLst>
                <a:gs pos="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b="1" dirty="0"/>
                <a:t>2</a:t>
              </a:r>
              <a:r>
                <a:rPr lang="zh-CN" altLang="en-US" sz="1000" b="1" dirty="0"/>
                <a:t>进制转换模块</a:t>
              </a:r>
              <a:r>
                <a:rPr lang="en-US" altLang="zh-CN" sz="1000" b="1" dirty="0"/>
                <a:t>(bin2BCD.v)</a:t>
              </a:r>
              <a:endParaRPr lang="zh-CN" altLang="en-US" sz="1000" b="1" dirty="0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C626B61C-749D-4907-AE14-B1D1598CAE3E}"/>
                </a:ext>
              </a:extLst>
            </p:cNvPr>
            <p:cNvSpPr/>
            <p:nvPr/>
          </p:nvSpPr>
          <p:spPr>
            <a:xfrm>
              <a:off x="3536263" y="4554731"/>
              <a:ext cx="1157330" cy="483336"/>
            </a:xfrm>
            <a:prstGeom prst="rect">
              <a:avLst/>
            </a:prstGeom>
            <a:gradFill>
              <a:gsLst>
                <a:gs pos="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/>
                <a:t>数码管显示模块</a:t>
              </a:r>
              <a:r>
                <a:rPr lang="en-US" altLang="zh-CN" sz="1000" b="1" dirty="0"/>
                <a:t>(</a:t>
              </a:r>
              <a:r>
                <a:rPr lang="en-US" altLang="zh-CN" sz="1000" b="1" dirty="0" err="1"/>
                <a:t>show_high_low.v</a:t>
              </a:r>
              <a:r>
                <a:rPr lang="en-US" altLang="zh-CN" sz="1000" b="1" dirty="0"/>
                <a:t>)</a:t>
              </a:r>
              <a:endParaRPr lang="zh-CN" altLang="en-US" sz="1000" b="1" dirty="0"/>
            </a:p>
          </p:txBody>
        </p:sp>
      </p:grpSp>
      <p:sp>
        <p:nvSpPr>
          <p:cNvPr id="32" name="矩形 31">
            <a:extLst>
              <a:ext uri="{FF2B5EF4-FFF2-40B4-BE49-F238E27FC236}">
                <a16:creationId xmlns:a16="http://schemas.microsoft.com/office/drawing/2014/main" id="{D3C89003-1A15-4373-8715-997700662693}"/>
              </a:ext>
            </a:extLst>
          </p:cNvPr>
          <p:cNvSpPr/>
          <p:nvPr/>
        </p:nvSpPr>
        <p:spPr>
          <a:xfrm>
            <a:off x="52431" y="5495799"/>
            <a:ext cx="1219174" cy="483336"/>
          </a:xfrm>
          <a:prstGeom prst="rect">
            <a:avLst/>
          </a:prstGeom>
          <a:gradFill>
            <a:gsLst>
              <a:gs pos="0">
                <a:srgbClr val="E30613">
                  <a:alpha val="79000"/>
                </a:srgbClr>
              </a:gs>
              <a:gs pos="100000">
                <a:srgbClr val="81040B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/>
              <a:t>XADC</a:t>
            </a:r>
            <a:r>
              <a:rPr lang="zh-CN" altLang="en-US" sz="1000" b="1" dirty="0"/>
              <a:t>的</a:t>
            </a:r>
            <a:r>
              <a:rPr lang="en-US" altLang="zh-CN" sz="1000" b="1" dirty="0"/>
              <a:t>IP</a:t>
            </a:r>
            <a:r>
              <a:rPr lang="zh-CN" altLang="en-US" sz="1000" b="1" dirty="0"/>
              <a:t>核</a:t>
            </a:r>
            <a:r>
              <a:rPr lang="en-US" altLang="zh-CN" sz="1000" b="1" dirty="0"/>
              <a:t>(xadc_wiz_0.v)</a:t>
            </a:r>
            <a:endParaRPr lang="zh-CN" altLang="en-US" sz="1000" b="1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34E1386-B02A-4A1E-8E0F-12F8E7C1FF93}"/>
              </a:ext>
            </a:extLst>
          </p:cNvPr>
          <p:cNvSpPr/>
          <p:nvPr/>
        </p:nvSpPr>
        <p:spPr>
          <a:xfrm>
            <a:off x="3006445" y="5524367"/>
            <a:ext cx="1013073" cy="483336"/>
          </a:xfrm>
          <a:prstGeom prst="rect">
            <a:avLst/>
          </a:prstGeom>
          <a:gradFill>
            <a:gsLst>
              <a:gs pos="0">
                <a:srgbClr val="E30613">
                  <a:alpha val="79000"/>
                </a:srgbClr>
              </a:gs>
              <a:gs pos="100000">
                <a:srgbClr val="81040B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/>
              <a:t>输出转换模块</a:t>
            </a:r>
            <a:r>
              <a:rPr lang="en-US" altLang="zh-CN" sz="1000" b="1" dirty="0"/>
              <a:t>(</a:t>
            </a:r>
            <a:r>
              <a:rPr lang="en-US" altLang="zh-CN" sz="1000" b="1" dirty="0" err="1"/>
              <a:t>convert.v</a:t>
            </a:r>
            <a:r>
              <a:rPr lang="en-US" altLang="zh-CN" sz="1000" b="1" dirty="0"/>
              <a:t>)</a:t>
            </a:r>
            <a:endParaRPr lang="zh-CN" altLang="en-US" sz="1000" b="1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EDB6AB9-7264-4314-B918-028F323C0354}"/>
              </a:ext>
            </a:extLst>
          </p:cNvPr>
          <p:cNvSpPr/>
          <p:nvPr/>
        </p:nvSpPr>
        <p:spPr>
          <a:xfrm>
            <a:off x="4160628" y="5524367"/>
            <a:ext cx="1157330" cy="483336"/>
          </a:xfrm>
          <a:prstGeom prst="rect">
            <a:avLst/>
          </a:prstGeom>
          <a:gradFill>
            <a:gsLst>
              <a:gs pos="0">
                <a:srgbClr val="E30613">
                  <a:alpha val="79000"/>
                </a:srgbClr>
              </a:gs>
              <a:gs pos="100000">
                <a:srgbClr val="81040B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/>
              <a:t>单个数码管模块</a:t>
            </a:r>
            <a:r>
              <a:rPr lang="en-US" altLang="zh-CN" sz="1000" b="1" dirty="0"/>
              <a:t>(show_4_digit.v)</a:t>
            </a:r>
            <a:endParaRPr lang="zh-CN" altLang="en-US" sz="1000" b="1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BB31CF0-3F71-4F61-8805-A65EFE6CEC95}"/>
              </a:ext>
            </a:extLst>
          </p:cNvPr>
          <p:cNvSpPr/>
          <p:nvPr/>
        </p:nvSpPr>
        <p:spPr>
          <a:xfrm>
            <a:off x="5659685" y="5495799"/>
            <a:ext cx="1387853" cy="483336"/>
          </a:xfrm>
          <a:prstGeom prst="rect">
            <a:avLst/>
          </a:prstGeom>
          <a:gradFill>
            <a:gsLst>
              <a:gs pos="0">
                <a:srgbClr val="E30613">
                  <a:alpha val="79000"/>
                </a:srgbClr>
              </a:gs>
              <a:gs pos="100000">
                <a:srgbClr val="81040B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/>
              <a:t>正弦波</a:t>
            </a:r>
            <a:r>
              <a:rPr lang="en-US" altLang="zh-CN" sz="1000" b="1" dirty="0"/>
              <a:t>ROM</a:t>
            </a:r>
            <a:r>
              <a:rPr lang="zh-CN" altLang="en-US" sz="1000" b="1" dirty="0"/>
              <a:t>的</a:t>
            </a:r>
            <a:r>
              <a:rPr lang="en-US" altLang="zh-CN" sz="1000" b="1" dirty="0"/>
              <a:t>IP</a:t>
            </a:r>
            <a:r>
              <a:rPr lang="zh-CN" altLang="en-US" sz="1000" b="1" dirty="0"/>
              <a:t>核</a:t>
            </a:r>
            <a:r>
              <a:rPr lang="en-US" altLang="zh-CN" sz="1000" b="1" dirty="0"/>
              <a:t> (dist_men_gen_0.v)</a:t>
            </a:r>
            <a:endParaRPr lang="zh-CN" altLang="en-US" sz="1000" b="1" dirty="0"/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7CD41F98-048D-48F3-B1EC-C476F2B4BAC1}"/>
              </a:ext>
            </a:extLst>
          </p:cNvPr>
          <p:cNvCxnSpPr>
            <a:cxnSpLocks/>
            <a:stCxn id="13" idx="2"/>
            <a:endCxn id="16" idx="0"/>
          </p:cNvCxnSpPr>
          <p:nvPr/>
        </p:nvCxnSpPr>
        <p:spPr>
          <a:xfrm flipH="1">
            <a:off x="1808615" y="1864311"/>
            <a:ext cx="2549581" cy="296147"/>
          </a:xfrm>
          <a:prstGeom prst="line">
            <a:avLst/>
          </a:prstGeom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B35D00F3-CC56-4838-908D-F0DF0B69AFD0}"/>
              </a:ext>
            </a:extLst>
          </p:cNvPr>
          <p:cNvCxnSpPr>
            <a:cxnSpLocks/>
            <a:stCxn id="13" idx="2"/>
            <a:endCxn id="17" idx="0"/>
          </p:cNvCxnSpPr>
          <p:nvPr/>
        </p:nvCxnSpPr>
        <p:spPr>
          <a:xfrm>
            <a:off x="4358196" y="1864311"/>
            <a:ext cx="2020777" cy="285018"/>
          </a:xfrm>
          <a:prstGeom prst="line">
            <a:avLst/>
          </a:prstGeom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606933C6-19AF-4409-AAA5-F7C8F2EFA0F0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 flipH="1">
            <a:off x="1033348" y="2988591"/>
            <a:ext cx="775267" cy="302810"/>
          </a:xfrm>
          <a:prstGeom prst="line">
            <a:avLst/>
          </a:prstGeom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30016AE3-936B-45B9-B586-0869C15EC1E9}"/>
              </a:ext>
            </a:extLst>
          </p:cNvPr>
          <p:cNvCxnSpPr>
            <a:cxnSpLocks/>
            <a:stCxn id="16" idx="2"/>
            <a:endCxn id="19" idx="0"/>
          </p:cNvCxnSpPr>
          <p:nvPr/>
        </p:nvCxnSpPr>
        <p:spPr>
          <a:xfrm>
            <a:off x="1808615" y="2988591"/>
            <a:ext cx="785144" cy="309473"/>
          </a:xfrm>
          <a:prstGeom prst="line">
            <a:avLst/>
          </a:prstGeom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6DA5EC1F-C867-411D-ACDA-4429BA3244C2}"/>
              </a:ext>
            </a:extLst>
          </p:cNvPr>
          <p:cNvCxnSpPr>
            <a:cxnSpLocks/>
            <a:stCxn id="17" idx="2"/>
            <a:endCxn id="20" idx="0"/>
          </p:cNvCxnSpPr>
          <p:nvPr/>
        </p:nvCxnSpPr>
        <p:spPr>
          <a:xfrm flipH="1">
            <a:off x="4384531" y="2977461"/>
            <a:ext cx="1994442" cy="320603"/>
          </a:xfrm>
          <a:prstGeom prst="line">
            <a:avLst/>
          </a:prstGeom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5294B98C-1067-4763-9432-021C407CB8C4}"/>
              </a:ext>
            </a:extLst>
          </p:cNvPr>
          <p:cNvCxnSpPr>
            <a:cxnSpLocks/>
            <a:stCxn id="17" idx="2"/>
            <a:endCxn id="21" idx="0"/>
          </p:cNvCxnSpPr>
          <p:nvPr/>
        </p:nvCxnSpPr>
        <p:spPr>
          <a:xfrm>
            <a:off x="6378973" y="2977461"/>
            <a:ext cx="1" cy="320603"/>
          </a:xfrm>
          <a:prstGeom prst="line">
            <a:avLst/>
          </a:prstGeom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B0DDF33D-534C-4E3E-9600-8DBBE1342698}"/>
              </a:ext>
            </a:extLst>
          </p:cNvPr>
          <p:cNvCxnSpPr>
            <a:cxnSpLocks/>
            <a:stCxn id="17" idx="2"/>
            <a:endCxn id="22" idx="0"/>
          </p:cNvCxnSpPr>
          <p:nvPr/>
        </p:nvCxnSpPr>
        <p:spPr>
          <a:xfrm>
            <a:off x="6378973" y="2977461"/>
            <a:ext cx="1864267" cy="320604"/>
          </a:xfrm>
          <a:prstGeom prst="line">
            <a:avLst/>
          </a:prstGeom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5A4B5270-5E7F-47F4-9A74-069E1BF62A41}"/>
              </a:ext>
            </a:extLst>
          </p:cNvPr>
          <p:cNvCxnSpPr>
            <a:cxnSpLocks/>
            <a:stCxn id="22" idx="2"/>
            <a:endCxn id="26" idx="0"/>
          </p:cNvCxnSpPr>
          <p:nvPr/>
        </p:nvCxnSpPr>
        <p:spPr>
          <a:xfrm>
            <a:off x="8243240" y="4119535"/>
            <a:ext cx="307894" cy="455185"/>
          </a:xfrm>
          <a:prstGeom prst="line">
            <a:avLst/>
          </a:prstGeom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8418922F-F517-47E4-8A56-B2DC1BA4C462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 flipH="1">
            <a:off x="7408553" y="4119535"/>
            <a:ext cx="834687" cy="446793"/>
          </a:xfrm>
          <a:prstGeom prst="line">
            <a:avLst/>
          </a:prstGeom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E3CADA70-A7F1-4B5A-B16E-5B225683D197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 flipH="1">
            <a:off x="6353612" y="4119535"/>
            <a:ext cx="1889628" cy="455185"/>
          </a:xfrm>
          <a:prstGeom prst="line">
            <a:avLst/>
          </a:prstGeom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5B4A18E1-C592-4ADC-A8CD-C69F0ADC2140}"/>
              </a:ext>
            </a:extLst>
          </p:cNvPr>
          <p:cNvCxnSpPr>
            <a:cxnSpLocks/>
            <a:stCxn id="22" idx="2"/>
            <a:endCxn id="25" idx="0"/>
          </p:cNvCxnSpPr>
          <p:nvPr/>
        </p:nvCxnSpPr>
        <p:spPr>
          <a:xfrm flipH="1">
            <a:off x="5289709" y="4119535"/>
            <a:ext cx="2953531" cy="455185"/>
          </a:xfrm>
          <a:prstGeom prst="line">
            <a:avLst/>
          </a:prstGeom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8D517E15-B06E-43E5-BA4D-3D5B029DE348}"/>
              </a:ext>
            </a:extLst>
          </p:cNvPr>
          <p:cNvCxnSpPr>
            <a:cxnSpLocks/>
            <a:stCxn id="20" idx="2"/>
            <a:endCxn id="28" idx="0"/>
          </p:cNvCxnSpPr>
          <p:nvPr/>
        </p:nvCxnSpPr>
        <p:spPr>
          <a:xfrm flipH="1">
            <a:off x="670306" y="4126198"/>
            <a:ext cx="3714225" cy="435196"/>
          </a:xfrm>
          <a:prstGeom prst="line">
            <a:avLst/>
          </a:prstGeom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10833F9E-6644-4C62-89C7-6ED1F6886719}"/>
              </a:ext>
            </a:extLst>
          </p:cNvPr>
          <p:cNvCxnSpPr>
            <a:cxnSpLocks/>
            <a:stCxn id="20" idx="2"/>
            <a:endCxn id="29" idx="0"/>
          </p:cNvCxnSpPr>
          <p:nvPr/>
        </p:nvCxnSpPr>
        <p:spPr>
          <a:xfrm flipH="1">
            <a:off x="1855411" y="4126198"/>
            <a:ext cx="2529120" cy="435196"/>
          </a:xfrm>
          <a:prstGeom prst="line">
            <a:avLst/>
          </a:prstGeom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DD11CF13-50A3-4282-BD35-C3E0668F1544}"/>
              </a:ext>
            </a:extLst>
          </p:cNvPr>
          <p:cNvCxnSpPr>
            <a:cxnSpLocks/>
            <a:stCxn id="20" idx="2"/>
            <a:endCxn id="30" idx="0"/>
          </p:cNvCxnSpPr>
          <p:nvPr/>
        </p:nvCxnSpPr>
        <p:spPr>
          <a:xfrm flipH="1">
            <a:off x="2937465" y="4126198"/>
            <a:ext cx="1447066" cy="435196"/>
          </a:xfrm>
          <a:prstGeom prst="line">
            <a:avLst/>
          </a:prstGeom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5F50D29D-EDAF-4E23-AD8E-D9A690C6AA40}"/>
              </a:ext>
            </a:extLst>
          </p:cNvPr>
          <p:cNvCxnSpPr>
            <a:cxnSpLocks/>
            <a:stCxn id="20" idx="2"/>
            <a:endCxn id="31" idx="0"/>
          </p:cNvCxnSpPr>
          <p:nvPr/>
        </p:nvCxnSpPr>
        <p:spPr>
          <a:xfrm flipH="1">
            <a:off x="4091647" y="4126198"/>
            <a:ext cx="292884" cy="435196"/>
          </a:xfrm>
          <a:prstGeom prst="line">
            <a:avLst/>
          </a:prstGeom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1459473E-78C5-4597-9DA5-80C8F9D9F450}"/>
              </a:ext>
            </a:extLst>
          </p:cNvPr>
          <p:cNvCxnSpPr>
            <a:cxnSpLocks/>
            <a:stCxn id="28" idx="2"/>
            <a:endCxn id="32" idx="0"/>
          </p:cNvCxnSpPr>
          <p:nvPr/>
        </p:nvCxnSpPr>
        <p:spPr>
          <a:xfrm flipH="1">
            <a:off x="662018" y="5044730"/>
            <a:ext cx="8288" cy="451069"/>
          </a:xfrm>
          <a:prstGeom prst="line">
            <a:avLst/>
          </a:prstGeom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EC873524-61C0-49BA-849B-38E29A1D468A}"/>
              </a:ext>
            </a:extLst>
          </p:cNvPr>
          <p:cNvCxnSpPr>
            <a:cxnSpLocks/>
            <a:stCxn id="31" idx="2"/>
            <a:endCxn id="33" idx="0"/>
          </p:cNvCxnSpPr>
          <p:nvPr/>
        </p:nvCxnSpPr>
        <p:spPr>
          <a:xfrm flipH="1">
            <a:off x="3512982" y="5044730"/>
            <a:ext cx="578665" cy="479637"/>
          </a:xfrm>
          <a:prstGeom prst="line">
            <a:avLst/>
          </a:prstGeom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CABF974B-D61B-44E5-9AE0-93E3993C3445}"/>
              </a:ext>
            </a:extLst>
          </p:cNvPr>
          <p:cNvCxnSpPr>
            <a:cxnSpLocks/>
            <a:stCxn id="31" idx="2"/>
            <a:endCxn id="34" idx="0"/>
          </p:cNvCxnSpPr>
          <p:nvPr/>
        </p:nvCxnSpPr>
        <p:spPr>
          <a:xfrm>
            <a:off x="4091647" y="5044730"/>
            <a:ext cx="647646" cy="479637"/>
          </a:xfrm>
          <a:prstGeom prst="line">
            <a:avLst/>
          </a:prstGeom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D2B432AE-055B-40DA-8488-604F3FE9FEEA}"/>
              </a:ext>
            </a:extLst>
          </p:cNvPr>
          <p:cNvCxnSpPr>
            <a:cxnSpLocks/>
            <a:stCxn id="24" idx="2"/>
            <a:endCxn id="35" idx="0"/>
          </p:cNvCxnSpPr>
          <p:nvPr/>
        </p:nvCxnSpPr>
        <p:spPr>
          <a:xfrm>
            <a:off x="6353612" y="5058057"/>
            <a:ext cx="0" cy="437742"/>
          </a:xfrm>
          <a:prstGeom prst="line">
            <a:avLst/>
          </a:prstGeom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4" name="文本框 103" descr="e7d195523061f1c0deeec63e560781cfd59afb0ea006f2a87ABB68BF51EA6619813959095094C18C62A12F549504892A4AAA8C1554C6663626E05CA27F281A14E6983772AFC3FB97135759321DEA3D709AACD122C08E6ED1C77BAD4A88EF4CD28A80260D8F97957F436F83C1F553EF0169027D0DBFA7A77088E1513DBDFC101C4B4DFF310B01A5021663E46B6BC2AAB5">
            <a:extLst>
              <a:ext uri="{FF2B5EF4-FFF2-40B4-BE49-F238E27FC236}">
                <a16:creationId xmlns:a16="http://schemas.microsoft.com/office/drawing/2014/main" id="{513B2A37-AAA5-4D06-BFA5-9F9BD9E914C8}"/>
              </a:ext>
            </a:extLst>
          </p:cNvPr>
          <p:cNvSpPr txBox="1"/>
          <p:nvPr/>
        </p:nvSpPr>
        <p:spPr>
          <a:xfrm>
            <a:off x="6803538" y="1011429"/>
            <a:ext cx="18613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>
              <a:defRPr/>
            </a:pPr>
            <a:r>
              <a:rPr lang="zh-CN" altLang="en-US" sz="2800" b="1" dirty="0">
                <a:solidFill>
                  <a:schemeClr val="tx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Kartika" panose="02020503030404060203" pitchFamily="18" charset="0"/>
              </a:rPr>
              <a:t>共计</a:t>
            </a:r>
            <a:r>
              <a:rPr lang="en-US" altLang="zh-CN" sz="2800" b="1" dirty="0">
                <a:solidFill>
                  <a:schemeClr val="tx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Kartika" panose="02020503030404060203" pitchFamily="18" charset="0"/>
              </a:rPr>
              <a:t>:4</a:t>
            </a:r>
            <a:r>
              <a:rPr lang="zh-CN" altLang="en-US" sz="2800" b="1" dirty="0">
                <a:solidFill>
                  <a:schemeClr val="tx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Kartika" panose="02020503030404060203" pitchFamily="18" charset="0"/>
              </a:rPr>
              <a:t>层</a:t>
            </a:r>
            <a:endParaRPr lang="en-US" altLang="zh-CN" sz="2800" b="1" dirty="0">
              <a:solidFill>
                <a:schemeClr val="tx2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Kartika" panose="02020503030404060203" pitchFamily="18" charset="0"/>
            </a:endParaRPr>
          </a:p>
          <a:p>
            <a:pPr algn="ctr" defTabSz="1218565">
              <a:defRPr/>
            </a:pPr>
            <a:r>
              <a:rPr lang="en-US" altLang="zh-CN" sz="2800" b="1" dirty="0">
                <a:solidFill>
                  <a:schemeClr val="tx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Kartika" panose="02020503030404060203" pitchFamily="18" charset="0"/>
              </a:rPr>
              <a:t>20</a:t>
            </a:r>
            <a:r>
              <a:rPr lang="zh-CN" altLang="en-US" sz="2800" b="1" dirty="0">
                <a:solidFill>
                  <a:schemeClr val="tx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Kartika" panose="02020503030404060203" pitchFamily="18" charset="0"/>
              </a:rPr>
              <a:t>模块</a:t>
            </a:r>
          </a:p>
        </p:txBody>
      </p:sp>
    </p:spTree>
    <p:extLst>
      <p:ext uri="{BB962C8B-B14F-4D97-AF65-F5344CB8AC3E}">
        <p14:creationId xmlns:p14="http://schemas.microsoft.com/office/powerpoint/2010/main" val="2358061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54206" y="299118"/>
            <a:ext cx="8435588" cy="589667"/>
            <a:chOff x="533603" y="299118"/>
            <a:chExt cx="8435588" cy="589667"/>
          </a:xfrm>
        </p:grpSpPr>
        <p:pic>
          <p:nvPicPr>
            <p:cNvPr id="2" name="Picture 2" descr="E:\Hou\信息化建设\web\校徽相关\xjtu.pn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463" t="-1001" r="53439" b="77637"/>
            <a:stretch/>
          </p:blipFill>
          <p:spPr bwMode="auto">
            <a:xfrm>
              <a:off x="6858003" y="299118"/>
              <a:ext cx="2111188" cy="5896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" name="组合 2"/>
            <p:cNvGrpSpPr/>
            <p:nvPr/>
          </p:nvGrpSpPr>
          <p:grpSpPr>
            <a:xfrm>
              <a:off x="533603" y="473621"/>
              <a:ext cx="435327" cy="405245"/>
              <a:chOff x="290945" y="346364"/>
              <a:chExt cx="859090" cy="799725"/>
            </a:xfrm>
          </p:grpSpPr>
          <p:sp>
            <p:nvSpPr>
              <p:cNvPr id="4" name="圆角矩形 3"/>
              <p:cNvSpPr>
                <a:spLocks noChangeAspect="1"/>
              </p:cNvSpPr>
              <p:nvPr/>
            </p:nvSpPr>
            <p:spPr>
              <a:xfrm>
                <a:off x="290945" y="346364"/>
                <a:ext cx="648000" cy="648000"/>
              </a:xfrm>
              <a:prstGeom prst="roundRect">
                <a:avLst/>
              </a:prstGeom>
              <a:noFill/>
              <a:ln w="539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 useBgFill="1">
            <p:nvSpPr>
              <p:cNvPr id="5" name="圆角矩形 4"/>
              <p:cNvSpPr>
                <a:spLocks noChangeAspect="1"/>
              </p:cNvSpPr>
              <p:nvPr/>
            </p:nvSpPr>
            <p:spPr>
              <a:xfrm>
                <a:off x="528654" y="526125"/>
                <a:ext cx="540000" cy="540000"/>
              </a:xfrm>
              <a:prstGeom prst="roundRect">
                <a:avLst/>
              </a:prstGeom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6" name="圆角矩形 5"/>
              <p:cNvSpPr>
                <a:spLocks noChangeAspect="1"/>
              </p:cNvSpPr>
              <p:nvPr/>
            </p:nvSpPr>
            <p:spPr>
              <a:xfrm>
                <a:off x="610035" y="606089"/>
                <a:ext cx="540000" cy="540000"/>
              </a:xfrm>
              <a:prstGeom prst="roundRect">
                <a:avLst/>
              </a:prstGeom>
              <a:solidFill>
                <a:srgbClr val="C00000"/>
              </a:solidFill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7" name="直接连接符 6"/>
            <p:cNvCxnSpPr/>
            <p:nvPr/>
          </p:nvCxnSpPr>
          <p:spPr>
            <a:xfrm>
              <a:off x="1227882" y="878865"/>
              <a:ext cx="5436000" cy="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26"/>
          <p:cNvSpPr txBox="1"/>
          <p:nvPr/>
        </p:nvSpPr>
        <p:spPr>
          <a:xfrm>
            <a:off x="941375" y="272323"/>
            <a:ext cx="26500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itchFamily="34" charset="-122"/>
                <a:ea typeface="微软雅黑" pitchFamily="34" charset="-122"/>
              </a:rPr>
              <a:t>二、状态转换</a:t>
            </a:r>
          </a:p>
        </p:txBody>
      </p:sp>
      <p:sp>
        <p:nvSpPr>
          <p:cNvPr id="104" name="文本框 103" descr="e7d195523061f1c0deeec63e560781cfd59afb0ea006f2a87ABB68BF51EA6619813959095094C18C62A12F549504892A4AAA8C1554C6663626E05CA27F281A14E6983772AFC3FB97135759321DEA3D709AACD122C08E6ED1C77BAD4A88EF4CD28A80260D8F97957F436F83C1F553EF0169027D0DBFA7A77088E1513DBDFC101C4B4DFF310B01A5021663E46B6BC2AAB5">
            <a:extLst>
              <a:ext uri="{FF2B5EF4-FFF2-40B4-BE49-F238E27FC236}">
                <a16:creationId xmlns:a16="http://schemas.microsoft.com/office/drawing/2014/main" id="{513B2A37-AAA5-4D06-BFA5-9F9BD9E914C8}"/>
              </a:ext>
            </a:extLst>
          </p:cNvPr>
          <p:cNvSpPr txBox="1"/>
          <p:nvPr/>
        </p:nvSpPr>
        <p:spPr>
          <a:xfrm>
            <a:off x="4885361" y="1084939"/>
            <a:ext cx="2675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>
              <a:defRPr/>
            </a:pPr>
            <a:r>
              <a:rPr lang="zh-CN" altLang="en-US" sz="2800" b="1" dirty="0">
                <a:solidFill>
                  <a:schemeClr val="tx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Kartika" panose="02020503030404060203" pitchFamily="18" charset="0"/>
              </a:rPr>
              <a:t>共计</a:t>
            </a:r>
            <a:r>
              <a:rPr lang="en-US" altLang="zh-CN" sz="2800" b="1" dirty="0">
                <a:solidFill>
                  <a:schemeClr val="tx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Kartika" panose="02020503030404060203" pitchFamily="18" charset="0"/>
              </a:rPr>
              <a:t>:13</a:t>
            </a:r>
            <a:r>
              <a:rPr lang="zh-CN" altLang="en-US" sz="2800" b="1" dirty="0">
                <a:solidFill>
                  <a:schemeClr val="tx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Kartika" panose="02020503030404060203" pitchFamily="18" charset="0"/>
              </a:rPr>
              <a:t>种状态</a:t>
            </a:r>
            <a:endParaRPr lang="en-US" altLang="zh-CN" sz="2800" b="1" dirty="0">
              <a:solidFill>
                <a:schemeClr val="tx2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Kartika" panose="02020503030404060203" pitchFamily="18" charset="0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38B73FCD-383C-4A32-8910-B82ED26EEC3D}"/>
              </a:ext>
            </a:extLst>
          </p:cNvPr>
          <p:cNvGrpSpPr/>
          <p:nvPr/>
        </p:nvGrpSpPr>
        <p:grpSpPr>
          <a:xfrm>
            <a:off x="1206481" y="3227031"/>
            <a:ext cx="1058333" cy="1058333"/>
            <a:chOff x="1160717" y="3215277"/>
            <a:chExt cx="1058333" cy="1058333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18FF534-D8D8-43FD-82AC-B60772C4A545}"/>
                </a:ext>
              </a:extLst>
            </p:cNvPr>
            <p:cNvSpPr/>
            <p:nvPr/>
          </p:nvSpPr>
          <p:spPr>
            <a:xfrm>
              <a:off x="1160717" y="3215277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8B893E04-7645-4647-92FF-5A0293BEEA40}"/>
                </a:ext>
              </a:extLst>
            </p:cNvPr>
            <p:cNvSpPr txBox="1"/>
            <p:nvPr/>
          </p:nvSpPr>
          <p:spPr>
            <a:xfrm>
              <a:off x="1160718" y="3543299"/>
              <a:ext cx="10583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chemeClr val="lt1"/>
                  </a:solidFill>
                </a:rPr>
                <a:t>SQUARE</a:t>
              </a:r>
              <a:endParaRPr lang="zh-CN" altLang="en-US" sz="2000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31086941-08F0-4956-8AAC-99396847D056}"/>
              </a:ext>
            </a:extLst>
          </p:cNvPr>
          <p:cNvGrpSpPr/>
          <p:nvPr/>
        </p:nvGrpSpPr>
        <p:grpSpPr>
          <a:xfrm>
            <a:off x="4064936" y="3227031"/>
            <a:ext cx="1058333" cy="1058333"/>
            <a:chOff x="1017567" y="3215277"/>
            <a:chExt cx="1058333" cy="1058333"/>
          </a:xfrm>
        </p:grpSpPr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332F738E-333E-4FDF-B9F5-A3884F1F5009}"/>
                </a:ext>
              </a:extLst>
            </p:cNvPr>
            <p:cNvSpPr/>
            <p:nvPr/>
          </p:nvSpPr>
          <p:spPr>
            <a:xfrm>
              <a:off x="1017567" y="3215277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6EE2CFE1-7FF5-4670-AF30-8971CAA04AD2}"/>
                </a:ext>
              </a:extLst>
            </p:cNvPr>
            <p:cNvSpPr txBox="1"/>
            <p:nvPr/>
          </p:nvSpPr>
          <p:spPr>
            <a:xfrm>
              <a:off x="1228450" y="3543299"/>
              <a:ext cx="66531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chemeClr val="lt1"/>
                  </a:solidFill>
                </a:rPr>
                <a:t>SINE</a:t>
              </a:r>
              <a:endParaRPr lang="zh-CN" altLang="en-US" sz="2000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59C7D62D-B3F3-4382-A1AF-B26EFB8B53DF}"/>
              </a:ext>
            </a:extLst>
          </p:cNvPr>
          <p:cNvGrpSpPr/>
          <p:nvPr/>
        </p:nvGrpSpPr>
        <p:grpSpPr>
          <a:xfrm>
            <a:off x="7150934" y="3227031"/>
            <a:ext cx="1274719" cy="1058333"/>
            <a:chOff x="1245110" y="3216367"/>
            <a:chExt cx="1274719" cy="1058333"/>
          </a:xfrm>
        </p:grpSpPr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B2B70C5C-D70A-4B5C-B7B1-6B47D1B843D9}"/>
                </a:ext>
              </a:extLst>
            </p:cNvPr>
            <p:cNvSpPr/>
            <p:nvPr/>
          </p:nvSpPr>
          <p:spPr>
            <a:xfrm>
              <a:off x="1269725" y="3216367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E961546F-78B7-42FB-A533-C2DF132C300F}"/>
                </a:ext>
              </a:extLst>
            </p:cNvPr>
            <p:cNvSpPr txBox="1"/>
            <p:nvPr/>
          </p:nvSpPr>
          <p:spPr>
            <a:xfrm>
              <a:off x="1245110" y="3543299"/>
              <a:ext cx="12747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lt1"/>
                  </a:solidFill>
                </a:rPr>
                <a:t>TRIANGLE</a:t>
              </a:r>
              <a:endParaRPr lang="zh-CN" altLang="en-US" b="1" dirty="0">
                <a:solidFill>
                  <a:schemeClr val="lt1"/>
                </a:solidFill>
              </a:endParaRPr>
            </a:p>
          </p:txBody>
        </p:sp>
      </p:grp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FB8F0E49-3FF2-499C-BC23-8EA1C3CF099A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2264814" y="3756198"/>
            <a:ext cx="1800122" cy="0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13C25070-A199-4BF0-A149-F047C37AAE84}"/>
              </a:ext>
            </a:extLst>
          </p:cNvPr>
          <p:cNvCxnSpPr>
            <a:cxnSpLocks/>
            <a:stCxn id="56" idx="6"/>
            <a:endCxn id="59" idx="2"/>
          </p:cNvCxnSpPr>
          <p:nvPr/>
        </p:nvCxnSpPr>
        <p:spPr>
          <a:xfrm>
            <a:off x="5123269" y="3756198"/>
            <a:ext cx="2052280" cy="0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8376336B-907C-44C3-93F7-09304E7C6554}"/>
              </a:ext>
            </a:extLst>
          </p:cNvPr>
          <p:cNvGrpSpPr/>
          <p:nvPr/>
        </p:nvGrpSpPr>
        <p:grpSpPr>
          <a:xfrm>
            <a:off x="1306186" y="1399723"/>
            <a:ext cx="958627" cy="858920"/>
            <a:chOff x="1178806" y="3249990"/>
            <a:chExt cx="1181189" cy="1058333"/>
          </a:xfrm>
        </p:grpSpPr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A135ED53-974C-466C-9D10-B09155835ECF}"/>
                </a:ext>
              </a:extLst>
            </p:cNvPr>
            <p:cNvSpPr/>
            <p:nvPr/>
          </p:nvSpPr>
          <p:spPr>
            <a:xfrm>
              <a:off x="1178806" y="3249990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53967CEF-8AB8-4C1D-A0D7-F79DF268FA6F}"/>
                </a:ext>
              </a:extLst>
            </p:cNvPr>
            <p:cNvSpPr txBox="1"/>
            <p:nvPr/>
          </p:nvSpPr>
          <p:spPr>
            <a:xfrm>
              <a:off x="1178806" y="3496258"/>
              <a:ext cx="1181189" cy="51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SQUARE_</a:t>
              </a:r>
            </a:p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FREQUENCE</a:t>
              </a:r>
              <a:endParaRPr lang="zh-CN" altLang="en-US" sz="1050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24C54FA0-DF28-43FF-8BA6-9D18038621F0}"/>
              </a:ext>
            </a:extLst>
          </p:cNvPr>
          <p:cNvGrpSpPr/>
          <p:nvPr/>
        </p:nvGrpSpPr>
        <p:grpSpPr>
          <a:xfrm>
            <a:off x="247852" y="2222887"/>
            <a:ext cx="958627" cy="858920"/>
            <a:chOff x="1178806" y="3249990"/>
            <a:chExt cx="1181189" cy="1058333"/>
          </a:xfrm>
        </p:grpSpPr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D198EDEF-3E06-4B86-B92E-C8ECA5F8E03B}"/>
                </a:ext>
              </a:extLst>
            </p:cNvPr>
            <p:cNvSpPr/>
            <p:nvPr/>
          </p:nvSpPr>
          <p:spPr>
            <a:xfrm>
              <a:off x="1178806" y="3249990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B72A3743-8E8A-454C-9A5D-8C5F305C876D}"/>
                </a:ext>
              </a:extLst>
            </p:cNvPr>
            <p:cNvSpPr txBox="1"/>
            <p:nvPr/>
          </p:nvSpPr>
          <p:spPr>
            <a:xfrm>
              <a:off x="1178806" y="3496258"/>
              <a:ext cx="1181189" cy="51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SQUARE_</a:t>
              </a:r>
            </a:p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AMPLITUDE</a:t>
              </a:r>
              <a:endParaRPr lang="zh-CN" altLang="en-US" sz="1050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52D229FB-0EBA-4E75-8D34-CB7017E63AC5}"/>
              </a:ext>
            </a:extLst>
          </p:cNvPr>
          <p:cNvGrpSpPr/>
          <p:nvPr/>
        </p:nvGrpSpPr>
        <p:grpSpPr>
          <a:xfrm>
            <a:off x="247851" y="4370384"/>
            <a:ext cx="958627" cy="858920"/>
            <a:chOff x="1178806" y="3249990"/>
            <a:chExt cx="1181189" cy="1058333"/>
          </a:xfrm>
        </p:grpSpPr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05FDC982-731F-4BF7-A540-DF377C0F94E3}"/>
                </a:ext>
              </a:extLst>
            </p:cNvPr>
            <p:cNvSpPr/>
            <p:nvPr/>
          </p:nvSpPr>
          <p:spPr>
            <a:xfrm>
              <a:off x="1178806" y="3249990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FF5BD77F-8485-4C75-A119-63619ACDA2EF}"/>
                </a:ext>
              </a:extLst>
            </p:cNvPr>
            <p:cNvSpPr txBox="1"/>
            <p:nvPr/>
          </p:nvSpPr>
          <p:spPr>
            <a:xfrm>
              <a:off x="1178806" y="3496258"/>
              <a:ext cx="1181189" cy="51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SQUARE_</a:t>
              </a:r>
            </a:p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OFFSET</a:t>
              </a:r>
              <a:endParaRPr lang="zh-CN" altLang="en-US" sz="1050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13C2980E-23E8-42AE-A426-7E08273293DF}"/>
              </a:ext>
            </a:extLst>
          </p:cNvPr>
          <p:cNvGrpSpPr/>
          <p:nvPr/>
        </p:nvGrpSpPr>
        <p:grpSpPr>
          <a:xfrm>
            <a:off x="1304285" y="5473899"/>
            <a:ext cx="958627" cy="858920"/>
            <a:chOff x="1178806" y="3249990"/>
            <a:chExt cx="1181189" cy="1058333"/>
          </a:xfrm>
        </p:grpSpPr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32E149AB-84A5-468B-B973-2C3534EB8552}"/>
                </a:ext>
              </a:extLst>
            </p:cNvPr>
            <p:cNvSpPr/>
            <p:nvPr/>
          </p:nvSpPr>
          <p:spPr>
            <a:xfrm>
              <a:off x="1178806" y="3249990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83592AA1-C1F3-4311-B1B9-555A81A6D65B}"/>
                </a:ext>
              </a:extLst>
            </p:cNvPr>
            <p:cNvSpPr txBox="1"/>
            <p:nvPr/>
          </p:nvSpPr>
          <p:spPr>
            <a:xfrm>
              <a:off x="1178806" y="3496258"/>
              <a:ext cx="1181189" cy="51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SQUARE_</a:t>
              </a:r>
            </a:p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DUTY</a:t>
              </a:r>
              <a:endParaRPr lang="zh-CN" altLang="en-US" sz="1050" b="1" dirty="0">
                <a:solidFill>
                  <a:schemeClr val="lt1"/>
                </a:solidFill>
              </a:endParaRPr>
            </a:p>
          </p:txBody>
        </p:sp>
      </p:grp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0ECAECF0-2858-4E01-AAD9-29E1211E213F}"/>
              </a:ext>
            </a:extLst>
          </p:cNvPr>
          <p:cNvCxnSpPr>
            <a:cxnSpLocks/>
            <a:stCxn id="8" idx="0"/>
            <a:endCxn id="74" idx="4"/>
          </p:cNvCxnSpPr>
          <p:nvPr/>
        </p:nvCxnSpPr>
        <p:spPr>
          <a:xfrm flipH="1" flipV="1">
            <a:off x="1735646" y="2258643"/>
            <a:ext cx="2" cy="968388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F7A0E4C4-3295-49E7-8A24-D278782B3E71}"/>
              </a:ext>
            </a:extLst>
          </p:cNvPr>
          <p:cNvCxnSpPr>
            <a:cxnSpLocks/>
          </p:cNvCxnSpPr>
          <p:nvPr/>
        </p:nvCxnSpPr>
        <p:spPr>
          <a:xfrm>
            <a:off x="1880918" y="2222887"/>
            <a:ext cx="0" cy="1047280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08F96C9A-71E5-4A70-A89E-FDBC52D9BA9D}"/>
              </a:ext>
            </a:extLst>
          </p:cNvPr>
          <p:cNvCxnSpPr>
            <a:cxnSpLocks/>
            <a:stCxn id="79" idx="5"/>
            <a:endCxn id="8" idx="1"/>
          </p:cNvCxnSpPr>
          <p:nvPr/>
        </p:nvCxnSpPr>
        <p:spPr>
          <a:xfrm>
            <a:off x="980986" y="2956021"/>
            <a:ext cx="380484" cy="425999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7C60DCD4-15BD-4710-93D2-4DE3CF075B6C}"/>
              </a:ext>
            </a:extLst>
          </p:cNvPr>
          <p:cNvCxnSpPr>
            <a:cxnSpLocks/>
          </p:cNvCxnSpPr>
          <p:nvPr/>
        </p:nvCxnSpPr>
        <p:spPr>
          <a:xfrm flipH="1" flipV="1">
            <a:off x="789215" y="3038117"/>
            <a:ext cx="455250" cy="515846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45309BB0-B364-45E7-A071-F51E3EA3911F}"/>
              </a:ext>
            </a:extLst>
          </p:cNvPr>
          <p:cNvCxnSpPr>
            <a:cxnSpLocks/>
            <a:stCxn id="8" idx="3"/>
            <a:endCxn id="83" idx="7"/>
          </p:cNvCxnSpPr>
          <p:nvPr/>
        </p:nvCxnSpPr>
        <p:spPr>
          <a:xfrm flipH="1">
            <a:off x="980985" y="4130375"/>
            <a:ext cx="380485" cy="365795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7A441D4D-6722-4B41-A226-5E6ADF954C27}"/>
              </a:ext>
            </a:extLst>
          </p:cNvPr>
          <p:cNvCxnSpPr>
            <a:cxnSpLocks/>
          </p:cNvCxnSpPr>
          <p:nvPr/>
        </p:nvCxnSpPr>
        <p:spPr>
          <a:xfrm flipV="1">
            <a:off x="1052465" y="4193927"/>
            <a:ext cx="471572" cy="467136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A82E85B3-3E11-4AAF-9BEB-82F7CC5FBD54}"/>
              </a:ext>
            </a:extLst>
          </p:cNvPr>
          <p:cNvCxnSpPr>
            <a:cxnSpLocks/>
            <a:stCxn id="8" idx="4"/>
            <a:endCxn id="87" idx="0"/>
          </p:cNvCxnSpPr>
          <p:nvPr/>
        </p:nvCxnSpPr>
        <p:spPr>
          <a:xfrm flipH="1">
            <a:off x="1733745" y="4285364"/>
            <a:ext cx="1903" cy="1188535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1B290505-3766-4EB5-92CA-077FF986135C}"/>
              </a:ext>
            </a:extLst>
          </p:cNvPr>
          <p:cNvCxnSpPr>
            <a:cxnSpLocks/>
          </p:cNvCxnSpPr>
          <p:nvPr/>
        </p:nvCxnSpPr>
        <p:spPr>
          <a:xfrm flipH="1" flipV="1">
            <a:off x="1866252" y="4230445"/>
            <a:ext cx="1826" cy="1243454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92B5784C-BDBD-4FBC-BF9E-B35C303DCF45}"/>
              </a:ext>
            </a:extLst>
          </p:cNvPr>
          <p:cNvGrpSpPr/>
          <p:nvPr/>
        </p:nvGrpSpPr>
        <p:grpSpPr>
          <a:xfrm>
            <a:off x="3475841" y="1784284"/>
            <a:ext cx="958627" cy="858920"/>
            <a:chOff x="1178806" y="3249990"/>
            <a:chExt cx="1181189" cy="1058333"/>
          </a:xfrm>
        </p:grpSpPr>
        <p:sp>
          <p:nvSpPr>
            <p:cNvPr id="123" name="椭圆 122">
              <a:extLst>
                <a:ext uri="{FF2B5EF4-FFF2-40B4-BE49-F238E27FC236}">
                  <a16:creationId xmlns:a16="http://schemas.microsoft.com/office/drawing/2014/main" id="{5337979C-4074-4F47-99F4-7A2C16FDDD7D}"/>
                </a:ext>
              </a:extLst>
            </p:cNvPr>
            <p:cNvSpPr/>
            <p:nvPr/>
          </p:nvSpPr>
          <p:spPr>
            <a:xfrm>
              <a:off x="1178806" y="3249990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4F8F4822-7394-4260-BF99-837DD836D729}"/>
                </a:ext>
              </a:extLst>
            </p:cNvPr>
            <p:cNvSpPr txBox="1"/>
            <p:nvPr/>
          </p:nvSpPr>
          <p:spPr>
            <a:xfrm>
              <a:off x="1178806" y="3496258"/>
              <a:ext cx="1181189" cy="51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SINE_</a:t>
              </a:r>
            </a:p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FREQUENCE</a:t>
              </a:r>
              <a:endParaRPr lang="zh-CN" altLang="en-US" sz="1050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B7ADB20A-4867-4580-AF77-E92EAF1DA4CA}"/>
              </a:ext>
            </a:extLst>
          </p:cNvPr>
          <p:cNvGrpSpPr/>
          <p:nvPr/>
        </p:nvGrpSpPr>
        <p:grpSpPr>
          <a:xfrm>
            <a:off x="4885361" y="1812346"/>
            <a:ext cx="958627" cy="858920"/>
            <a:chOff x="1178806" y="3249990"/>
            <a:chExt cx="1181189" cy="1058333"/>
          </a:xfrm>
        </p:grpSpPr>
        <p:sp>
          <p:nvSpPr>
            <p:cNvPr id="126" name="椭圆 125">
              <a:extLst>
                <a:ext uri="{FF2B5EF4-FFF2-40B4-BE49-F238E27FC236}">
                  <a16:creationId xmlns:a16="http://schemas.microsoft.com/office/drawing/2014/main" id="{7D019E13-9132-40CB-A425-2CC29925C9C9}"/>
                </a:ext>
              </a:extLst>
            </p:cNvPr>
            <p:cNvSpPr/>
            <p:nvPr/>
          </p:nvSpPr>
          <p:spPr>
            <a:xfrm>
              <a:off x="1178806" y="3249990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54204957-0F49-4B16-B4CA-7B12FE1F0FA1}"/>
                </a:ext>
              </a:extLst>
            </p:cNvPr>
            <p:cNvSpPr txBox="1"/>
            <p:nvPr/>
          </p:nvSpPr>
          <p:spPr>
            <a:xfrm>
              <a:off x="1178806" y="3496258"/>
              <a:ext cx="1181189" cy="51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SINE_</a:t>
              </a:r>
            </a:p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AMPLITUDE</a:t>
              </a:r>
              <a:endParaRPr lang="zh-CN" altLang="en-US" sz="1050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77B5D5C2-B363-41BD-B32A-7094856151BF}"/>
              </a:ext>
            </a:extLst>
          </p:cNvPr>
          <p:cNvGrpSpPr/>
          <p:nvPr/>
        </p:nvGrpSpPr>
        <p:grpSpPr>
          <a:xfrm>
            <a:off x="4164642" y="5120215"/>
            <a:ext cx="958627" cy="858920"/>
            <a:chOff x="1178806" y="3249990"/>
            <a:chExt cx="1181189" cy="1058333"/>
          </a:xfrm>
        </p:grpSpPr>
        <p:sp>
          <p:nvSpPr>
            <p:cNvPr id="129" name="椭圆 128">
              <a:extLst>
                <a:ext uri="{FF2B5EF4-FFF2-40B4-BE49-F238E27FC236}">
                  <a16:creationId xmlns:a16="http://schemas.microsoft.com/office/drawing/2014/main" id="{CEA45771-9FE7-4405-8462-583503D77123}"/>
                </a:ext>
              </a:extLst>
            </p:cNvPr>
            <p:cNvSpPr/>
            <p:nvPr/>
          </p:nvSpPr>
          <p:spPr>
            <a:xfrm>
              <a:off x="1178806" y="3249990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D11C1D34-E7CC-457F-BD14-48115D7ACB1F}"/>
                </a:ext>
              </a:extLst>
            </p:cNvPr>
            <p:cNvSpPr txBox="1"/>
            <p:nvPr/>
          </p:nvSpPr>
          <p:spPr>
            <a:xfrm>
              <a:off x="1178806" y="3496258"/>
              <a:ext cx="1181189" cy="51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SINE_</a:t>
              </a:r>
            </a:p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OFFSET</a:t>
              </a:r>
              <a:endParaRPr lang="zh-CN" altLang="en-US" sz="1050" b="1" dirty="0">
                <a:solidFill>
                  <a:schemeClr val="lt1"/>
                </a:solidFill>
              </a:endParaRPr>
            </a:p>
          </p:txBody>
        </p:sp>
      </p:grpSp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2E141611-B739-4690-8794-396631BBB921}"/>
              </a:ext>
            </a:extLst>
          </p:cNvPr>
          <p:cNvCxnSpPr>
            <a:cxnSpLocks/>
            <a:stCxn id="56" idx="1"/>
            <a:endCxn id="123" idx="4"/>
          </p:cNvCxnSpPr>
          <p:nvPr/>
        </p:nvCxnSpPr>
        <p:spPr>
          <a:xfrm flipH="1" flipV="1">
            <a:off x="3905301" y="2643204"/>
            <a:ext cx="314624" cy="738816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B69DA74A-1BCB-420B-B819-2CA045F2BE28}"/>
              </a:ext>
            </a:extLst>
          </p:cNvPr>
          <p:cNvCxnSpPr>
            <a:cxnSpLocks/>
          </p:cNvCxnSpPr>
          <p:nvPr/>
        </p:nvCxnSpPr>
        <p:spPr>
          <a:xfrm>
            <a:off x="4064548" y="2544239"/>
            <a:ext cx="315012" cy="725928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5A823889-CC8F-45EC-AA4C-A2FAA75DFCA4}"/>
              </a:ext>
            </a:extLst>
          </p:cNvPr>
          <p:cNvCxnSpPr>
            <a:cxnSpLocks/>
            <a:stCxn id="126" idx="4"/>
            <a:endCxn id="56" idx="7"/>
          </p:cNvCxnSpPr>
          <p:nvPr/>
        </p:nvCxnSpPr>
        <p:spPr>
          <a:xfrm flipH="1">
            <a:off x="4968280" y="2671266"/>
            <a:ext cx="346541" cy="710754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22D6B4F1-53BF-4E40-AC54-81E2F581B3C3}"/>
              </a:ext>
            </a:extLst>
          </p:cNvPr>
          <p:cNvCxnSpPr>
            <a:cxnSpLocks/>
          </p:cNvCxnSpPr>
          <p:nvPr/>
        </p:nvCxnSpPr>
        <p:spPr>
          <a:xfrm flipV="1">
            <a:off x="4885361" y="2573678"/>
            <a:ext cx="321650" cy="729269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48C11A43-9F98-41C7-851B-6025981328AA}"/>
              </a:ext>
            </a:extLst>
          </p:cNvPr>
          <p:cNvCxnSpPr>
            <a:cxnSpLocks/>
            <a:stCxn id="129" idx="0"/>
            <a:endCxn id="56" idx="4"/>
          </p:cNvCxnSpPr>
          <p:nvPr/>
        </p:nvCxnSpPr>
        <p:spPr>
          <a:xfrm flipV="1">
            <a:off x="4594102" y="4285364"/>
            <a:ext cx="1" cy="834851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箭头连接符 148">
            <a:extLst>
              <a:ext uri="{FF2B5EF4-FFF2-40B4-BE49-F238E27FC236}">
                <a16:creationId xmlns:a16="http://schemas.microsoft.com/office/drawing/2014/main" id="{AE90F24A-D8F3-45FD-8F71-4A3399D296D3}"/>
              </a:ext>
            </a:extLst>
          </p:cNvPr>
          <p:cNvCxnSpPr>
            <a:cxnSpLocks/>
          </p:cNvCxnSpPr>
          <p:nvPr/>
        </p:nvCxnSpPr>
        <p:spPr>
          <a:xfrm>
            <a:off x="4736876" y="4230016"/>
            <a:ext cx="0" cy="999288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4" name="组合 153">
            <a:extLst>
              <a:ext uri="{FF2B5EF4-FFF2-40B4-BE49-F238E27FC236}">
                <a16:creationId xmlns:a16="http://schemas.microsoft.com/office/drawing/2014/main" id="{80475830-81D3-436A-A103-914C472492D2}"/>
              </a:ext>
            </a:extLst>
          </p:cNvPr>
          <p:cNvGrpSpPr/>
          <p:nvPr/>
        </p:nvGrpSpPr>
        <p:grpSpPr>
          <a:xfrm>
            <a:off x="7275255" y="1784284"/>
            <a:ext cx="958627" cy="858920"/>
            <a:chOff x="1178806" y="3249990"/>
            <a:chExt cx="1181189" cy="1058333"/>
          </a:xfrm>
        </p:grpSpPr>
        <p:sp>
          <p:nvSpPr>
            <p:cNvPr id="155" name="椭圆 154">
              <a:extLst>
                <a:ext uri="{FF2B5EF4-FFF2-40B4-BE49-F238E27FC236}">
                  <a16:creationId xmlns:a16="http://schemas.microsoft.com/office/drawing/2014/main" id="{F1EB1AF1-17CA-4907-844D-B0E22F4CE874}"/>
                </a:ext>
              </a:extLst>
            </p:cNvPr>
            <p:cNvSpPr/>
            <p:nvPr/>
          </p:nvSpPr>
          <p:spPr>
            <a:xfrm>
              <a:off x="1178806" y="3249990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6" name="文本框 155">
              <a:extLst>
                <a:ext uri="{FF2B5EF4-FFF2-40B4-BE49-F238E27FC236}">
                  <a16:creationId xmlns:a16="http://schemas.microsoft.com/office/drawing/2014/main" id="{BCD3D49A-B7A7-430F-A601-E5D102169464}"/>
                </a:ext>
              </a:extLst>
            </p:cNvPr>
            <p:cNvSpPr txBox="1"/>
            <p:nvPr/>
          </p:nvSpPr>
          <p:spPr>
            <a:xfrm>
              <a:off x="1178806" y="3496258"/>
              <a:ext cx="1181189" cy="51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TRIANGLE_</a:t>
              </a:r>
            </a:p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FREQUENCE</a:t>
              </a:r>
              <a:endParaRPr lang="zh-CN" altLang="en-US" sz="1050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157" name="组合 156">
            <a:extLst>
              <a:ext uri="{FF2B5EF4-FFF2-40B4-BE49-F238E27FC236}">
                <a16:creationId xmlns:a16="http://schemas.microsoft.com/office/drawing/2014/main" id="{00657EBE-8B1A-47A3-ADAB-861EB7E0AEA9}"/>
              </a:ext>
            </a:extLst>
          </p:cNvPr>
          <p:cNvGrpSpPr/>
          <p:nvPr/>
        </p:nvGrpSpPr>
        <p:grpSpPr>
          <a:xfrm>
            <a:off x="6545685" y="5044439"/>
            <a:ext cx="958627" cy="858920"/>
            <a:chOff x="1178806" y="3249990"/>
            <a:chExt cx="1181189" cy="1058333"/>
          </a:xfrm>
        </p:grpSpPr>
        <p:sp>
          <p:nvSpPr>
            <p:cNvPr id="158" name="椭圆 157">
              <a:extLst>
                <a:ext uri="{FF2B5EF4-FFF2-40B4-BE49-F238E27FC236}">
                  <a16:creationId xmlns:a16="http://schemas.microsoft.com/office/drawing/2014/main" id="{CDAF912C-4D85-4A8B-84F7-10FDECC7E6C6}"/>
                </a:ext>
              </a:extLst>
            </p:cNvPr>
            <p:cNvSpPr/>
            <p:nvPr/>
          </p:nvSpPr>
          <p:spPr>
            <a:xfrm>
              <a:off x="1178806" y="3249990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D44D1360-43B2-4A4F-A63C-BFEB148A1E35}"/>
                </a:ext>
              </a:extLst>
            </p:cNvPr>
            <p:cNvSpPr txBox="1"/>
            <p:nvPr/>
          </p:nvSpPr>
          <p:spPr>
            <a:xfrm>
              <a:off x="1178806" y="3496258"/>
              <a:ext cx="1181189" cy="51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TRIANGLE_</a:t>
              </a:r>
            </a:p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AMPLITUDE</a:t>
              </a:r>
            </a:p>
          </p:txBody>
        </p:sp>
      </p:grpSp>
      <p:grpSp>
        <p:nvGrpSpPr>
          <p:cNvPr id="160" name="组合 159">
            <a:extLst>
              <a:ext uri="{FF2B5EF4-FFF2-40B4-BE49-F238E27FC236}">
                <a16:creationId xmlns:a16="http://schemas.microsoft.com/office/drawing/2014/main" id="{9846A929-8AAE-452A-B1D5-AE5361186019}"/>
              </a:ext>
            </a:extLst>
          </p:cNvPr>
          <p:cNvGrpSpPr/>
          <p:nvPr/>
        </p:nvGrpSpPr>
        <p:grpSpPr>
          <a:xfrm>
            <a:off x="8035539" y="5070396"/>
            <a:ext cx="958627" cy="858920"/>
            <a:chOff x="1178806" y="3249990"/>
            <a:chExt cx="1181189" cy="1058333"/>
          </a:xfrm>
        </p:grpSpPr>
        <p:sp>
          <p:nvSpPr>
            <p:cNvPr id="161" name="椭圆 160">
              <a:extLst>
                <a:ext uri="{FF2B5EF4-FFF2-40B4-BE49-F238E27FC236}">
                  <a16:creationId xmlns:a16="http://schemas.microsoft.com/office/drawing/2014/main" id="{B50C896D-724D-4D3D-865A-972B6038D15F}"/>
                </a:ext>
              </a:extLst>
            </p:cNvPr>
            <p:cNvSpPr/>
            <p:nvPr/>
          </p:nvSpPr>
          <p:spPr>
            <a:xfrm>
              <a:off x="1178806" y="3249990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F61FA7CD-9F18-4DE5-8784-87AAB77A8CFF}"/>
                </a:ext>
              </a:extLst>
            </p:cNvPr>
            <p:cNvSpPr txBox="1"/>
            <p:nvPr/>
          </p:nvSpPr>
          <p:spPr>
            <a:xfrm>
              <a:off x="1178806" y="3496258"/>
              <a:ext cx="1181189" cy="51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TRIANGLE_</a:t>
              </a:r>
            </a:p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OFFSET</a:t>
              </a:r>
              <a:endParaRPr lang="zh-CN" altLang="en-US" sz="1050" b="1" dirty="0">
                <a:solidFill>
                  <a:schemeClr val="lt1"/>
                </a:solidFill>
              </a:endParaRPr>
            </a:p>
          </p:txBody>
        </p:sp>
      </p:grpSp>
      <p:cxnSp>
        <p:nvCxnSpPr>
          <p:cNvPr id="163" name="直接箭头连接符 162">
            <a:extLst>
              <a:ext uri="{FF2B5EF4-FFF2-40B4-BE49-F238E27FC236}">
                <a16:creationId xmlns:a16="http://schemas.microsoft.com/office/drawing/2014/main" id="{AB6E7957-4449-46E2-8EEA-7D08B5A17867}"/>
              </a:ext>
            </a:extLst>
          </p:cNvPr>
          <p:cNvCxnSpPr>
            <a:cxnSpLocks/>
            <a:stCxn id="59" idx="0"/>
            <a:endCxn id="155" idx="4"/>
          </p:cNvCxnSpPr>
          <p:nvPr/>
        </p:nvCxnSpPr>
        <p:spPr>
          <a:xfrm flipH="1" flipV="1">
            <a:off x="7704715" y="2643204"/>
            <a:ext cx="1" cy="583827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接箭头连接符 165">
            <a:extLst>
              <a:ext uri="{FF2B5EF4-FFF2-40B4-BE49-F238E27FC236}">
                <a16:creationId xmlns:a16="http://schemas.microsoft.com/office/drawing/2014/main" id="{8D62FEA1-A722-4D67-8C9B-1EAD27F3A157}"/>
              </a:ext>
            </a:extLst>
          </p:cNvPr>
          <p:cNvCxnSpPr>
            <a:cxnSpLocks/>
          </p:cNvCxnSpPr>
          <p:nvPr/>
        </p:nvCxnSpPr>
        <p:spPr>
          <a:xfrm>
            <a:off x="7854726" y="2582287"/>
            <a:ext cx="0" cy="644744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5F306660-0053-492E-B99A-5A9D08D9DD1E}"/>
              </a:ext>
            </a:extLst>
          </p:cNvPr>
          <p:cNvCxnSpPr>
            <a:cxnSpLocks/>
            <a:stCxn id="158" idx="0"/>
            <a:endCxn id="59" idx="3"/>
          </p:cNvCxnSpPr>
          <p:nvPr/>
        </p:nvCxnSpPr>
        <p:spPr>
          <a:xfrm flipV="1">
            <a:off x="6975145" y="4130375"/>
            <a:ext cx="355393" cy="914064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箭头连接符 170">
            <a:extLst>
              <a:ext uri="{FF2B5EF4-FFF2-40B4-BE49-F238E27FC236}">
                <a16:creationId xmlns:a16="http://schemas.microsoft.com/office/drawing/2014/main" id="{784A3FCF-04DA-4419-A5FE-64620400646E}"/>
              </a:ext>
            </a:extLst>
          </p:cNvPr>
          <p:cNvCxnSpPr>
            <a:cxnSpLocks/>
          </p:cNvCxnSpPr>
          <p:nvPr/>
        </p:nvCxnSpPr>
        <p:spPr>
          <a:xfrm flipH="1">
            <a:off x="7175549" y="4222875"/>
            <a:ext cx="304734" cy="821564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接箭头连接符 173">
            <a:extLst>
              <a:ext uri="{FF2B5EF4-FFF2-40B4-BE49-F238E27FC236}">
                <a16:creationId xmlns:a16="http://schemas.microsoft.com/office/drawing/2014/main" id="{3D9D3FD7-4BD6-40F3-AD1A-4B0259BEF4B7}"/>
              </a:ext>
            </a:extLst>
          </p:cNvPr>
          <p:cNvCxnSpPr>
            <a:cxnSpLocks/>
            <a:stCxn id="59" idx="5"/>
            <a:endCxn id="161" idx="0"/>
          </p:cNvCxnSpPr>
          <p:nvPr/>
        </p:nvCxnSpPr>
        <p:spPr>
          <a:xfrm>
            <a:off x="8078893" y="4130375"/>
            <a:ext cx="386106" cy="940021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箭头连接符 178">
            <a:extLst>
              <a:ext uri="{FF2B5EF4-FFF2-40B4-BE49-F238E27FC236}">
                <a16:creationId xmlns:a16="http://schemas.microsoft.com/office/drawing/2014/main" id="{A2E18856-E37E-407C-9F49-4E7784286592}"/>
              </a:ext>
            </a:extLst>
          </p:cNvPr>
          <p:cNvCxnSpPr>
            <a:cxnSpLocks/>
          </p:cNvCxnSpPr>
          <p:nvPr/>
        </p:nvCxnSpPr>
        <p:spPr>
          <a:xfrm flipH="1" flipV="1">
            <a:off x="7961472" y="4222875"/>
            <a:ext cx="363378" cy="854735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箭头连接符 182">
            <a:extLst>
              <a:ext uri="{FF2B5EF4-FFF2-40B4-BE49-F238E27FC236}">
                <a16:creationId xmlns:a16="http://schemas.microsoft.com/office/drawing/2014/main" id="{922587EC-E66C-4B61-8F68-6D2891539CA0}"/>
              </a:ext>
            </a:extLst>
          </p:cNvPr>
          <p:cNvCxnSpPr>
            <a:cxnSpLocks/>
          </p:cNvCxnSpPr>
          <p:nvPr/>
        </p:nvCxnSpPr>
        <p:spPr>
          <a:xfrm flipH="1">
            <a:off x="2262912" y="3923295"/>
            <a:ext cx="1986645" cy="0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箭头连接符 185">
            <a:extLst>
              <a:ext uri="{FF2B5EF4-FFF2-40B4-BE49-F238E27FC236}">
                <a16:creationId xmlns:a16="http://schemas.microsoft.com/office/drawing/2014/main" id="{980838EF-4470-4FD5-BBB0-218AED5E5F1D}"/>
              </a:ext>
            </a:extLst>
          </p:cNvPr>
          <p:cNvCxnSpPr>
            <a:cxnSpLocks/>
          </p:cNvCxnSpPr>
          <p:nvPr/>
        </p:nvCxnSpPr>
        <p:spPr>
          <a:xfrm flipH="1">
            <a:off x="5123269" y="3923295"/>
            <a:ext cx="1986645" cy="0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278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3365381"/>
            <a:ext cx="9144000" cy="102841"/>
          </a:xfrm>
          <a:prstGeom prst="rect">
            <a:avLst/>
          </a:prstGeom>
          <a:gradFill>
            <a:gsLst>
              <a:gs pos="0">
                <a:srgbClr val="E30613"/>
              </a:gs>
              <a:gs pos="100000">
                <a:srgbClr val="81040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6" name="组合 105"/>
          <p:cNvGrpSpPr/>
          <p:nvPr/>
        </p:nvGrpSpPr>
        <p:grpSpPr>
          <a:xfrm>
            <a:off x="3901506" y="3838139"/>
            <a:ext cx="3856500" cy="1208703"/>
            <a:chOff x="322748" y="3665374"/>
            <a:chExt cx="5680529" cy="1027864"/>
          </a:xfrm>
        </p:grpSpPr>
        <p:sp>
          <p:nvSpPr>
            <p:cNvPr id="108" name="圆角矩形 107"/>
            <p:cNvSpPr/>
            <p:nvPr/>
          </p:nvSpPr>
          <p:spPr>
            <a:xfrm>
              <a:off x="322748" y="3665374"/>
              <a:ext cx="5680529" cy="1027864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bg1"/>
                </a:gs>
                <a:gs pos="100000">
                  <a:srgbClr val="D1D1D1"/>
                </a:gs>
              </a:gsLst>
              <a:lin ang="5400000" scaled="0"/>
            </a:gradFill>
            <a:ln>
              <a:noFill/>
            </a:ln>
            <a:effectLst>
              <a:outerShdw blurRad="127000" dist="508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圆角矩形 108"/>
            <p:cNvSpPr/>
            <p:nvPr/>
          </p:nvSpPr>
          <p:spPr>
            <a:xfrm>
              <a:off x="516699" y="3785998"/>
              <a:ext cx="5277329" cy="784227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bg1"/>
                </a:gs>
                <a:gs pos="100000">
                  <a:srgbClr val="D1D1D1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7" name="文本框 106"/>
          <p:cNvSpPr txBox="1"/>
          <p:nvPr/>
        </p:nvSpPr>
        <p:spPr>
          <a:xfrm>
            <a:off x="4572000" y="4056364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结果展示</a:t>
            </a:r>
            <a:endParaRPr lang="zh-CN" altLang="en-US" sz="4400" dirty="0">
              <a:solidFill>
                <a:schemeClr val="bg2">
                  <a:lumMod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6963"/>
            <a:ext cx="9144000" cy="1828800"/>
          </a:xfrm>
          <a:prstGeom prst="rect">
            <a:avLst/>
          </a:prstGeom>
        </p:spPr>
      </p:pic>
      <p:grpSp>
        <p:nvGrpSpPr>
          <p:cNvPr id="16" name="组合 15"/>
          <p:cNvGrpSpPr>
            <a:grpSpLocks noChangeAspect="1"/>
          </p:cNvGrpSpPr>
          <p:nvPr/>
        </p:nvGrpSpPr>
        <p:grpSpPr>
          <a:xfrm>
            <a:off x="708753" y="2932759"/>
            <a:ext cx="2484000" cy="2484000"/>
            <a:chOff x="836778" y="1675054"/>
            <a:chExt cx="2004782" cy="2673043"/>
          </a:xfrm>
        </p:grpSpPr>
        <p:sp>
          <p:nvSpPr>
            <p:cNvPr id="17" name="椭圆 16"/>
            <p:cNvSpPr/>
            <p:nvPr/>
          </p:nvSpPr>
          <p:spPr>
            <a:xfrm>
              <a:off x="836778" y="1675054"/>
              <a:ext cx="2004782" cy="2673043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  <a:ln w="19050">
              <a:gradFill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1"/>
              </a:gradFill>
            </a:ln>
            <a:effectLst>
              <a:outerShdw blurRad="279400" dist="152400" dir="2700000" sx="102000" sy="102000" algn="tl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1034165" y="1914547"/>
              <a:ext cx="1631179" cy="2174905"/>
              <a:chOff x="3739822" y="2440887"/>
              <a:chExt cx="1970936" cy="1970936"/>
            </a:xfrm>
          </p:grpSpPr>
          <p:sp>
            <p:nvSpPr>
              <p:cNvPr id="19" name="圆角矩形 18"/>
              <p:cNvSpPr/>
              <p:nvPr/>
            </p:nvSpPr>
            <p:spPr>
              <a:xfrm>
                <a:off x="3739822" y="2440887"/>
                <a:ext cx="1970936" cy="1970936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100000">
                    <a:schemeClr val="bg1"/>
                  </a:gs>
                  <a:gs pos="0">
                    <a:srgbClr val="B8BBBC"/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0" name="椭圆 19"/>
              <p:cNvSpPr>
                <a:spLocks noChangeAspect="1"/>
              </p:cNvSpPr>
              <p:nvPr/>
            </p:nvSpPr>
            <p:spPr>
              <a:xfrm>
                <a:off x="3837054" y="2549460"/>
                <a:ext cx="1776466" cy="1776466"/>
              </a:xfrm>
              <a:prstGeom prst="ellipse">
                <a:avLst/>
              </a:prstGeom>
              <a:gradFill>
                <a:gsLst>
                  <a:gs pos="0">
                    <a:srgbClr val="E30613"/>
                  </a:gs>
                  <a:gs pos="100000">
                    <a:srgbClr val="81040B"/>
                  </a:gs>
                </a:gsLst>
                <a:lin ang="5400000" scaled="1"/>
              </a:gra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8000" dirty="0">
                  <a:latin typeface="Arial Black" panose="020B0A04020102020204" pitchFamily="34" charset="0"/>
                </a:endParaRPr>
              </a:p>
            </p:txBody>
          </p:sp>
        </p:grpSp>
      </p:grpSp>
      <p:sp>
        <p:nvSpPr>
          <p:cNvPr id="3" name="矩形 2"/>
          <p:cNvSpPr/>
          <p:nvPr/>
        </p:nvSpPr>
        <p:spPr>
          <a:xfrm>
            <a:off x="1187049" y="3548892"/>
            <a:ext cx="1553631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8000" dirty="0">
                <a:solidFill>
                  <a:schemeClr val="bg1"/>
                </a:solidFill>
                <a:latin typeface="Arial Black" panose="020B0A04020102020204" pitchFamily="34" charset="0"/>
              </a:rPr>
              <a:t>03</a:t>
            </a:r>
            <a:endParaRPr lang="zh-CN" altLang="en-US" sz="8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22" name="Picture 2" descr="E:\Hou\信息化建设\web\校徽相关\xjtu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63" t="-1001" r="53439" b="77637"/>
          <a:stretch/>
        </p:blipFill>
        <p:spPr bwMode="auto">
          <a:xfrm>
            <a:off x="199951" y="237148"/>
            <a:ext cx="2674751" cy="747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9598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1979"/>
            <a:ext cx="9144000" cy="1828800"/>
          </a:xfrm>
          <a:prstGeom prst="rect">
            <a:avLst/>
          </a:prstGeom>
        </p:spPr>
      </p:pic>
      <p:sp>
        <p:nvSpPr>
          <p:cNvPr id="33" name="矩形 32"/>
          <p:cNvSpPr/>
          <p:nvPr/>
        </p:nvSpPr>
        <p:spPr>
          <a:xfrm>
            <a:off x="4771144" y="2342344"/>
            <a:ext cx="3588831" cy="1435906"/>
          </a:xfrm>
          <a:prstGeom prst="rect">
            <a:avLst/>
          </a:prstGeom>
          <a:gradFill>
            <a:gsLst>
              <a:gs pos="0">
                <a:srgbClr val="E30613">
                  <a:alpha val="79000"/>
                </a:srgbClr>
              </a:gs>
              <a:gs pos="100000">
                <a:srgbClr val="81040B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00" b="1" dirty="0"/>
              <a:t>方波、正弦波、三角波</a:t>
            </a:r>
            <a:endParaRPr lang="en-US" altLang="zh-CN" sz="2600" b="1" dirty="0"/>
          </a:p>
          <a:p>
            <a:pPr algn="ctr"/>
            <a:r>
              <a:rPr lang="zh-CN" altLang="en-US" sz="2600" b="1" dirty="0"/>
              <a:t>并将频率调整到</a:t>
            </a:r>
            <a:r>
              <a:rPr lang="en-US" altLang="zh-CN" sz="2600" b="1" dirty="0"/>
              <a:t>1kHZ;</a:t>
            </a:r>
          </a:p>
          <a:p>
            <a:pPr algn="ctr"/>
            <a:r>
              <a:rPr lang="zh-CN" altLang="en-US" sz="2600" b="1" dirty="0"/>
              <a:t>幅值调整到</a:t>
            </a:r>
            <a:r>
              <a:rPr lang="en-US" altLang="zh-CN" sz="2600" b="1" dirty="0"/>
              <a:t>2V</a:t>
            </a:r>
            <a:endParaRPr lang="zh-CN" altLang="en-US" sz="26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0BE15B1-070C-496C-A816-5658102507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6" y="1954657"/>
            <a:ext cx="4182428" cy="243164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7CE81DF-FDA4-403C-A3D4-A47B317A67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4346" y="4426354"/>
            <a:ext cx="4182429" cy="243164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86EA2E8-22D7-4380-B47B-18D4A10AB6F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6" y="4426357"/>
            <a:ext cx="4182428" cy="2431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096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3365381"/>
            <a:ext cx="9144000" cy="102841"/>
          </a:xfrm>
          <a:prstGeom prst="rect">
            <a:avLst/>
          </a:prstGeom>
          <a:gradFill>
            <a:gsLst>
              <a:gs pos="0">
                <a:srgbClr val="E30613"/>
              </a:gs>
              <a:gs pos="100000">
                <a:srgbClr val="81040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6" name="组合 105"/>
          <p:cNvGrpSpPr/>
          <p:nvPr/>
        </p:nvGrpSpPr>
        <p:grpSpPr>
          <a:xfrm>
            <a:off x="3901506" y="3838139"/>
            <a:ext cx="3856500" cy="1208703"/>
            <a:chOff x="322748" y="3665374"/>
            <a:chExt cx="5680529" cy="1027864"/>
          </a:xfrm>
        </p:grpSpPr>
        <p:sp>
          <p:nvSpPr>
            <p:cNvPr id="108" name="圆角矩形 107"/>
            <p:cNvSpPr/>
            <p:nvPr/>
          </p:nvSpPr>
          <p:spPr>
            <a:xfrm>
              <a:off x="322748" y="3665374"/>
              <a:ext cx="5680529" cy="1027864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bg1"/>
                </a:gs>
                <a:gs pos="100000">
                  <a:srgbClr val="D1D1D1"/>
                </a:gs>
              </a:gsLst>
              <a:lin ang="5400000" scaled="0"/>
            </a:gradFill>
            <a:ln>
              <a:noFill/>
            </a:ln>
            <a:effectLst>
              <a:outerShdw blurRad="127000" dist="508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圆角矩形 108"/>
            <p:cNvSpPr/>
            <p:nvPr/>
          </p:nvSpPr>
          <p:spPr>
            <a:xfrm>
              <a:off x="516699" y="3785998"/>
              <a:ext cx="5277329" cy="784227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bg1"/>
                </a:gs>
                <a:gs pos="100000">
                  <a:srgbClr val="D1D1D1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7" name="文本框 106"/>
          <p:cNvSpPr txBox="1"/>
          <p:nvPr/>
        </p:nvSpPr>
        <p:spPr>
          <a:xfrm>
            <a:off x="4572000" y="4056364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遇到问题</a:t>
            </a:r>
            <a:endParaRPr lang="zh-CN" altLang="en-US" sz="4400" dirty="0">
              <a:solidFill>
                <a:schemeClr val="bg2">
                  <a:lumMod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6963"/>
            <a:ext cx="9144000" cy="1828800"/>
          </a:xfrm>
          <a:prstGeom prst="rect">
            <a:avLst/>
          </a:prstGeom>
        </p:spPr>
      </p:pic>
      <p:grpSp>
        <p:nvGrpSpPr>
          <p:cNvPr id="16" name="组合 15"/>
          <p:cNvGrpSpPr>
            <a:grpSpLocks noChangeAspect="1"/>
          </p:cNvGrpSpPr>
          <p:nvPr/>
        </p:nvGrpSpPr>
        <p:grpSpPr>
          <a:xfrm>
            <a:off x="708753" y="2932759"/>
            <a:ext cx="2484000" cy="2484000"/>
            <a:chOff x="836778" y="1675054"/>
            <a:chExt cx="2004782" cy="2673043"/>
          </a:xfrm>
        </p:grpSpPr>
        <p:sp>
          <p:nvSpPr>
            <p:cNvPr id="17" name="椭圆 16"/>
            <p:cNvSpPr/>
            <p:nvPr/>
          </p:nvSpPr>
          <p:spPr>
            <a:xfrm>
              <a:off x="836778" y="1675054"/>
              <a:ext cx="2004782" cy="2673043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  <a:ln w="19050">
              <a:gradFill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1"/>
              </a:gradFill>
            </a:ln>
            <a:effectLst>
              <a:outerShdw blurRad="279400" dist="152400" dir="2700000" sx="102000" sy="102000" algn="tl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1034165" y="1914547"/>
              <a:ext cx="1631179" cy="2174905"/>
              <a:chOff x="3739822" y="2440887"/>
              <a:chExt cx="1970936" cy="1970936"/>
            </a:xfrm>
          </p:grpSpPr>
          <p:sp>
            <p:nvSpPr>
              <p:cNvPr id="19" name="圆角矩形 18"/>
              <p:cNvSpPr/>
              <p:nvPr/>
            </p:nvSpPr>
            <p:spPr>
              <a:xfrm>
                <a:off x="3739822" y="2440887"/>
                <a:ext cx="1970936" cy="1970936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100000">
                    <a:schemeClr val="bg1"/>
                  </a:gs>
                  <a:gs pos="0">
                    <a:srgbClr val="B8BBBC"/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0" name="椭圆 19"/>
              <p:cNvSpPr>
                <a:spLocks noChangeAspect="1"/>
              </p:cNvSpPr>
              <p:nvPr/>
            </p:nvSpPr>
            <p:spPr>
              <a:xfrm>
                <a:off x="3837054" y="2549460"/>
                <a:ext cx="1776466" cy="1776466"/>
              </a:xfrm>
              <a:prstGeom prst="ellipse">
                <a:avLst/>
              </a:prstGeom>
              <a:gradFill>
                <a:gsLst>
                  <a:gs pos="0">
                    <a:srgbClr val="E30613"/>
                  </a:gs>
                  <a:gs pos="100000">
                    <a:srgbClr val="81040B"/>
                  </a:gs>
                </a:gsLst>
                <a:lin ang="5400000" scaled="1"/>
              </a:gra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8000" dirty="0">
                  <a:latin typeface="Arial Black" panose="020B0A04020102020204" pitchFamily="34" charset="0"/>
                </a:endParaRPr>
              </a:p>
            </p:txBody>
          </p:sp>
        </p:grpSp>
      </p:grpSp>
      <p:sp>
        <p:nvSpPr>
          <p:cNvPr id="3" name="矩形 2"/>
          <p:cNvSpPr/>
          <p:nvPr/>
        </p:nvSpPr>
        <p:spPr>
          <a:xfrm>
            <a:off x="1187049" y="3548892"/>
            <a:ext cx="1553631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8000" dirty="0">
                <a:solidFill>
                  <a:schemeClr val="bg1"/>
                </a:solidFill>
                <a:latin typeface="Arial Black" panose="020B0A04020102020204" pitchFamily="34" charset="0"/>
              </a:rPr>
              <a:t>04</a:t>
            </a:r>
            <a:endParaRPr lang="zh-CN" altLang="en-US" sz="8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22" name="Picture 2" descr="E:\Hou\信息化建设\web\校徽相关\xjtu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63" t="-1001" r="53439" b="77637"/>
          <a:stretch/>
        </p:blipFill>
        <p:spPr bwMode="auto">
          <a:xfrm>
            <a:off x="199951" y="237148"/>
            <a:ext cx="2674751" cy="747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4585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54206" y="299118"/>
            <a:ext cx="8435588" cy="589667"/>
            <a:chOff x="533603" y="299118"/>
            <a:chExt cx="8435588" cy="589667"/>
          </a:xfrm>
        </p:grpSpPr>
        <p:pic>
          <p:nvPicPr>
            <p:cNvPr id="2" name="Picture 2" descr="E:\Hou\信息化建设\web\校徽相关\xjtu.pn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463" t="-1001" r="53439" b="77637"/>
            <a:stretch/>
          </p:blipFill>
          <p:spPr bwMode="auto">
            <a:xfrm>
              <a:off x="6858003" y="299118"/>
              <a:ext cx="2111188" cy="5896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" name="组合 2"/>
            <p:cNvGrpSpPr/>
            <p:nvPr/>
          </p:nvGrpSpPr>
          <p:grpSpPr>
            <a:xfrm>
              <a:off x="533603" y="473621"/>
              <a:ext cx="435327" cy="405245"/>
              <a:chOff x="290945" y="346364"/>
              <a:chExt cx="859090" cy="799725"/>
            </a:xfrm>
          </p:grpSpPr>
          <p:sp>
            <p:nvSpPr>
              <p:cNvPr id="4" name="圆角矩形 3"/>
              <p:cNvSpPr>
                <a:spLocks noChangeAspect="1"/>
              </p:cNvSpPr>
              <p:nvPr/>
            </p:nvSpPr>
            <p:spPr>
              <a:xfrm>
                <a:off x="290945" y="346364"/>
                <a:ext cx="648000" cy="648000"/>
              </a:xfrm>
              <a:prstGeom prst="roundRect">
                <a:avLst/>
              </a:prstGeom>
              <a:noFill/>
              <a:ln w="539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 useBgFill="1">
            <p:nvSpPr>
              <p:cNvPr id="5" name="圆角矩形 4"/>
              <p:cNvSpPr>
                <a:spLocks noChangeAspect="1"/>
              </p:cNvSpPr>
              <p:nvPr/>
            </p:nvSpPr>
            <p:spPr>
              <a:xfrm>
                <a:off x="528654" y="526125"/>
                <a:ext cx="540000" cy="540000"/>
              </a:xfrm>
              <a:prstGeom prst="roundRect">
                <a:avLst/>
              </a:prstGeom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6" name="圆角矩形 5"/>
              <p:cNvSpPr>
                <a:spLocks noChangeAspect="1"/>
              </p:cNvSpPr>
              <p:nvPr/>
            </p:nvSpPr>
            <p:spPr>
              <a:xfrm>
                <a:off x="610035" y="606089"/>
                <a:ext cx="540000" cy="540000"/>
              </a:xfrm>
              <a:prstGeom prst="roundRect">
                <a:avLst/>
              </a:prstGeom>
              <a:solidFill>
                <a:srgbClr val="C00000"/>
              </a:solidFill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7" name="直接连接符 6"/>
            <p:cNvCxnSpPr/>
            <p:nvPr/>
          </p:nvCxnSpPr>
          <p:spPr>
            <a:xfrm>
              <a:off x="1227882" y="878865"/>
              <a:ext cx="5436000" cy="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26"/>
          <p:cNvSpPr txBox="1"/>
          <p:nvPr/>
        </p:nvSpPr>
        <p:spPr>
          <a:xfrm>
            <a:off x="941375" y="272323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itchFamily="34" charset="-122"/>
                <a:ea typeface="微软雅黑" pitchFamily="34" charset="-122"/>
              </a:rPr>
              <a:t>一、方波占空比调节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DB812F3-08BC-42E6-8D90-CA22A80C7CF1}"/>
              </a:ext>
            </a:extLst>
          </p:cNvPr>
          <p:cNvSpPr/>
          <p:nvPr/>
        </p:nvSpPr>
        <p:spPr>
          <a:xfrm>
            <a:off x="1048485" y="1209771"/>
            <a:ext cx="3963782" cy="747298"/>
          </a:xfrm>
          <a:prstGeom prst="rect">
            <a:avLst/>
          </a:prstGeom>
          <a:gradFill>
            <a:gsLst>
              <a:gs pos="0">
                <a:srgbClr val="E30613">
                  <a:alpha val="79000"/>
                </a:srgbClr>
              </a:gs>
              <a:gs pos="100000">
                <a:srgbClr val="81040B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00" b="1" dirty="0"/>
              <a:t>基于</a:t>
            </a:r>
            <a:r>
              <a:rPr lang="en-US" altLang="zh-CN" sz="2600" b="1" dirty="0"/>
              <a:t>DDS</a:t>
            </a:r>
            <a:r>
              <a:rPr lang="zh-CN" altLang="en-US" sz="2600" b="1" dirty="0"/>
              <a:t>无法调节占空比</a:t>
            </a:r>
            <a:r>
              <a:rPr lang="en-US" altLang="zh-CN" sz="2600" b="1" dirty="0"/>
              <a:t>?</a:t>
            </a:r>
            <a:endParaRPr lang="zh-CN" altLang="en-US" sz="2600" b="1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06AAAAC-BF2B-41DA-BF1E-45A250BB6105}"/>
              </a:ext>
            </a:extLst>
          </p:cNvPr>
          <p:cNvSpPr/>
          <p:nvPr/>
        </p:nvSpPr>
        <p:spPr>
          <a:xfrm>
            <a:off x="1048485" y="2681702"/>
            <a:ext cx="5538582" cy="747298"/>
          </a:xfrm>
          <a:prstGeom prst="rect">
            <a:avLst/>
          </a:prstGeom>
          <a:gradFill>
            <a:gsLst>
              <a:gs pos="0">
                <a:srgbClr val="E30613">
                  <a:alpha val="79000"/>
                </a:srgbClr>
              </a:gs>
              <a:gs pos="100000">
                <a:srgbClr val="81040B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00" b="1" dirty="0"/>
              <a:t>采用固定采样脉冲，不使用</a:t>
            </a:r>
            <a:r>
              <a:rPr lang="en-US" altLang="zh-CN" sz="2600" b="1" dirty="0"/>
              <a:t>DDS</a:t>
            </a:r>
            <a:r>
              <a:rPr lang="zh-CN" altLang="en-US" sz="2600" b="1" dirty="0"/>
              <a:t>原理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F21AEDEB-9C13-47F3-83F0-1B08910B0F7D}"/>
              </a:ext>
            </a:extLst>
          </p:cNvPr>
          <p:cNvSpPr/>
          <p:nvPr/>
        </p:nvSpPr>
        <p:spPr>
          <a:xfrm>
            <a:off x="1048485" y="4153633"/>
            <a:ext cx="4048448" cy="747298"/>
          </a:xfrm>
          <a:prstGeom prst="rect">
            <a:avLst/>
          </a:prstGeom>
          <a:gradFill>
            <a:gsLst>
              <a:gs pos="0">
                <a:srgbClr val="E30613">
                  <a:alpha val="79000"/>
                </a:srgbClr>
              </a:gs>
              <a:gs pos="100000">
                <a:srgbClr val="81040B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600" b="1" dirty="0"/>
              <a:t>1</a:t>
            </a:r>
            <a:r>
              <a:rPr lang="zh-CN" altLang="en-US" sz="2600" b="1" dirty="0"/>
              <a:t>个周期固定采样</a:t>
            </a:r>
            <a:r>
              <a:rPr lang="en-US" altLang="zh-CN" sz="2600" b="1" dirty="0"/>
              <a:t>255</a:t>
            </a:r>
            <a:r>
              <a:rPr lang="zh-CN" altLang="en-US" sz="2600" b="1" dirty="0"/>
              <a:t>个点</a:t>
            </a:r>
          </a:p>
        </p:txBody>
      </p:sp>
    </p:spTree>
    <p:extLst>
      <p:ext uri="{BB962C8B-B14F-4D97-AF65-F5344CB8AC3E}">
        <p14:creationId xmlns:p14="http://schemas.microsoft.com/office/powerpoint/2010/main" val="3456226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54206" y="299118"/>
            <a:ext cx="8435588" cy="589667"/>
            <a:chOff x="533603" y="299118"/>
            <a:chExt cx="8435588" cy="589667"/>
          </a:xfrm>
        </p:grpSpPr>
        <p:pic>
          <p:nvPicPr>
            <p:cNvPr id="2" name="Picture 2" descr="E:\Hou\信息化建设\web\校徽相关\xjtu.pn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463" t="-1001" r="53439" b="77637"/>
            <a:stretch/>
          </p:blipFill>
          <p:spPr bwMode="auto">
            <a:xfrm>
              <a:off x="6858003" y="299118"/>
              <a:ext cx="2111188" cy="5896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" name="组合 2"/>
            <p:cNvGrpSpPr/>
            <p:nvPr/>
          </p:nvGrpSpPr>
          <p:grpSpPr>
            <a:xfrm>
              <a:off x="533603" y="473621"/>
              <a:ext cx="435327" cy="405245"/>
              <a:chOff x="290945" y="346364"/>
              <a:chExt cx="859090" cy="799725"/>
            </a:xfrm>
          </p:grpSpPr>
          <p:sp>
            <p:nvSpPr>
              <p:cNvPr id="4" name="圆角矩形 3"/>
              <p:cNvSpPr>
                <a:spLocks noChangeAspect="1"/>
              </p:cNvSpPr>
              <p:nvPr/>
            </p:nvSpPr>
            <p:spPr>
              <a:xfrm>
                <a:off x="290945" y="346364"/>
                <a:ext cx="648000" cy="648000"/>
              </a:xfrm>
              <a:prstGeom prst="roundRect">
                <a:avLst/>
              </a:prstGeom>
              <a:noFill/>
              <a:ln w="539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 useBgFill="1">
            <p:nvSpPr>
              <p:cNvPr id="5" name="圆角矩形 4"/>
              <p:cNvSpPr>
                <a:spLocks noChangeAspect="1"/>
              </p:cNvSpPr>
              <p:nvPr/>
            </p:nvSpPr>
            <p:spPr>
              <a:xfrm>
                <a:off x="528654" y="526125"/>
                <a:ext cx="540000" cy="540000"/>
              </a:xfrm>
              <a:prstGeom prst="roundRect">
                <a:avLst/>
              </a:prstGeom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6" name="圆角矩形 5"/>
              <p:cNvSpPr>
                <a:spLocks noChangeAspect="1"/>
              </p:cNvSpPr>
              <p:nvPr/>
            </p:nvSpPr>
            <p:spPr>
              <a:xfrm>
                <a:off x="610035" y="606089"/>
                <a:ext cx="540000" cy="540000"/>
              </a:xfrm>
              <a:prstGeom prst="roundRect">
                <a:avLst/>
              </a:prstGeom>
              <a:solidFill>
                <a:srgbClr val="C00000"/>
              </a:solidFill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7" name="直接连接符 6"/>
            <p:cNvCxnSpPr/>
            <p:nvPr/>
          </p:nvCxnSpPr>
          <p:spPr>
            <a:xfrm>
              <a:off x="1227882" y="878865"/>
              <a:ext cx="5436000" cy="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26"/>
          <p:cNvSpPr txBox="1"/>
          <p:nvPr/>
        </p:nvSpPr>
        <p:spPr>
          <a:xfrm>
            <a:off x="941375" y="272323"/>
            <a:ext cx="51122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itchFamily="34" charset="-122"/>
                <a:ea typeface="微软雅黑" pitchFamily="34" charset="-122"/>
              </a:rPr>
              <a:t>二、单根信号线的驱动能力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DB812F3-08BC-42E6-8D90-CA22A80C7CF1}"/>
              </a:ext>
            </a:extLst>
          </p:cNvPr>
          <p:cNvSpPr/>
          <p:nvPr/>
        </p:nvSpPr>
        <p:spPr>
          <a:xfrm>
            <a:off x="1048485" y="1209770"/>
            <a:ext cx="4522582" cy="881491"/>
          </a:xfrm>
          <a:prstGeom prst="rect">
            <a:avLst/>
          </a:prstGeom>
          <a:gradFill>
            <a:gsLst>
              <a:gs pos="0">
                <a:srgbClr val="E30613">
                  <a:alpha val="79000"/>
                </a:srgbClr>
              </a:gs>
              <a:gs pos="100000">
                <a:srgbClr val="81040B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00" b="1" dirty="0"/>
              <a:t>同一根线不可连接多根输出？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B0FA8C0-869F-4C81-9A44-9A4E912410DE}"/>
              </a:ext>
            </a:extLst>
          </p:cNvPr>
          <p:cNvSpPr/>
          <p:nvPr/>
        </p:nvSpPr>
        <p:spPr>
          <a:xfrm>
            <a:off x="1048485" y="2422165"/>
            <a:ext cx="3853715" cy="881491"/>
          </a:xfrm>
          <a:prstGeom prst="rect">
            <a:avLst/>
          </a:prstGeom>
          <a:gradFill>
            <a:gsLst>
              <a:gs pos="0">
                <a:srgbClr val="E30613">
                  <a:alpha val="79000"/>
                </a:srgbClr>
              </a:gs>
              <a:gs pos="100000">
                <a:srgbClr val="81040B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00" b="1" dirty="0"/>
              <a:t>刚开始数码管一直不亮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AEC3BD7-639D-4487-9E1F-E961A01DD63B}"/>
              </a:ext>
            </a:extLst>
          </p:cNvPr>
          <p:cNvSpPr/>
          <p:nvPr/>
        </p:nvSpPr>
        <p:spPr>
          <a:xfrm>
            <a:off x="1048485" y="3810698"/>
            <a:ext cx="6215915" cy="881491"/>
          </a:xfrm>
          <a:prstGeom prst="rect">
            <a:avLst/>
          </a:prstGeom>
          <a:gradFill>
            <a:gsLst>
              <a:gs pos="0">
                <a:srgbClr val="E30613">
                  <a:alpha val="79000"/>
                </a:srgbClr>
              </a:gs>
              <a:gs pos="100000">
                <a:srgbClr val="81040B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00" b="1" dirty="0"/>
              <a:t>位选信号输出在</a:t>
            </a:r>
            <a:r>
              <a:rPr lang="en-US" altLang="zh-CN" sz="2600" b="1" dirty="0"/>
              <a:t>LED</a:t>
            </a:r>
            <a:r>
              <a:rPr lang="zh-CN" altLang="en-US" sz="2600" b="1" dirty="0"/>
              <a:t>上调试，</a:t>
            </a:r>
            <a:r>
              <a:rPr lang="en-US" altLang="zh-CN" sz="2600" b="1" dirty="0"/>
              <a:t>LED</a:t>
            </a:r>
            <a:r>
              <a:rPr lang="zh-CN" altLang="en-US" sz="2600" b="1" dirty="0"/>
              <a:t>灯有微弱光、但数码管一直亮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7708B96-C96F-410A-8EF4-2D786F57632E}"/>
              </a:ext>
            </a:extLst>
          </p:cNvPr>
          <p:cNvSpPr/>
          <p:nvPr/>
        </p:nvSpPr>
        <p:spPr>
          <a:xfrm>
            <a:off x="1048485" y="5097644"/>
            <a:ext cx="6215915" cy="881491"/>
          </a:xfrm>
          <a:prstGeom prst="rect">
            <a:avLst/>
          </a:prstGeom>
          <a:gradFill>
            <a:gsLst>
              <a:gs pos="0">
                <a:srgbClr val="E30613">
                  <a:alpha val="79000"/>
                </a:srgbClr>
              </a:gs>
              <a:gs pos="100000">
                <a:srgbClr val="81040B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00" b="1" dirty="0"/>
              <a:t>使位选信号不输出在</a:t>
            </a:r>
            <a:r>
              <a:rPr lang="en-US" altLang="zh-CN" sz="2600" b="1" dirty="0"/>
              <a:t>led</a:t>
            </a:r>
            <a:r>
              <a:rPr lang="zh-CN" altLang="en-US" sz="2600" b="1" dirty="0"/>
              <a:t>灯上即可</a:t>
            </a:r>
          </a:p>
        </p:txBody>
      </p:sp>
    </p:spTree>
    <p:extLst>
      <p:ext uri="{BB962C8B-B14F-4D97-AF65-F5344CB8AC3E}">
        <p14:creationId xmlns:p14="http://schemas.microsoft.com/office/powerpoint/2010/main" val="2336141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54206" y="299118"/>
            <a:ext cx="8435588" cy="589667"/>
            <a:chOff x="533603" y="299118"/>
            <a:chExt cx="8435588" cy="589667"/>
          </a:xfrm>
        </p:grpSpPr>
        <p:pic>
          <p:nvPicPr>
            <p:cNvPr id="2" name="Picture 2" descr="E:\Hou\信息化建设\web\校徽相关\xjtu.pn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463" t="-1001" r="53439" b="77637"/>
            <a:stretch/>
          </p:blipFill>
          <p:spPr bwMode="auto">
            <a:xfrm>
              <a:off x="6858003" y="299118"/>
              <a:ext cx="2111188" cy="5896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" name="组合 2"/>
            <p:cNvGrpSpPr/>
            <p:nvPr/>
          </p:nvGrpSpPr>
          <p:grpSpPr>
            <a:xfrm>
              <a:off x="533603" y="473621"/>
              <a:ext cx="435327" cy="405245"/>
              <a:chOff x="290945" y="346364"/>
              <a:chExt cx="859090" cy="799725"/>
            </a:xfrm>
          </p:grpSpPr>
          <p:sp>
            <p:nvSpPr>
              <p:cNvPr id="4" name="圆角矩形 3"/>
              <p:cNvSpPr>
                <a:spLocks noChangeAspect="1"/>
              </p:cNvSpPr>
              <p:nvPr/>
            </p:nvSpPr>
            <p:spPr>
              <a:xfrm>
                <a:off x="290945" y="346364"/>
                <a:ext cx="648000" cy="648000"/>
              </a:xfrm>
              <a:prstGeom prst="roundRect">
                <a:avLst/>
              </a:prstGeom>
              <a:noFill/>
              <a:ln w="539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 useBgFill="1">
            <p:nvSpPr>
              <p:cNvPr id="5" name="圆角矩形 4"/>
              <p:cNvSpPr>
                <a:spLocks noChangeAspect="1"/>
              </p:cNvSpPr>
              <p:nvPr/>
            </p:nvSpPr>
            <p:spPr>
              <a:xfrm>
                <a:off x="528654" y="526125"/>
                <a:ext cx="540000" cy="540000"/>
              </a:xfrm>
              <a:prstGeom prst="roundRect">
                <a:avLst/>
              </a:prstGeom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6" name="圆角矩形 5"/>
              <p:cNvSpPr>
                <a:spLocks noChangeAspect="1"/>
              </p:cNvSpPr>
              <p:nvPr/>
            </p:nvSpPr>
            <p:spPr>
              <a:xfrm>
                <a:off x="610035" y="606089"/>
                <a:ext cx="540000" cy="540000"/>
              </a:xfrm>
              <a:prstGeom prst="roundRect">
                <a:avLst/>
              </a:prstGeom>
              <a:solidFill>
                <a:srgbClr val="C00000"/>
              </a:solidFill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7" name="直接连接符 6"/>
            <p:cNvCxnSpPr/>
            <p:nvPr/>
          </p:nvCxnSpPr>
          <p:spPr>
            <a:xfrm>
              <a:off x="1227882" y="878865"/>
              <a:ext cx="5436000" cy="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26"/>
          <p:cNvSpPr txBox="1"/>
          <p:nvPr/>
        </p:nvSpPr>
        <p:spPr>
          <a:xfrm>
            <a:off x="941375" y="272323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itchFamily="34" charset="-122"/>
                <a:ea typeface="微软雅黑" pitchFamily="34" charset="-122"/>
              </a:rPr>
              <a:t>三、按键个数的选择问题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DB812F3-08BC-42E6-8D90-CA22A80C7CF1}"/>
              </a:ext>
            </a:extLst>
          </p:cNvPr>
          <p:cNvSpPr/>
          <p:nvPr/>
        </p:nvSpPr>
        <p:spPr>
          <a:xfrm>
            <a:off x="1048485" y="989599"/>
            <a:ext cx="3963782" cy="747298"/>
          </a:xfrm>
          <a:prstGeom prst="rect">
            <a:avLst/>
          </a:prstGeom>
          <a:gradFill>
            <a:gsLst>
              <a:gs pos="0">
                <a:srgbClr val="E30613">
                  <a:alpha val="79000"/>
                </a:srgbClr>
              </a:gs>
              <a:gs pos="100000">
                <a:srgbClr val="81040B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600" b="1" dirty="0"/>
              <a:t>5</a:t>
            </a:r>
            <a:r>
              <a:rPr lang="zh-CN" altLang="en-US" sz="2600" b="1" dirty="0"/>
              <a:t>个按键 </a:t>
            </a:r>
            <a:r>
              <a:rPr lang="en-US" altLang="zh-CN" sz="2600" b="1" dirty="0"/>
              <a:t>VS 2</a:t>
            </a:r>
            <a:r>
              <a:rPr lang="zh-CN" altLang="en-US" sz="2600" b="1" dirty="0"/>
              <a:t>个按键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649CA90-8667-4F02-A275-E1035D41556B}"/>
              </a:ext>
            </a:extLst>
          </p:cNvPr>
          <p:cNvGrpSpPr/>
          <p:nvPr/>
        </p:nvGrpSpPr>
        <p:grpSpPr>
          <a:xfrm>
            <a:off x="1155680" y="3674938"/>
            <a:ext cx="1058333" cy="1058333"/>
            <a:chOff x="1160717" y="3215277"/>
            <a:chExt cx="1058333" cy="1058333"/>
          </a:xfrm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CEDACFF0-30B8-46E3-8F97-0F2502E53DFE}"/>
                </a:ext>
              </a:extLst>
            </p:cNvPr>
            <p:cNvSpPr/>
            <p:nvPr/>
          </p:nvSpPr>
          <p:spPr>
            <a:xfrm>
              <a:off x="1160717" y="3215277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FAD67D36-4A06-4327-96B0-F5F0C53F17F7}"/>
                </a:ext>
              </a:extLst>
            </p:cNvPr>
            <p:cNvSpPr txBox="1"/>
            <p:nvPr/>
          </p:nvSpPr>
          <p:spPr>
            <a:xfrm>
              <a:off x="1160718" y="3543299"/>
              <a:ext cx="10583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chemeClr val="lt1"/>
                  </a:solidFill>
                </a:rPr>
                <a:t>SQUARE</a:t>
              </a:r>
              <a:endParaRPr lang="zh-CN" altLang="en-US" sz="2000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7770696-F948-4DA2-BB24-3749E8099FA4}"/>
              </a:ext>
            </a:extLst>
          </p:cNvPr>
          <p:cNvGrpSpPr/>
          <p:nvPr/>
        </p:nvGrpSpPr>
        <p:grpSpPr>
          <a:xfrm>
            <a:off x="4014135" y="3674938"/>
            <a:ext cx="1058333" cy="1058333"/>
            <a:chOff x="1017567" y="3215277"/>
            <a:chExt cx="1058333" cy="1058333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175B3CE8-3608-47A9-B1E5-77B3FB585920}"/>
                </a:ext>
              </a:extLst>
            </p:cNvPr>
            <p:cNvSpPr/>
            <p:nvPr/>
          </p:nvSpPr>
          <p:spPr>
            <a:xfrm>
              <a:off x="1017567" y="3215277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CD65DE96-796A-4994-9446-9D8D494E2061}"/>
                </a:ext>
              </a:extLst>
            </p:cNvPr>
            <p:cNvSpPr txBox="1"/>
            <p:nvPr/>
          </p:nvSpPr>
          <p:spPr>
            <a:xfrm>
              <a:off x="1228450" y="3543299"/>
              <a:ext cx="66531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chemeClr val="lt1"/>
                  </a:solidFill>
                </a:rPr>
                <a:t>SINE</a:t>
              </a:r>
              <a:endParaRPr lang="zh-CN" altLang="en-US" sz="2000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56B39EA-F90D-4E84-92E4-B088A3EC331D}"/>
              </a:ext>
            </a:extLst>
          </p:cNvPr>
          <p:cNvGrpSpPr/>
          <p:nvPr/>
        </p:nvGrpSpPr>
        <p:grpSpPr>
          <a:xfrm>
            <a:off x="7100133" y="3674938"/>
            <a:ext cx="1274719" cy="1058333"/>
            <a:chOff x="1245110" y="3216367"/>
            <a:chExt cx="1274719" cy="1058333"/>
          </a:xfrm>
        </p:grpSpPr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9D78E188-CB58-40DE-B363-CF6C2C26651C}"/>
                </a:ext>
              </a:extLst>
            </p:cNvPr>
            <p:cNvSpPr/>
            <p:nvPr/>
          </p:nvSpPr>
          <p:spPr>
            <a:xfrm>
              <a:off x="1269725" y="3216367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A6146BA2-40D2-4294-9914-AC4FE8EFA797}"/>
                </a:ext>
              </a:extLst>
            </p:cNvPr>
            <p:cNvSpPr txBox="1"/>
            <p:nvPr/>
          </p:nvSpPr>
          <p:spPr>
            <a:xfrm>
              <a:off x="1245110" y="3543299"/>
              <a:ext cx="12747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lt1"/>
                  </a:solidFill>
                </a:rPr>
                <a:t>TRIANGLE</a:t>
              </a:r>
              <a:endParaRPr lang="zh-CN" altLang="en-US" b="1" dirty="0">
                <a:solidFill>
                  <a:schemeClr val="lt1"/>
                </a:solidFill>
              </a:endParaRPr>
            </a:p>
          </p:txBody>
        </p:sp>
      </p:grp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28E3B33-D03E-40A9-864D-EFFF77BB6676}"/>
              </a:ext>
            </a:extLst>
          </p:cNvPr>
          <p:cNvCxnSpPr>
            <a:cxnSpLocks/>
            <a:stCxn id="12" idx="6"/>
            <a:endCxn id="16" idx="2"/>
          </p:cNvCxnSpPr>
          <p:nvPr/>
        </p:nvCxnSpPr>
        <p:spPr>
          <a:xfrm>
            <a:off x="2214013" y="4204105"/>
            <a:ext cx="1800122" cy="0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DC575835-E1A1-4ED3-9997-769E51250AB9}"/>
              </a:ext>
            </a:extLst>
          </p:cNvPr>
          <p:cNvCxnSpPr>
            <a:cxnSpLocks/>
            <a:stCxn id="16" idx="6"/>
            <a:endCxn id="19" idx="2"/>
          </p:cNvCxnSpPr>
          <p:nvPr/>
        </p:nvCxnSpPr>
        <p:spPr>
          <a:xfrm>
            <a:off x="5072468" y="4204105"/>
            <a:ext cx="2052280" cy="0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34C761EE-6EC3-4FA9-A214-61C18EE2E4BD}"/>
              </a:ext>
            </a:extLst>
          </p:cNvPr>
          <p:cNvGrpSpPr/>
          <p:nvPr/>
        </p:nvGrpSpPr>
        <p:grpSpPr>
          <a:xfrm>
            <a:off x="1255385" y="1847630"/>
            <a:ext cx="958627" cy="858920"/>
            <a:chOff x="1178806" y="3249990"/>
            <a:chExt cx="1181189" cy="1058333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DED81723-3A19-4372-A32B-3A84B4085C0F}"/>
                </a:ext>
              </a:extLst>
            </p:cNvPr>
            <p:cNvSpPr/>
            <p:nvPr/>
          </p:nvSpPr>
          <p:spPr>
            <a:xfrm>
              <a:off x="1178806" y="3249990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7FAD0AAC-276B-4CDB-A517-00FFF5874E27}"/>
                </a:ext>
              </a:extLst>
            </p:cNvPr>
            <p:cNvSpPr txBox="1"/>
            <p:nvPr/>
          </p:nvSpPr>
          <p:spPr>
            <a:xfrm>
              <a:off x="1178806" y="3496258"/>
              <a:ext cx="1181189" cy="51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SQUARE_</a:t>
              </a:r>
            </a:p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FREQUENCE</a:t>
              </a:r>
              <a:endParaRPr lang="zh-CN" altLang="en-US" sz="1050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96004373-5F20-4BB2-8602-DFA563F58FF9}"/>
              </a:ext>
            </a:extLst>
          </p:cNvPr>
          <p:cNvGrpSpPr/>
          <p:nvPr/>
        </p:nvGrpSpPr>
        <p:grpSpPr>
          <a:xfrm>
            <a:off x="197051" y="2670794"/>
            <a:ext cx="958627" cy="858920"/>
            <a:chOff x="1178806" y="3249990"/>
            <a:chExt cx="1181189" cy="1058333"/>
          </a:xfrm>
        </p:grpSpPr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68B80BDF-D20E-49B7-A29D-6F62E1509156}"/>
                </a:ext>
              </a:extLst>
            </p:cNvPr>
            <p:cNvSpPr/>
            <p:nvPr/>
          </p:nvSpPr>
          <p:spPr>
            <a:xfrm>
              <a:off x="1178806" y="3249990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E86B018E-2E9C-4DF1-AD2F-57D848D2B4CF}"/>
                </a:ext>
              </a:extLst>
            </p:cNvPr>
            <p:cNvSpPr txBox="1"/>
            <p:nvPr/>
          </p:nvSpPr>
          <p:spPr>
            <a:xfrm>
              <a:off x="1178806" y="3496258"/>
              <a:ext cx="1181189" cy="51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SQUARE_</a:t>
              </a:r>
            </a:p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AMPLITUDE</a:t>
              </a:r>
              <a:endParaRPr lang="zh-CN" altLang="en-US" sz="1050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429D135B-56C9-4AE2-BDC7-F5EE92064408}"/>
              </a:ext>
            </a:extLst>
          </p:cNvPr>
          <p:cNvGrpSpPr/>
          <p:nvPr/>
        </p:nvGrpSpPr>
        <p:grpSpPr>
          <a:xfrm>
            <a:off x="197050" y="4818291"/>
            <a:ext cx="958627" cy="858920"/>
            <a:chOff x="1178806" y="3249990"/>
            <a:chExt cx="1181189" cy="1058333"/>
          </a:xfrm>
        </p:grpSpPr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7858A9FB-AFF8-4B78-A0F4-EA7FF88620D2}"/>
                </a:ext>
              </a:extLst>
            </p:cNvPr>
            <p:cNvSpPr/>
            <p:nvPr/>
          </p:nvSpPr>
          <p:spPr>
            <a:xfrm>
              <a:off x="1178806" y="3249990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F2BA23AD-B891-4159-8CFA-8FC490C83568}"/>
                </a:ext>
              </a:extLst>
            </p:cNvPr>
            <p:cNvSpPr txBox="1"/>
            <p:nvPr/>
          </p:nvSpPr>
          <p:spPr>
            <a:xfrm>
              <a:off x="1178806" y="3496258"/>
              <a:ext cx="1181189" cy="51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SQUARE_</a:t>
              </a:r>
            </a:p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OFFSET</a:t>
              </a:r>
              <a:endParaRPr lang="zh-CN" altLang="en-US" sz="1050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621B3782-25BA-42F7-AC2D-2D93A81330E7}"/>
              </a:ext>
            </a:extLst>
          </p:cNvPr>
          <p:cNvGrpSpPr/>
          <p:nvPr/>
        </p:nvGrpSpPr>
        <p:grpSpPr>
          <a:xfrm>
            <a:off x="1253484" y="5921806"/>
            <a:ext cx="958627" cy="858920"/>
            <a:chOff x="1178806" y="3249990"/>
            <a:chExt cx="1181189" cy="1058333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928746F5-7354-436E-99F6-987CD968FF8F}"/>
                </a:ext>
              </a:extLst>
            </p:cNvPr>
            <p:cNvSpPr/>
            <p:nvPr/>
          </p:nvSpPr>
          <p:spPr>
            <a:xfrm>
              <a:off x="1178806" y="3249990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2A371112-841A-41D0-A858-F0872CD00855}"/>
                </a:ext>
              </a:extLst>
            </p:cNvPr>
            <p:cNvSpPr txBox="1"/>
            <p:nvPr/>
          </p:nvSpPr>
          <p:spPr>
            <a:xfrm>
              <a:off x="1178806" y="3496258"/>
              <a:ext cx="1181189" cy="51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SQUARE_</a:t>
              </a:r>
            </a:p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DUTY</a:t>
              </a:r>
              <a:endParaRPr lang="zh-CN" altLang="en-US" sz="1050" b="1" dirty="0">
                <a:solidFill>
                  <a:schemeClr val="lt1"/>
                </a:solidFill>
              </a:endParaRPr>
            </a:p>
          </p:txBody>
        </p:sp>
      </p:grp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CEE16CD6-1A70-45DE-9DB5-F2D2EF14492D}"/>
              </a:ext>
            </a:extLst>
          </p:cNvPr>
          <p:cNvCxnSpPr>
            <a:cxnSpLocks/>
            <a:stCxn id="12" idx="0"/>
            <a:endCxn id="24" idx="4"/>
          </p:cNvCxnSpPr>
          <p:nvPr/>
        </p:nvCxnSpPr>
        <p:spPr>
          <a:xfrm flipH="1" flipV="1">
            <a:off x="1684845" y="2706550"/>
            <a:ext cx="2" cy="968388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F8AE2388-E7B6-4E8A-8659-EDEFAA223D6D}"/>
              </a:ext>
            </a:extLst>
          </p:cNvPr>
          <p:cNvCxnSpPr>
            <a:cxnSpLocks/>
            <a:stCxn id="24" idx="3"/>
          </p:cNvCxnSpPr>
          <p:nvPr/>
        </p:nvCxnSpPr>
        <p:spPr>
          <a:xfrm flipH="1">
            <a:off x="999177" y="2580764"/>
            <a:ext cx="381994" cy="317444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87670B7E-7807-4707-B1BA-3A8EF2E3CF7F}"/>
              </a:ext>
            </a:extLst>
          </p:cNvPr>
          <p:cNvCxnSpPr>
            <a:cxnSpLocks/>
          </p:cNvCxnSpPr>
          <p:nvPr/>
        </p:nvCxnSpPr>
        <p:spPr>
          <a:xfrm>
            <a:off x="512031" y="3497032"/>
            <a:ext cx="3868" cy="1402305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4458B73D-578C-4485-8CED-73CED060B051}"/>
              </a:ext>
            </a:extLst>
          </p:cNvPr>
          <p:cNvCxnSpPr>
            <a:cxnSpLocks/>
          </p:cNvCxnSpPr>
          <p:nvPr/>
        </p:nvCxnSpPr>
        <p:spPr>
          <a:xfrm flipH="1" flipV="1">
            <a:off x="1815451" y="4678352"/>
            <a:ext cx="1826" cy="1243454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F4AA08BF-6614-4516-B1C9-BC5D6835E2B1}"/>
              </a:ext>
            </a:extLst>
          </p:cNvPr>
          <p:cNvGrpSpPr/>
          <p:nvPr/>
        </p:nvGrpSpPr>
        <p:grpSpPr>
          <a:xfrm>
            <a:off x="2792325" y="2335125"/>
            <a:ext cx="958627" cy="858920"/>
            <a:chOff x="1178806" y="3249990"/>
            <a:chExt cx="1181189" cy="1058333"/>
          </a:xfrm>
        </p:grpSpPr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3FADF801-94C5-41B9-AC42-5D70EEC28246}"/>
                </a:ext>
              </a:extLst>
            </p:cNvPr>
            <p:cNvSpPr/>
            <p:nvPr/>
          </p:nvSpPr>
          <p:spPr>
            <a:xfrm>
              <a:off x="1178806" y="3249990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56387F09-CD78-47F5-8E4B-24C2F1847B63}"/>
                </a:ext>
              </a:extLst>
            </p:cNvPr>
            <p:cNvSpPr txBox="1"/>
            <p:nvPr/>
          </p:nvSpPr>
          <p:spPr>
            <a:xfrm>
              <a:off x="1178806" y="3496258"/>
              <a:ext cx="1181189" cy="51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SINE_</a:t>
              </a:r>
            </a:p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FREQUENCE</a:t>
              </a:r>
              <a:endParaRPr lang="zh-CN" altLang="en-US" sz="1050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AD78CC7E-F3C5-4FC4-B936-ABC4E476B3F0}"/>
              </a:ext>
            </a:extLst>
          </p:cNvPr>
          <p:cNvGrpSpPr/>
          <p:nvPr/>
        </p:nvGrpSpPr>
        <p:grpSpPr>
          <a:xfrm>
            <a:off x="4112233" y="1674225"/>
            <a:ext cx="958627" cy="858920"/>
            <a:chOff x="1178806" y="3249990"/>
            <a:chExt cx="1181189" cy="1058333"/>
          </a:xfrm>
        </p:grpSpPr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E4368097-FCE0-418F-B080-898F8025D41E}"/>
                </a:ext>
              </a:extLst>
            </p:cNvPr>
            <p:cNvSpPr/>
            <p:nvPr/>
          </p:nvSpPr>
          <p:spPr>
            <a:xfrm>
              <a:off x="1178806" y="3249990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C140BC39-0EE6-4132-A0C7-24C40C81BDCE}"/>
                </a:ext>
              </a:extLst>
            </p:cNvPr>
            <p:cNvSpPr txBox="1"/>
            <p:nvPr/>
          </p:nvSpPr>
          <p:spPr>
            <a:xfrm>
              <a:off x="1178806" y="3496258"/>
              <a:ext cx="1181189" cy="51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SINE_</a:t>
              </a:r>
            </a:p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AMPLITUDE</a:t>
              </a:r>
              <a:endParaRPr lang="zh-CN" altLang="en-US" sz="1050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83E96C79-247A-4590-AC20-05EF52369D97}"/>
              </a:ext>
            </a:extLst>
          </p:cNvPr>
          <p:cNvGrpSpPr/>
          <p:nvPr/>
        </p:nvGrpSpPr>
        <p:grpSpPr>
          <a:xfrm>
            <a:off x="5334702" y="2427238"/>
            <a:ext cx="958627" cy="858920"/>
            <a:chOff x="1083252" y="3597634"/>
            <a:chExt cx="1181189" cy="1058333"/>
          </a:xfrm>
        </p:grpSpPr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C4F61917-DE50-45A3-B17F-5EAD76458C19}"/>
                </a:ext>
              </a:extLst>
            </p:cNvPr>
            <p:cNvSpPr/>
            <p:nvPr/>
          </p:nvSpPr>
          <p:spPr>
            <a:xfrm>
              <a:off x="1157782" y="3597634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C2549787-B231-42AD-8611-0720DC207BC0}"/>
                </a:ext>
              </a:extLst>
            </p:cNvPr>
            <p:cNvSpPr txBox="1"/>
            <p:nvPr/>
          </p:nvSpPr>
          <p:spPr>
            <a:xfrm>
              <a:off x="1083252" y="3811553"/>
              <a:ext cx="1181189" cy="51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SINE_</a:t>
              </a:r>
            </a:p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OFFSET</a:t>
              </a:r>
              <a:endParaRPr lang="zh-CN" altLang="en-US" sz="1050" b="1" dirty="0">
                <a:solidFill>
                  <a:schemeClr val="lt1"/>
                </a:solidFill>
              </a:endParaRPr>
            </a:p>
          </p:txBody>
        </p:sp>
      </p:grp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72AA51FA-0D72-490E-95EE-2E92D6911712}"/>
              </a:ext>
            </a:extLst>
          </p:cNvPr>
          <p:cNvCxnSpPr>
            <a:cxnSpLocks/>
            <a:stCxn id="16" idx="1"/>
            <a:endCxn id="45" idx="4"/>
          </p:cNvCxnSpPr>
          <p:nvPr/>
        </p:nvCxnSpPr>
        <p:spPr>
          <a:xfrm flipH="1" flipV="1">
            <a:off x="3221785" y="3194045"/>
            <a:ext cx="947339" cy="635882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5DFCD15F-9786-414E-868E-7C0DB1FF1ED4}"/>
              </a:ext>
            </a:extLst>
          </p:cNvPr>
          <p:cNvCxnSpPr>
            <a:cxnSpLocks/>
            <a:stCxn id="45" idx="7"/>
          </p:cNvCxnSpPr>
          <p:nvPr/>
        </p:nvCxnSpPr>
        <p:spPr>
          <a:xfrm flipV="1">
            <a:off x="3525459" y="2125035"/>
            <a:ext cx="497796" cy="335876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24766307-7FA0-43C3-9040-B60A5E711B92}"/>
              </a:ext>
            </a:extLst>
          </p:cNvPr>
          <p:cNvCxnSpPr>
            <a:cxnSpLocks/>
            <a:endCxn id="51" idx="1"/>
          </p:cNvCxnSpPr>
          <p:nvPr/>
        </p:nvCxnSpPr>
        <p:spPr>
          <a:xfrm>
            <a:off x="4870792" y="2367697"/>
            <a:ext cx="650183" cy="185327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C0CDAD9A-3E9F-4852-8E71-0AEEBCFE694A}"/>
              </a:ext>
            </a:extLst>
          </p:cNvPr>
          <p:cNvCxnSpPr>
            <a:cxnSpLocks/>
            <a:stCxn id="51" idx="3"/>
            <a:endCxn id="16" idx="7"/>
          </p:cNvCxnSpPr>
          <p:nvPr/>
        </p:nvCxnSpPr>
        <p:spPr>
          <a:xfrm flipH="1">
            <a:off x="4917479" y="3160372"/>
            <a:ext cx="603496" cy="669555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9FBA01DC-790F-4EFA-B4B2-BB423C29E6ED}"/>
              </a:ext>
            </a:extLst>
          </p:cNvPr>
          <p:cNvGrpSpPr/>
          <p:nvPr/>
        </p:nvGrpSpPr>
        <p:grpSpPr>
          <a:xfrm>
            <a:off x="6177191" y="4854193"/>
            <a:ext cx="958627" cy="858920"/>
            <a:chOff x="1178806" y="3249990"/>
            <a:chExt cx="1181189" cy="1058333"/>
          </a:xfrm>
        </p:grpSpPr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6352E425-B9EE-4B1A-B039-987125894716}"/>
                </a:ext>
              </a:extLst>
            </p:cNvPr>
            <p:cNvSpPr/>
            <p:nvPr/>
          </p:nvSpPr>
          <p:spPr>
            <a:xfrm>
              <a:off x="1178806" y="3249990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98915CF3-B2C2-404E-9031-770D11CAF49F}"/>
                </a:ext>
              </a:extLst>
            </p:cNvPr>
            <p:cNvSpPr txBox="1"/>
            <p:nvPr/>
          </p:nvSpPr>
          <p:spPr>
            <a:xfrm>
              <a:off x="1178806" y="3496258"/>
              <a:ext cx="1181189" cy="51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TRIANGLE_</a:t>
              </a:r>
            </a:p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FREQUENCE</a:t>
              </a:r>
              <a:endParaRPr lang="zh-CN" altLang="en-US" sz="1050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5F775F3B-06FA-487F-974B-176365BDF485}"/>
              </a:ext>
            </a:extLst>
          </p:cNvPr>
          <p:cNvGrpSpPr/>
          <p:nvPr/>
        </p:nvGrpSpPr>
        <p:grpSpPr>
          <a:xfrm>
            <a:off x="7174600" y="5899961"/>
            <a:ext cx="958627" cy="858920"/>
            <a:chOff x="1178806" y="3249990"/>
            <a:chExt cx="1181189" cy="1058333"/>
          </a:xfrm>
        </p:grpSpPr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B0884E3E-F2DF-4C52-BCF7-3F376F319082}"/>
                </a:ext>
              </a:extLst>
            </p:cNvPr>
            <p:cNvSpPr/>
            <p:nvPr/>
          </p:nvSpPr>
          <p:spPr>
            <a:xfrm>
              <a:off x="1178806" y="3249990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EE820529-C1CA-4951-AD1B-C38E78D6176B}"/>
                </a:ext>
              </a:extLst>
            </p:cNvPr>
            <p:cNvSpPr txBox="1"/>
            <p:nvPr/>
          </p:nvSpPr>
          <p:spPr>
            <a:xfrm>
              <a:off x="1178806" y="3496258"/>
              <a:ext cx="1181189" cy="51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TRIANGLE_</a:t>
              </a:r>
            </a:p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AMPLITUDE</a:t>
              </a: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B32DD418-1C4D-4FF8-99A6-5C0FF37176B5}"/>
              </a:ext>
            </a:extLst>
          </p:cNvPr>
          <p:cNvGrpSpPr/>
          <p:nvPr/>
        </p:nvGrpSpPr>
        <p:grpSpPr>
          <a:xfrm>
            <a:off x="8213816" y="4899337"/>
            <a:ext cx="958627" cy="858920"/>
            <a:chOff x="1178806" y="3249990"/>
            <a:chExt cx="1181189" cy="1058333"/>
          </a:xfrm>
        </p:grpSpPr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B84009F3-570E-416F-B722-B25FFB7EAA62}"/>
                </a:ext>
              </a:extLst>
            </p:cNvPr>
            <p:cNvSpPr/>
            <p:nvPr/>
          </p:nvSpPr>
          <p:spPr>
            <a:xfrm>
              <a:off x="1178806" y="3249990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F7F951B6-5030-4FC1-9B1A-5DCBAFB7436D}"/>
                </a:ext>
              </a:extLst>
            </p:cNvPr>
            <p:cNvSpPr txBox="1"/>
            <p:nvPr/>
          </p:nvSpPr>
          <p:spPr>
            <a:xfrm>
              <a:off x="1178806" y="3496258"/>
              <a:ext cx="1181189" cy="51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TRIANGLE_</a:t>
              </a:r>
            </a:p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OFFSET</a:t>
              </a:r>
              <a:endParaRPr lang="zh-CN" altLang="en-US" sz="1050" b="1" dirty="0">
                <a:solidFill>
                  <a:schemeClr val="lt1"/>
                </a:solidFill>
              </a:endParaRPr>
            </a:p>
          </p:txBody>
        </p:sp>
      </p:grp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257CAFE9-B7DC-4631-A28F-A22ABB332588}"/>
              </a:ext>
            </a:extLst>
          </p:cNvPr>
          <p:cNvCxnSpPr>
            <a:cxnSpLocks/>
            <a:stCxn id="63" idx="1"/>
            <a:endCxn id="60" idx="5"/>
          </p:cNvCxnSpPr>
          <p:nvPr/>
        </p:nvCxnSpPr>
        <p:spPr>
          <a:xfrm flipH="1" flipV="1">
            <a:off x="6910325" y="5587327"/>
            <a:ext cx="390061" cy="438420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B40AA189-0234-4F09-9D14-7A3B5F83C486}"/>
              </a:ext>
            </a:extLst>
          </p:cNvPr>
          <p:cNvCxnSpPr>
            <a:cxnSpLocks/>
            <a:stCxn id="66" idx="3"/>
          </p:cNvCxnSpPr>
          <p:nvPr/>
        </p:nvCxnSpPr>
        <p:spPr>
          <a:xfrm flipH="1">
            <a:off x="7890516" y="5632471"/>
            <a:ext cx="449086" cy="489201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C9718FB6-4F4C-441A-8EB3-65B16129D4CE}"/>
              </a:ext>
            </a:extLst>
          </p:cNvPr>
          <p:cNvCxnSpPr>
            <a:cxnSpLocks/>
            <a:stCxn id="19" idx="5"/>
            <a:endCxn id="66" idx="0"/>
          </p:cNvCxnSpPr>
          <p:nvPr/>
        </p:nvCxnSpPr>
        <p:spPr>
          <a:xfrm>
            <a:off x="8028092" y="4578282"/>
            <a:ext cx="615184" cy="321055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7F71379B-9328-4729-BFFC-4031D488216B}"/>
              </a:ext>
            </a:extLst>
          </p:cNvPr>
          <p:cNvCxnSpPr>
            <a:cxnSpLocks/>
            <a:stCxn id="31" idx="5"/>
            <a:endCxn id="34" idx="1"/>
          </p:cNvCxnSpPr>
          <p:nvPr/>
        </p:nvCxnSpPr>
        <p:spPr>
          <a:xfrm>
            <a:off x="930184" y="5551425"/>
            <a:ext cx="449086" cy="496167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849D2430-B05E-4E8A-84D1-F5E229826AD2}"/>
              </a:ext>
            </a:extLst>
          </p:cNvPr>
          <p:cNvCxnSpPr>
            <a:cxnSpLocks/>
            <a:endCxn id="19" idx="3"/>
          </p:cNvCxnSpPr>
          <p:nvPr/>
        </p:nvCxnSpPr>
        <p:spPr>
          <a:xfrm flipV="1">
            <a:off x="6696799" y="4578282"/>
            <a:ext cx="582938" cy="354620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连接符: 曲线 113">
            <a:extLst>
              <a:ext uri="{FF2B5EF4-FFF2-40B4-BE49-F238E27FC236}">
                <a16:creationId xmlns:a16="http://schemas.microsoft.com/office/drawing/2014/main" id="{9D324CCC-D18B-470F-AAC5-1637ED252F95}"/>
              </a:ext>
            </a:extLst>
          </p:cNvPr>
          <p:cNvCxnSpPr>
            <a:stCxn id="20" idx="1"/>
            <a:endCxn id="12" idx="5"/>
          </p:cNvCxnSpPr>
          <p:nvPr/>
        </p:nvCxnSpPr>
        <p:spPr>
          <a:xfrm rot="10800000" flipV="1">
            <a:off x="2059025" y="4186536"/>
            <a:ext cx="5041109" cy="391746"/>
          </a:xfrm>
          <a:prstGeom prst="curvedConnector4">
            <a:avLst>
              <a:gd name="adj1" fmla="val -2426"/>
              <a:gd name="adj2" fmla="val 169822"/>
            </a:avLst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703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3365381"/>
            <a:ext cx="9144000" cy="102841"/>
          </a:xfrm>
          <a:prstGeom prst="rect">
            <a:avLst/>
          </a:prstGeom>
          <a:gradFill>
            <a:gsLst>
              <a:gs pos="0">
                <a:srgbClr val="E30613"/>
              </a:gs>
              <a:gs pos="100000">
                <a:srgbClr val="81040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6" name="组合 105"/>
          <p:cNvGrpSpPr/>
          <p:nvPr/>
        </p:nvGrpSpPr>
        <p:grpSpPr>
          <a:xfrm>
            <a:off x="3901506" y="3838139"/>
            <a:ext cx="3856500" cy="1208703"/>
            <a:chOff x="322748" y="3665374"/>
            <a:chExt cx="5680529" cy="1027864"/>
          </a:xfrm>
        </p:grpSpPr>
        <p:sp>
          <p:nvSpPr>
            <p:cNvPr id="108" name="圆角矩形 107"/>
            <p:cNvSpPr/>
            <p:nvPr/>
          </p:nvSpPr>
          <p:spPr>
            <a:xfrm>
              <a:off x="322748" y="3665374"/>
              <a:ext cx="5680529" cy="1027864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bg1"/>
                </a:gs>
                <a:gs pos="100000">
                  <a:srgbClr val="D1D1D1"/>
                </a:gs>
              </a:gsLst>
              <a:lin ang="5400000" scaled="0"/>
            </a:gradFill>
            <a:ln>
              <a:noFill/>
            </a:ln>
            <a:effectLst>
              <a:outerShdw blurRad="127000" dist="508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圆角矩形 108"/>
            <p:cNvSpPr/>
            <p:nvPr/>
          </p:nvSpPr>
          <p:spPr>
            <a:xfrm>
              <a:off x="516699" y="3785998"/>
              <a:ext cx="5277329" cy="784227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bg1"/>
                </a:gs>
                <a:gs pos="100000">
                  <a:srgbClr val="D1D1D1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7" name="文本框 106"/>
          <p:cNvSpPr txBox="1"/>
          <p:nvPr/>
        </p:nvSpPr>
        <p:spPr>
          <a:xfrm>
            <a:off x="4572000" y="4056364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创新创意</a:t>
            </a:r>
            <a:endParaRPr lang="zh-CN" altLang="en-US" sz="4400" dirty="0">
              <a:solidFill>
                <a:schemeClr val="bg2">
                  <a:lumMod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6963"/>
            <a:ext cx="9144000" cy="1828800"/>
          </a:xfrm>
          <a:prstGeom prst="rect">
            <a:avLst/>
          </a:prstGeom>
        </p:spPr>
      </p:pic>
      <p:grpSp>
        <p:nvGrpSpPr>
          <p:cNvPr id="16" name="组合 15"/>
          <p:cNvGrpSpPr>
            <a:grpSpLocks noChangeAspect="1"/>
          </p:cNvGrpSpPr>
          <p:nvPr/>
        </p:nvGrpSpPr>
        <p:grpSpPr>
          <a:xfrm>
            <a:off x="708753" y="2932759"/>
            <a:ext cx="2484000" cy="2484000"/>
            <a:chOff x="836778" y="1675054"/>
            <a:chExt cx="2004782" cy="2673043"/>
          </a:xfrm>
        </p:grpSpPr>
        <p:sp>
          <p:nvSpPr>
            <p:cNvPr id="17" name="椭圆 16"/>
            <p:cNvSpPr/>
            <p:nvPr/>
          </p:nvSpPr>
          <p:spPr>
            <a:xfrm>
              <a:off x="836778" y="1675054"/>
              <a:ext cx="2004782" cy="2673043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  <a:ln w="19050">
              <a:gradFill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1"/>
              </a:gradFill>
            </a:ln>
            <a:effectLst>
              <a:outerShdw blurRad="279400" dist="152400" dir="2700000" sx="102000" sy="102000" algn="tl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1034165" y="1914547"/>
              <a:ext cx="1631179" cy="2174905"/>
              <a:chOff x="3739822" y="2440887"/>
              <a:chExt cx="1970936" cy="1970936"/>
            </a:xfrm>
          </p:grpSpPr>
          <p:sp>
            <p:nvSpPr>
              <p:cNvPr id="19" name="圆角矩形 18"/>
              <p:cNvSpPr/>
              <p:nvPr/>
            </p:nvSpPr>
            <p:spPr>
              <a:xfrm>
                <a:off x="3739822" y="2440887"/>
                <a:ext cx="1970936" cy="1970936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100000">
                    <a:schemeClr val="bg1"/>
                  </a:gs>
                  <a:gs pos="0">
                    <a:srgbClr val="B8BBBC"/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0" name="椭圆 19"/>
              <p:cNvSpPr>
                <a:spLocks noChangeAspect="1"/>
              </p:cNvSpPr>
              <p:nvPr/>
            </p:nvSpPr>
            <p:spPr>
              <a:xfrm>
                <a:off x="3837054" y="2549460"/>
                <a:ext cx="1776466" cy="1776466"/>
              </a:xfrm>
              <a:prstGeom prst="ellipse">
                <a:avLst/>
              </a:prstGeom>
              <a:gradFill>
                <a:gsLst>
                  <a:gs pos="0">
                    <a:srgbClr val="E30613"/>
                  </a:gs>
                  <a:gs pos="100000">
                    <a:srgbClr val="81040B"/>
                  </a:gs>
                </a:gsLst>
                <a:lin ang="5400000" scaled="1"/>
              </a:gra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8000" dirty="0">
                  <a:latin typeface="Arial Black" panose="020B0A04020102020204" pitchFamily="34" charset="0"/>
                </a:endParaRPr>
              </a:p>
            </p:txBody>
          </p:sp>
        </p:grpSp>
      </p:grpSp>
      <p:sp>
        <p:nvSpPr>
          <p:cNvPr id="3" name="矩形 2"/>
          <p:cNvSpPr/>
          <p:nvPr/>
        </p:nvSpPr>
        <p:spPr>
          <a:xfrm>
            <a:off x="1187049" y="3548892"/>
            <a:ext cx="1553631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8000" dirty="0">
                <a:solidFill>
                  <a:schemeClr val="bg1"/>
                </a:solidFill>
                <a:latin typeface="Arial Black" panose="020B0A04020102020204" pitchFamily="34" charset="0"/>
              </a:rPr>
              <a:t>05</a:t>
            </a:r>
            <a:endParaRPr lang="zh-CN" altLang="en-US" sz="8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22" name="Picture 2" descr="E:\Hou\信息化建设\web\校徽相关\xjtu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63" t="-1001" r="53439" b="77637"/>
          <a:stretch/>
        </p:blipFill>
        <p:spPr bwMode="auto">
          <a:xfrm>
            <a:off x="199951" y="237148"/>
            <a:ext cx="2674751" cy="747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9123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54206" y="299118"/>
            <a:ext cx="8435588" cy="589667"/>
            <a:chOff x="533603" y="299118"/>
            <a:chExt cx="8435588" cy="589667"/>
          </a:xfrm>
        </p:grpSpPr>
        <p:pic>
          <p:nvPicPr>
            <p:cNvPr id="2" name="Picture 2" descr="E:\Hou\信息化建设\web\校徽相关\xjtu.pn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463" t="-1001" r="53439" b="77637"/>
            <a:stretch/>
          </p:blipFill>
          <p:spPr bwMode="auto">
            <a:xfrm>
              <a:off x="6858003" y="299118"/>
              <a:ext cx="2111188" cy="5896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" name="组合 2"/>
            <p:cNvGrpSpPr/>
            <p:nvPr/>
          </p:nvGrpSpPr>
          <p:grpSpPr>
            <a:xfrm>
              <a:off x="533603" y="473621"/>
              <a:ext cx="435327" cy="405245"/>
              <a:chOff x="290945" y="346364"/>
              <a:chExt cx="859090" cy="799725"/>
            </a:xfrm>
          </p:grpSpPr>
          <p:sp>
            <p:nvSpPr>
              <p:cNvPr id="4" name="圆角矩形 3"/>
              <p:cNvSpPr>
                <a:spLocks noChangeAspect="1"/>
              </p:cNvSpPr>
              <p:nvPr/>
            </p:nvSpPr>
            <p:spPr>
              <a:xfrm>
                <a:off x="290945" y="346364"/>
                <a:ext cx="648000" cy="648000"/>
              </a:xfrm>
              <a:prstGeom prst="roundRect">
                <a:avLst/>
              </a:prstGeom>
              <a:noFill/>
              <a:ln w="539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 useBgFill="1">
            <p:nvSpPr>
              <p:cNvPr id="5" name="圆角矩形 4"/>
              <p:cNvSpPr>
                <a:spLocks noChangeAspect="1"/>
              </p:cNvSpPr>
              <p:nvPr/>
            </p:nvSpPr>
            <p:spPr>
              <a:xfrm>
                <a:off x="528654" y="526125"/>
                <a:ext cx="540000" cy="540000"/>
              </a:xfrm>
              <a:prstGeom prst="roundRect">
                <a:avLst/>
              </a:prstGeom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6" name="圆角矩形 5"/>
              <p:cNvSpPr>
                <a:spLocks noChangeAspect="1"/>
              </p:cNvSpPr>
              <p:nvPr/>
            </p:nvSpPr>
            <p:spPr>
              <a:xfrm>
                <a:off x="610035" y="606089"/>
                <a:ext cx="540000" cy="540000"/>
              </a:xfrm>
              <a:prstGeom prst="roundRect">
                <a:avLst/>
              </a:prstGeom>
              <a:solidFill>
                <a:srgbClr val="C00000"/>
              </a:solidFill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7" name="直接连接符 6"/>
            <p:cNvCxnSpPr/>
            <p:nvPr/>
          </p:nvCxnSpPr>
          <p:spPr>
            <a:xfrm>
              <a:off x="1227882" y="878865"/>
              <a:ext cx="5436000" cy="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26"/>
          <p:cNvSpPr txBox="1"/>
          <p:nvPr/>
        </p:nvSpPr>
        <p:spPr>
          <a:xfrm>
            <a:off x="941375" y="272323"/>
            <a:ext cx="46650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itchFamily="34" charset="-122"/>
                <a:ea typeface="微软雅黑" pitchFamily="34" charset="-122"/>
              </a:rPr>
              <a:t>一、利用</a:t>
            </a:r>
            <a:r>
              <a:rPr lang="en-US" altLang="zh-CN" sz="3200" b="1" dirty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itchFamily="34" charset="-122"/>
                <a:ea typeface="微软雅黑" pitchFamily="34" charset="-122"/>
              </a:rPr>
              <a:t>XADC</a:t>
            </a:r>
            <a:r>
              <a:rPr lang="zh-CN" altLang="en-US" sz="3200" b="1" dirty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itchFamily="34" charset="-122"/>
                <a:ea typeface="微软雅黑" pitchFamily="34" charset="-122"/>
              </a:rPr>
              <a:t>调节大小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DB812F3-08BC-42E6-8D90-CA22A80C7CF1}"/>
              </a:ext>
            </a:extLst>
          </p:cNvPr>
          <p:cNvSpPr/>
          <p:nvPr/>
        </p:nvSpPr>
        <p:spPr>
          <a:xfrm>
            <a:off x="1548709" y="1868995"/>
            <a:ext cx="6046582" cy="762961"/>
          </a:xfrm>
          <a:prstGeom prst="rect">
            <a:avLst/>
          </a:prstGeom>
          <a:gradFill>
            <a:gsLst>
              <a:gs pos="0">
                <a:srgbClr val="E30613">
                  <a:alpha val="79000"/>
                </a:srgbClr>
              </a:gs>
              <a:gs pos="100000">
                <a:srgbClr val="81040B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600" b="1" dirty="0"/>
              <a:t>XADC</a:t>
            </a:r>
            <a:r>
              <a:rPr lang="zh-CN" altLang="en-US" sz="2600" b="1" dirty="0"/>
              <a:t>对频率、幅值、偏移、占空比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CFD32B-60F8-454A-B54C-683B1D5296A9}"/>
              </a:ext>
            </a:extLst>
          </p:cNvPr>
          <p:cNvSpPr/>
          <p:nvPr/>
        </p:nvSpPr>
        <p:spPr>
          <a:xfrm>
            <a:off x="1548709" y="3122061"/>
            <a:ext cx="6046582" cy="762961"/>
          </a:xfrm>
          <a:prstGeom prst="rect">
            <a:avLst/>
          </a:prstGeom>
          <a:gradFill>
            <a:gsLst>
              <a:gs pos="0">
                <a:srgbClr val="E30613">
                  <a:alpha val="79000"/>
                </a:srgbClr>
              </a:gs>
              <a:gs pos="100000">
                <a:srgbClr val="81040B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00" b="1" dirty="0"/>
              <a:t>大范围的连续</a:t>
            </a:r>
            <a:r>
              <a:rPr lang="en-US" altLang="zh-CN" sz="2600" b="1" dirty="0"/>
              <a:t>(</a:t>
            </a:r>
            <a:r>
              <a:rPr lang="zh-CN" altLang="en-US" sz="2600" b="1" dirty="0"/>
              <a:t>相对</a:t>
            </a:r>
            <a:r>
              <a:rPr lang="en-US" altLang="zh-CN" sz="2600" b="1" dirty="0"/>
              <a:t>)</a:t>
            </a:r>
            <a:r>
              <a:rPr lang="zh-CN" altLang="en-US" sz="2600" b="1" dirty="0"/>
              <a:t>可调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E8308C8-DB47-471E-B298-15ACEE8D289B}"/>
              </a:ext>
            </a:extLst>
          </p:cNvPr>
          <p:cNvSpPr/>
          <p:nvPr/>
        </p:nvSpPr>
        <p:spPr>
          <a:xfrm>
            <a:off x="1548709" y="4375127"/>
            <a:ext cx="6046582" cy="762961"/>
          </a:xfrm>
          <a:prstGeom prst="rect">
            <a:avLst/>
          </a:prstGeom>
          <a:gradFill>
            <a:gsLst>
              <a:gs pos="0">
                <a:srgbClr val="E30613">
                  <a:alpha val="79000"/>
                </a:srgbClr>
              </a:gs>
              <a:gs pos="100000">
                <a:srgbClr val="81040B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00" b="1" dirty="0"/>
              <a:t>利用</a:t>
            </a:r>
            <a:r>
              <a:rPr lang="en-US" altLang="zh-CN" sz="2600" b="1" dirty="0"/>
              <a:t>XADC</a:t>
            </a:r>
            <a:r>
              <a:rPr lang="zh-CN" altLang="en-US" sz="2600" b="1" dirty="0"/>
              <a:t>产生</a:t>
            </a:r>
            <a:r>
              <a:rPr lang="en-US" altLang="zh-CN" sz="2600" b="1" dirty="0"/>
              <a:t>1~100</a:t>
            </a:r>
            <a:r>
              <a:rPr lang="zh-CN" altLang="en-US" sz="2600" b="1" dirty="0"/>
              <a:t>个数字调节</a:t>
            </a:r>
          </a:p>
        </p:txBody>
      </p:sp>
      <p:sp>
        <p:nvSpPr>
          <p:cNvPr id="14" name="文本框 13" descr="e7d195523061f1c0deeec63e560781cfd59afb0ea006f2a87ABB68BF51EA6619813959095094C18C62A12F549504892A4AAA8C1554C6663626E05CA27F281A14E6983772AFC3FB97135759321DEA3D709AACD122C08E6ED1C77BAD4A88EF4CD28A80260D8F97957F436F83C1F553EF0169027D0DBFA7A77088E1513DBDFC101C4B4DFF310B01A5021663E46B6BC2AAB5">
            <a:extLst>
              <a:ext uri="{FF2B5EF4-FFF2-40B4-BE49-F238E27FC236}">
                <a16:creationId xmlns:a16="http://schemas.microsoft.com/office/drawing/2014/main" id="{837D8519-5FC6-4068-9802-A3B98A471027}"/>
              </a:ext>
            </a:extLst>
          </p:cNvPr>
          <p:cNvSpPr txBox="1"/>
          <p:nvPr/>
        </p:nvSpPr>
        <p:spPr>
          <a:xfrm>
            <a:off x="6928470" y="1117280"/>
            <a:ext cx="1861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>
              <a:defRPr/>
            </a:pPr>
            <a:r>
              <a:rPr lang="zh-CN" altLang="en-US" sz="2800" b="1" dirty="0">
                <a:solidFill>
                  <a:schemeClr val="tx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Kartika" panose="02020503030404060203" pitchFamily="18" charset="0"/>
              </a:rPr>
              <a:t>成功！</a:t>
            </a:r>
          </a:p>
        </p:txBody>
      </p:sp>
    </p:spTree>
    <p:extLst>
      <p:ext uri="{BB962C8B-B14F-4D97-AF65-F5344CB8AC3E}">
        <p14:creationId xmlns:p14="http://schemas.microsoft.com/office/powerpoint/2010/main" val="1755816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54206" y="299118"/>
            <a:ext cx="8435588" cy="589667"/>
            <a:chOff x="533603" y="299118"/>
            <a:chExt cx="8435588" cy="589667"/>
          </a:xfrm>
        </p:grpSpPr>
        <p:pic>
          <p:nvPicPr>
            <p:cNvPr id="2" name="Picture 2" descr="E:\Hou\信息化建设\web\校徽相关\xjtu.pn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463" t="-1001" r="53439" b="77637"/>
            <a:stretch/>
          </p:blipFill>
          <p:spPr bwMode="auto">
            <a:xfrm>
              <a:off x="6858003" y="299118"/>
              <a:ext cx="2111188" cy="5896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" name="组合 2"/>
            <p:cNvGrpSpPr/>
            <p:nvPr/>
          </p:nvGrpSpPr>
          <p:grpSpPr>
            <a:xfrm>
              <a:off x="533603" y="473621"/>
              <a:ext cx="435327" cy="405245"/>
              <a:chOff x="290945" y="346364"/>
              <a:chExt cx="859090" cy="799725"/>
            </a:xfrm>
          </p:grpSpPr>
          <p:sp>
            <p:nvSpPr>
              <p:cNvPr id="4" name="圆角矩形 3"/>
              <p:cNvSpPr>
                <a:spLocks noChangeAspect="1"/>
              </p:cNvSpPr>
              <p:nvPr/>
            </p:nvSpPr>
            <p:spPr>
              <a:xfrm>
                <a:off x="290945" y="346364"/>
                <a:ext cx="648000" cy="648000"/>
              </a:xfrm>
              <a:prstGeom prst="roundRect">
                <a:avLst/>
              </a:prstGeom>
              <a:noFill/>
              <a:ln w="539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 useBgFill="1">
            <p:nvSpPr>
              <p:cNvPr id="5" name="圆角矩形 4"/>
              <p:cNvSpPr>
                <a:spLocks noChangeAspect="1"/>
              </p:cNvSpPr>
              <p:nvPr/>
            </p:nvSpPr>
            <p:spPr>
              <a:xfrm>
                <a:off x="528654" y="526125"/>
                <a:ext cx="540000" cy="540000"/>
              </a:xfrm>
              <a:prstGeom prst="roundRect">
                <a:avLst/>
              </a:prstGeom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6" name="圆角矩形 5"/>
              <p:cNvSpPr>
                <a:spLocks noChangeAspect="1"/>
              </p:cNvSpPr>
              <p:nvPr/>
            </p:nvSpPr>
            <p:spPr>
              <a:xfrm>
                <a:off x="610035" y="606089"/>
                <a:ext cx="540000" cy="540000"/>
              </a:xfrm>
              <a:prstGeom prst="roundRect">
                <a:avLst/>
              </a:prstGeom>
              <a:solidFill>
                <a:srgbClr val="C00000"/>
              </a:solidFill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7" name="直接连接符 6"/>
            <p:cNvCxnSpPr/>
            <p:nvPr/>
          </p:nvCxnSpPr>
          <p:spPr>
            <a:xfrm>
              <a:off x="1227882" y="878865"/>
              <a:ext cx="5436000" cy="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26"/>
          <p:cNvSpPr txBox="1"/>
          <p:nvPr/>
        </p:nvSpPr>
        <p:spPr>
          <a:xfrm>
            <a:off x="941375" y="272323"/>
            <a:ext cx="5287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itchFamily="34" charset="-122"/>
                <a:ea typeface="微软雅黑" pitchFamily="34" charset="-122"/>
              </a:rPr>
              <a:t>二、调节参数时数码管闪动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DB812F3-08BC-42E6-8D90-CA22A80C7CF1}"/>
              </a:ext>
            </a:extLst>
          </p:cNvPr>
          <p:cNvSpPr/>
          <p:nvPr/>
        </p:nvSpPr>
        <p:spPr>
          <a:xfrm>
            <a:off x="1396309" y="1868995"/>
            <a:ext cx="6351382" cy="747298"/>
          </a:xfrm>
          <a:prstGeom prst="rect">
            <a:avLst/>
          </a:prstGeom>
          <a:gradFill>
            <a:gsLst>
              <a:gs pos="0">
                <a:srgbClr val="E30613">
                  <a:alpha val="79000"/>
                </a:srgbClr>
              </a:gs>
              <a:gs pos="100000">
                <a:srgbClr val="81040B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00" b="1" dirty="0"/>
              <a:t>当调整参数时，设置数码管以</a:t>
            </a:r>
            <a:r>
              <a:rPr lang="en-US" altLang="zh-CN" sz="2600" b="1" dirty="0"/>
              <a:t>1Hz</a:t>
            </a:r>
            <a:r>
              <a:rPr lang="zh-CN" altLang="en-US" sz="2600" b="1" dirty="0"/>
              <a:t>频率亮灭</a:t>
            </a:r>
          </a:p>
        </p:txBody>
      </p:sp>
      <p:sp>
        <p:nvSpPr>
          <p:cNvPr id="11" name="文本框 10" descr="e7d195523061f1c0deeec63e560781cfd59afb0ea006f2a87ABB68BF51EA6619813959095094C18C62A12F549504892A4AAA8C1554C6663626E05CA27F281A14E6983772AFC3FB97135759321DEA3D709AACD122C08E6ED1C77BAD4A88EF4CD28A80260D8F97957F436F83C1F553EF0169027D0DBFA7A77088E1513DBDFC101C4B4DFF310B01A5021663E46B6BC2AAB5">
            <a:extLst>
              <a:ext uri="{FF2B5EF4-FFF2-40B4-BE49-F238E27FC236}">
                <a16:creationId xmlns:a16="http://schemas.microsoft.com/office/drawing/2014/main" id="{B7F44F05-407F-4564-ACC2-DCD8DC2E91E3}"/>
              </a:ext>
            </a:extLst>
          </p:cNvPr>
          <p:cNvSpPr txBox="1"/>
          <p:nvPr/>
        </p:nvSpPr>
        <p:spPr>
          <a:xfrm>
            <a:off x="6928470" y="1117280"/>
            <a:ext cx="1861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>
              <a:defRPr/>
            </a:pPr>
            <a:r>
              <a:rPr lang="zh-CN" altLang="en-US" sz="2800" b="1" dirty="0">
                <a:solidFill>
                  <a:schemeClr val="tx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Kartika" panose="02020503030404060203" pitchFamily="18" charset="0"/>
              </a:rPr>
              <a:t>失败！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83FCFE4-6BF8-421F-A0BA-9E35CBB64836}"/>
              </a:ext>
            </a:extLst>
          </p:cNvPr>
          <p:cNvSpPr/>
          <p:nvPr/>
        </p:nvSpPr>
        <p:spPr>
          <a:xfrm>
            <a:off x="2439557" y="3055351"/>
            <a:ext cx="4239049" cy="747298"/>
          </a:xfrm>
          <a:prstGeom prst="rect">
            <a:avLst/>
          </a:prstGeom>
          <a:gradFill>
            <a:gsLst>
              <a:gs pos="0">
                <a:srgbClr val="E30613">
                  <a:alpha val="79000"/>
                </a:srgbClr>
              </a:gs>
              <a:gs pos="100000">
                <a:srgbClr val="81040B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00" b="1" dirty="0"/>
              <a:t>可以实现、但效果不好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140B40E-118F-4DAA-B13D-FFEC7737962F}"/>
              </a:ext>
            </a:extLst>
          </p:cNvPr>
          <p:cNvSpPr/>
          <p:nvPr/>
        </p:nvSpPr>
        <p:spPr>
          <a:xfrm>
            <a:off x="2452475" y="4241707"/>
            <a:ext cx="4239049" cy="747298"/>
          </a:xfrm>
          <a:prstGeom prst="rect">
            <a:avLst/>
          </a:prstGeom>
          <a:gradFill>
            <a:gsLst>
              <a:gs pos="0">
                <a:srgbClr val="E30613">
                  <a:alpha val="79000"/>
                </a:srgbClr>
              </a:gs>
              <a:gs pos="100000">
                <a:srgbClr val="81040B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00" b="1" dirty="0"/>
              <a:t>本身</a:t>
            </a:r>
            <a:r>
              <a:rPr lang="en-US" altLang="zh-CN" sz="2600" b="1" dirty="0"/>
              <a:t>XADC</a:t>
            </a:r>
            <a:r>
              <a:rPr lang="zh-CN" altLang="en-US" sz="2600" b="1" dirty="0"/>
              <a:t>有抖动、不稳定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5A43C76-E94F-4BD1-804E-721D3EEE7F94}"/>
              </a:ext>
            </a:extLst>
          </p:cNvPr>
          <p:cNvSpPr/>
          <p:nvPr/>
        </p:nvSpPr>
        <p:spPr>
          <a:xfrm>
            <a:off x="2439556" y="5428063"/>
            <a:ext cx="4239049" cy="747298"/>
          </a:xfrm>
          <a:prstGeom prst="rect">
            <a:avLst/>
          </a:prstGeom>
          <a:gradFill>
            <a:gsLst>
              <a:gs pos="0">
                <a:srgbClr val="E30613">
                  <a:alpha val="79000"/>
                </a:srgbClr>
              </a:gs>
              <a:gs pos="100000">
                <a:srgbClr val="81040B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00" b="1" dirty="0"/>
              <a:t>叠加数码管亮灭、看不清</a:t>
            </a:r>
          </a:p>
        </p:txBody>
      </p:sp>
    </p:spTree>
    <p:extLst>
      <p:ext uri="{BB962C8B-B14F-4D97-AF65-F5344CB8AC3E}">
        <p14:creationId xmlns:p14="http://schemas.microsoft.com/office/powerpoint/2010/main" val="3993837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 descr="e7d195523061f1c0deeec63e560781cfd59afb0ea006f2a87ABB68BF51EA6619813959095094C18C62A12F549504892A4AAA8C1554C6663626E05CA27F281A14E6983772AFC3FB97135759321DEA3D709AACD122C08E6ED1C77BAD4A88EF4CD28A80260D8F97957F436F83C1F553EF0169027D0DBFA7A77088E1513DBDFC101C4B4DFF310B01A5021663E46B6BC2AAB5"/>
          <p:cNvSpPr txBox="1"/>
          <p:nvPr/>
        </p:nvSpPr>
        <p:spPr>
          <a:xfrm>
            <a:off x="4266088" y="2557720"/>
            <a:ext cx="339067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>
              <a:defRPr/>
            </a:pPr>
            <a:r>
              <a:rPr lang="zh-CN" altLang="en-US" sz="5000" b="1" dirty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itchFamily="34" charset="-122"/>
                <a:ea typeface="微软雅黑" pitchFamily="34" charset="-122"/>
                <a:cs typeface="Kartika" panose="02020503030404060203" pitchFamily="18" charset="0"/>
              </a:rPr>
              <a:t>谢谢大家！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17567" y="5691189"/>
            <a:ext cx="8890144" cy="432000"/>
            <a:chOff x="117567" y="5691189"/>
            <a:chExt cx="8890144" cy="432000"/>
          </a:xfrm>
        </p:grpSpPr>
        <p:cxnSp>
          <p:nvCxnSpPr>
            <p:cNvPr id="25" name="直接连接符 24"/>
            <p:cNvCxnSpPr/>
            <p:nvPr/>
          </p:nvCxnSpPr>
          <p:spPr>
            <a:xfrm flipH="1">
              <a:off x="117567" y="5912402"/>
              <a:ext cx="810000" cy="0"/>
            </a:xfrm>
            <a:prstGeom prst="line">
              <a:avLst/>
            </a:prstGeom>
            <a:ln w="12700">
              <a:solidFill>
                <a:srgbClr val="E30613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3472711" y="5907189"/>
              <a:ext cx="5535000" cy="0"/>
            </a:xfrm>
            <a:prstGeom prst="line">
              <a:avLst/>
            </a:prstGeom>
            <a:ln w="12700">
              <a:gradFill>
                <a:gsLst>
                  <a:gs pos="0">
                    <a:srgbClr val="E30613"/>
                  </a:gs>
                  <a:gs pos="100000">
                    <a:srgbClr val="81040B"/>
                  </a:gs>
                </a:gsLst>
                <a:lin ang="0" scaled="0"/>
              </a:gra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组合 1"/>
            <p:cNvGrpSpPr/>
            <p:nvPr/>
          </p:nvGrpSpPr>
          <p:grpSpPr>
            <a:xfrm>
              <a:off x="1159868" y="5691189"/>
              <a:ext cx="2083154" cy="432000"/>
              <a:chOff x="1064303" y="5622335"/>
              <a:chExt cx="2083154" cy="432000"/>
            </a:xfrm>
          </p:grpSpPr>
          <p:sp>
            <p:nvSpPr>
              <p:cNvPr id="15" name="圆角矩形 14"/>
              <p:cNvSpPr>
                <a:spLocks noChangeAspect="1"/>
              </p:cNvSpPr>
              <p:nvPr/>
            </p:nvSpPr>
            <p:spPr>
              <a:xfrm>
                <a:off x="1614503" y="5622335"/>
                <a:ext cx="432553" cy="432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8E040D"/>
                  </a:gs>
                  <a:gs pos="100000">
                    <a:srgbClr val="E40613"/>
                  </a:gs>
                </a:gsLst>
                <a:lin ang="10800000" scaled="0"/>
              </a:gradFill>
              <a:ln w="1270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</a:ln>
              <a:effectLst>
                <a:outerShdw blurRad="254000" dist="1270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dirty="0">
                    <a:latin typeface="Arial Black" panose="020B0A04020102020204" pitchFamily="34" charset="0"/>
                  </a:rPr>
                  <a:t>0</a:t>
                </a:r>
                <a:endParaRPr lang="zh-CN" altLang="en-US" sz="2400" dirty="0">
                  <a:latin typeface="Arial Black" panose="020B0A04020102020204" pitchFamily="34" charset="0"/>
                </a:endParaRPr>
              </a:p>
            </p:txBody>
          </p:sp>
          <p:sp>
            <p:nvSpPr>
              <p:cNvPr id="30" name="圆角矩形 29"/>
              <p:cNvSpPr>
                <a:spLocks noChangeAspect="1"/>
              </p:cNvSpPr>
              <p:nvPr/>
            </p:nvSpPr>
            <p:spPr>
              <a:xfrm>
                <a:off x="1064303" y="5622335"/>
                <a:ext cx="432553" cy="432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8E040D"/>
                  </a:gs>
                  <a:gs pos="100000">
                    <a:srgbClr val="E40613"/>
                  </a:gs>
                </a:gsLst>
                <a:lin ang="10800000" scaled="0"/>
              </a:gradFill>
              <a:ln w="1270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</a:ln>
              <a:effectLst>
                <a:outerShdw blurRad="254000" dist="1270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dirty="0">
                    <a:latin typeface="Arial Black" panose="020B0A04020102020204" pitchFamily="34" charset="0"/>
                  </a:rPr>
                  <a:t>2</a:t>
                </a:r>
                <a:endParaRPr lang="zh-CN" altLang="en-US" sz="2400" dirty="0">
                  <a:latin typeface="Arial Black" panose="020B0A04020102020204" pitchFamily="34" charset="0"/>
                </a:endParaRPr>
              </a:p>
            </p:txBody>
          </p:sp>
          <p:sp>
            <p:nvSpPr>
              <p:cNvPr id="31" name="圆角矩形 30"/>
              <p:cNvSpPr>
                <a:spLocks noChangeAspect="1"/>
              </p:cNvSpPr>
              <p:nvPr/>
            </p:nvSpPr>
            <p:spPr>
              <a:xfrm>
                <a:off x="2164703" y="5622335"/>
                <a:ext cx="432553" cy="432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8E040D"/>
                  </a:gs>
                  <a:gs pos="100000">
                    <a:srgbClr val="E40613"/>
                  </a:gs>
                </a:gsLst>
                <a:lin ang="10800000" scaled="0"/>
              </a:gradFill>
              <a:ln w="1270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</a:ln>
              <a:effectLst>
                <a:outerShdw blurRad="254000" dist="1270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dirty="0">
                    <a:latin typeface="Arial Black" panose="020B0A04020102020204" pitchFamily="34" charset="0"/>
                  </a:rPr>
                  <a:t>1</a:t>
                </a:r>
                <a:endParaRPr lang="zh-CN" altLang="en-US" sz="2400" dirty="0">
                  <a:latin typeface="Arial Black" panose="020B0A04020102020204" pitchFamily="34" charset="0"/>
                </a:endParaRPr>
              </a:p>
            </p:txBody>
          </p:sp>
          <p:sp>
            <p:nvSpPr>
              <p:cNvPr id="32" name="圆角矩形 31"/>
              <p:cNvSpPr>
                <a:spLocks noChangeAspect="1"/>
              </p:cNvSpPr>
              <p:nvPr/>
            </p:nvSpPr>
            <p:spPr>
              <a:xfrm>
                <a:off x="2714904" y="5622335"/>
                <a:ext cx="432553" cy="432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8E040D"/>
                  </a:gs>
                  <a:gs pos="100000">
                    <a:srgbClr val="E40613"/>
                  </a:gs>
                </a:gsLst>
                <a:lin ang="10800000" scaled="0"/>
              </a:gradFill>
              <a:ln w="1270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</a:ln>
              <a:effectLst>
                <a:outerShdw blurRad="254000" dist="1270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dirty="0">
                    <a:latin typeface="Arial Black" panose="020B0A04020102020204" pitchFamily="34" charset="0"/>
                  </a:rPr>
                  <a:t>8</a:t>
                </a:r>
                <a:endParaRPr lang="zh-CN" altLang="en-US" sz="2400" dirty="0">
                  <a:latin typeface="Arial Black" panose="020B0A04020102020204" pitchFamily="34" charset="0"/>
                </a:endParaRPr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439101" y="-8313"/>
            <a:ext cx="2612976" cy="4400343"/>
            <a:chOff x="439101" y="-8313"/>
            <a:chExt cx="2612976" cy="4400343"/>
          </a:xfrm>
        </p:grpSpPr>
        <p:sp>
          <p:nvSpPr>
            <p:cNvPr id="36" name="任意多边形 35"/>
            <p:cNvSpPr/>
            <p:nvPr/>
          </p:nvSpPr>
          <p:spPr>
            <a:xfrm rot="5400000">
              <a:off x="-454583" y="885371"/>
              <a:ext cx="4400343" cy="2612976"/>
            </a:xfrm>
            <a:custGeom>
              <a:avLst/>
              <a:gdLst>
                <a:gd name="connsiteX0" fmla="*/ 0 w 4400343"/>
                <a:gd name="connsiteY0" fmla="*/ 2612976 h 2612976"/>
                <a:gd name="connsiteX1" fmla="*/ 0 w 4400343"/>
                <a:gd name="connsiteY1" fmla="*/ 0 h 2612976"/>
                <a:gd name="connsiteX2" fmla="*/ 3093855 w 4400343"/>
                <a:gd name="connsiteY2" fmla="*/ 0 h 2612976"/>
                <a:gd name="connsiteX3" fmla="*/ 4400343 w 4400343"/>
                <a:gd name="connsiteY3" fmla="*/ 1306488 h 2612976"/>
                <a:gd name="connsiteX4" fmla="*/ 3093855 w 4400343"/>
                <a:gd name="connsiteY4" fmla="*/ 2612976 h 2612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00343" h="2612976">
                  <a:moveTo>
                    <a:pt x="0" y="2612976"/>
                  </a:moveTo>
                  <a:lnTo>
                    <a:pt x="0" y="0"/>
                  </a:lnTo>
                  <a:lnTo>
                    <a:pt x="3093855" y="0"/>
                  </a:lnTo>
                  <a:cubicBezTo>
                    <a:pt x="3815408" y="0"/>
                    <a:pt x="4400343" y="584935"/>
                    <a:pt x="4400343" y="1306488"/>
                  </a:cubicBezTo>
                  <a:cubicBezTo>
                    <a:pt x="4400343" y="2028041"/>
                    <a:pt x="3815408" y="2612976"/>
                    <a:pt x="3093855" y="2612976"/>
                  </a:cubicBezTo>
                  <a:close/>
                </a:path>
              </a:pathLst>
            </a:custGeom>
            <a:gradFill>
              <a:gsLst>
                <a:gs pos="0">
                  <a:srgbClr val="8E040D"/>
                </a:gs>
                <a:gs pos="100000">
                  <a:srgbClr val="E40613"/>
                </a:gs>
              </a:gsLst>
              <a:lin ang="10800000" scaled="0"/>
            </a:gradFill>
            <a:ln w="25400">
              <a:noFill/>
            </a:ln>
            <a:effectLst>
              <a:outerShdw blurRad="254000" dist="127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8" name="组合 7"/>
            <p:cNvGrpSpPr>
              <a:grpSpLocks noChangeAspect="1"/>
            </p:cNvGrpSpPr>
            <p:nvPr/>
          </p:nvGrpSpPr>
          <p:grpSpPr>
            <a:xfrm>
              <a:off x="583589" y="1834933"/>
              <a:ext cx="2323999" cy="2323999"/>
              <a:chOff x="3393105" y="2094170"/>
              <a:chExt cx="2664367" cy="2664367"/>
            </a:xfrm>
          </p:grpSpPr>
          <p:sp>
            <p:nvSpPr>
              <p:cNvPr id="9" name="椭圆 8"/>
              <p:cNvSpPr/>
              <p:nvPr/>
            </p:nvSpPr>
            <p:spPr>
              <a:xfrm>
                <a:off x="3393105" y="2094170"/>
                <a:ext cx="2664367" cy="2664367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  <a:ln w="19050"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279400" dist="152400" dir="2700000" sx="102000" sy="102000" algn="tl" rotWithShape="0">
                  <a:prstClr val="black">
                    <a:alpha val="28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1" name="圆角矩形 10"/>
              <p:cNvSpPr/>
              <p:nvPr/>
            </p:nvSpPr>
            <p:spPr>
              <a:xfrm>
                <a:off x="3655434" y="2332885"/>
                <a:ext cx="2167846" cy="2167846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100000">
                    <a:schemeClr val="bg1"/>
                  </a:gs>
                  <a:gs pos="0">
                    <a:srgbClr val="B8BBBC"/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pic>
          <p:nvPicPr>
            <p:cNvPr id="29" name="Picture 2" descr="E:\Hou\信息化建设\web\校徽相关\xjtu.png"/>
            <p:cNvPicPr>
              <a:picLocks noChangeAspect="1" noChangeArrowheads="1"/>
            </p:cNvPicPr>
            <p:nvPr/>
          </p:nvPicPr>
          <p:blipFill rotWithShape="1">
            <a:blip r:embed="rId3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463" t="76636" r="53439"/>
            <a:stretch/>
          </p:blipFill>
          <p:spPr bwMode="auto">
            <a:xfrm>
              <a:off x="579253" y="503503"/>
              <a:ext cx="2332671" cy="6515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图片 3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87" t="7404" r="17787" b="7404"/>
            <a:stretch>
              <a:fillRect/>
            </a:stretch>
          </p:blipFill>
          <p:spPr>
            <a:xfrm>
              <a:off x="884497" y="2135841"/>
              <a:ext cx="1722182" cy="1722182"/>
            </a:xfrm>
            <a:custGeom>
              <a:avLst/>
              <a:gdLst>
                <a:gd name="connsiteX0" fmla="*/ 1944000 w 3888000"/>
                <a:gd name="connsiteY0" fmla="*/ 0 h 3888000"/>
                <a:gd name="connsiteX1" fmla="*/ 3888000 w 3888000"/>
                <a:gd name="connsiteY1" fmla="*/ 1944000 h 3888000"/>
                <a:gd name="connsiteX2" fmla="*/ 1944000 w 3888000"/>
                <a:gd name="connsiteY2" fmla="*/ 3888000 h 3888000"/>
                <a:gd name="connsiteX3" fmla="*/ 0 w 3888000"/>
                <a:gd name="connsiteY3" fmla="*/ 1944000 h 3888000"/>
                <a:gd name="connsiteX4" fmla="*/ 1944000 w 3888000"/>
                <a:gd name="connsiteY4" fmla="*/ 0 h 388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88000" h="3888000">
                  <a:moveTo>
                    <a:pt x="1944000" y="0"/>
                  </a:moveTo>
                  <a:cubicBezTo>
                    <a:pt x="3017642" y="0"/>
                    <a:pt x="3888000" y="870358"/>
                    <a:pt x="3888000" y="1944000"/>
                  </a:cubicBezTo>
                  <a:cubicBezTo>
                    <a:pt x="3888000" y="3017642"/>
                    <a:pt x="3017642" y="3888000"/>
                    <a:pt x="1944000" y="3888000"/>
                  </a:cubicBezTo>
                  <a:cubicBezTo>
                    <a:pt x="870358" y="3888000"/>
                    <a:pt x="0" y="3017642"/>
                    <a:pt x="0" y="1944000"/>
                  </a:cubicBezTo>
                  <a:cubicBezTo>
                    <a:pt x="0" y="870358"/>
                    <a:pt x="870358" y="0"/>
                    <a:pt x="1944000" y="0"/>
                  </a:cubicBez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2720256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红色微粒体工作述职报告ppt模板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Microsoft Sans Serif"/>
        <a:ea typeface="微软雅黑"/>
        <a:cs typeface="Heiti SC Light"/>
      </a:majorFont>
      <a:minorFont>
        <a:latin typeface="Calibri"/>
        <a:ea typeface="微软雅黑"/>
        <a:cs typeface="Heiti SC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569</Words>
  <Application>Microsoft Office PowerPoint</Application>
  <PresentationFormat>全屏显示(4:3)</PresentationFormat>
  <Paragraphs>136</Paragraphs>
  <Slides>17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微软雅黑</vt:lpstr>
      <vt:lpstr>Arial</vt:lpstr>
      <vt:lpstr>Arial Black</vt:lpstr>
      <vt:lpstr>Calibri</vt:lpstr>
      <vt:lpstr>Microsoft Sans Serif</vt:lpstr>
      <vt:lpstr>Office 主题</vt:lpstr>
      <vt:lpstr>MathType 7.0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红色微粒体工作述职报告ppt模板</dc:title>
  <dc:creator/>
  <cp:lastModifiedBy/>
  <cp:revision>1</cp:revision>
  <dcterms:created xsi:type="dcterms:W3CDTF">2017-02-16T14:15:20Z</dcterms:created>
  <dcterms:modified xsi:type="dcterms:W3CDTF">2024-06-03T02:03:45Z</dcterms:modified>
</cp:coreProperties>
</file>