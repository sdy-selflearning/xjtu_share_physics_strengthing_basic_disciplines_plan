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27"/>
  </p:notesMasterIdLst>
  <p:sldIdLst>
    <p:sldId id="865" r:id="rId2"/>
    <p:sldId id="867" r:id="rId3"/>
    <p:sldId id="868" r:id="rId4"/>
    <p:sldId id="882" r:id="rId5"/>
    <p:sldId id="881" r:id="rId6"/>
    <p:sldId id="884" r:id="rId7"/>
    <p:sldId id="885" r:id="rId8"/>
    <p:sldId id="891" r:id="rId9"/>
    <p:sldId id="886" r:id="rId10"/>
    <p:sldId id="887" r:id="rId11"/>
    <p:sldId id="888" r:id="rId12"/>
    <p:sldId id="889" r:id="rId13"/>
    <p:sldId id="890" r:id="rId14"/>
    <p:sldId id="892" r:id="rId15"/>
    <p:sldId id="893" r:id="rId16"/>
    <p:sldId id="894" r:id="rId17"/>
    <p:sldId id="878" r:id="rId18"/>
    <p:sldId id="895" r:id="rId19"/>
    <p:sldId id="896" r:id="rId20"/>
    <p:sldId id="897" r:id="rId21"/>
    <p:sldId id="883" r:id="rId22"/>
    <p:sldId id="898" r:id="rId23"/>
    <p:sldId id="899" r:id="rId24"/>
    <p:sldId id="900" r:id="rId25"/>
    <p:sldId id="871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E"/>
    <a:srgbClr val="2E5497"/>
    <a:srgbClr val="00467F"/>
    <a:srgbClr val="2F5597"/>
    <a:srgbClr val="89DFFD"/>
    <a:srgbClr val="4D9BD4"/>
    <a:srgbClr val="FFFFFF"/>
    <a:srgbClr val="64A3D7"/>
    <a:srgbClr val="C5D2FB"/>
    <a:srgbClr val="EAF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81818" autoAdjust="0"/>
  </p:normalViewPr>
  <p:slideViewPr>
    <p:cSldViewPr snapToGrid="0">
      <p:cViewPr varScale="1">
        <p:scale>
          <a:sx n="60" d="100"/>
          <a:sy n="60" d="100"/>
        </p:scale>
        <p:origin x="944" y="40"/>
      </p:cViewPr>
      <p:guideLst>
        <p:guide pos="415"/>
        <p:guide pos="7256"/>
        <p:guide orient="horz" pos="663"/>
        <p:guide orient="horz" pos="712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B5295-0690-45DE-9E01-B4636744B25F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13C37-BE2C-4CB8-940D-F8BE2EE62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46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587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972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063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275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361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256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478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836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681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24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0A10012-7DE7-4927-9338-9F6658B3E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3919"/>
          <a:stretch/>
        </p:blipFill>
        <p:spPr>
          <a:xfrm>
            <a:off x="2737536" y="-23325"/>
            <a:ext cx="9450900" cy="6862666"/>
          </a:xfrm>
          <a:prstGeom prst="rect">
            <a:avLst/>
          </a:prstGeom>
        </p:spPr>
      </p:pic>
      <p:sp>
        <p:nvSpPr>
          <p:cNvPr id="4" name="矩形 11">
            <a:extLst>
              <a:ext uri="{FF2B5EF4-FFF2-40B4-BE49-F238E27FC236}">
                <a16:creationId xmlns:a16="http://schemas.microsoft.com/office/drawing/2014/main" id="{6D79298F-0D06-4C33-B0C8-D8D4B3C7F645}"/>
              </a:ext>
            </a:extLst>
          </p:cNvPr>
          <p:cNvSpPr/>
          <p:nvPr/>
        </p:nvSpPr>
        <p:spPr>
          <a:xfrm flipH="1">
            <a:off x="0" y="-9329"/>
            <a:ext cx="9172142" cy="6858000"/>
          </a:xfrm>
          <a:custGeom>
            <a:avLst/>
            <a:gdLst/>
            <a:ahLst/>
            <a:cxnLst/>
            <a:rect l="l" t="t" r="r" b="b"/>
            <a:pathLst>
              <a:path w="6444208" h="514350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375712F-5EB0-48CF-9FE8-EC8503252FB1}"/>
              </a:ext>
            </a:extLst>
          </p:cNvPr>
          <p:cNvGrpSpPr/>
          <p:nvPr/>
        </p:nvGrpSpPr>
        <p:grpSpPr>
          <a:xfrm flipH="1">
            <a:off x="6096000" y="-18659"/>
            <a:ext cx="3603649" cy="6858000"/>
            <a:chOff x="1531613" y="0"/>
            <a:chExt cx="3375826" cy="685800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5D3B33A-F02C-4656-AAD3-5B0BE0C5F2E8}"/>
                </a:ext>
              </a:extLst>
            </p:cNvPr>
            <p:cNvSpPr/>
            <p:nvPr/>
          </p:nvSpPr>
          <p:spPr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BD1839CB-583C-4271-B060-782D5A68F403}"/>
                </a:ext>
              </a:extLst>
            </p:cNvPr>
            <p:cNvSpPr/>
            <p:nvPr/>
          </p:nvSpPr>
          <p:spPr>
            <a:xfrm>
              <a:off x="1531613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091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A0C902C-3FF8-4FA4-A1C6-DFF8957E4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433" b="25926"/>
          <a:stretch/>
        </p:blipFill>
        <p:spPr>
          <a:xfrm>
            <a:off x="0" y="0"/>
            <a:ext cx="9921730" cy="69092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3EC86AA-D47E-4A88-A781-07F144E3A418}"/>
              </a:ext>
            </a:extLst>
          </p:cNvPr>
          <p:cNvSpPr/>
          <p:nvPr userDrawn="1"/>
        </p:nvSpPr>
        <p:spPr>
          <a:xfrm>
            <a:off x="0" y="0"/>
            <a:ext cx="12227769" cy="6909263"/>
          </a:xfrm>
          <a:prstGeom prst="rect">
            <a:avLst/>
          </a:prstGeom>
          <a:gradFill flip="none" rotWithShape="1">
            <a:gsLst>
              <a:gs pos="0">
                <a:srgbClr val="1A5E87">
                  <a:alpha val="85000"/>
                </a:srgbClr>
              </a:gs>
              <a:gs pos="99000">
                <a:srgbClr val="04033F">
                  <a:alpha val="46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0119A14A-C4AA-42E7-9D23-C174C794F125}"/>
              </a:ext>
            </a:extLst>
          </p:cNvPr>
          <p:cNvSpPr/>
          <p:nvPr userDrawn="1"/>
        </p:nvSpPr>
        <p:spPr>
          <a:xfrm>
            <a:off x="3635492" y="0"/>
            <a:ext cx="8592277" cy="6909262"/>
          </a:xfrm>
          <a:custGeom>
            <a:avLst/>
            <a:gdLst/>
            <a:ahLst/>
            <a:cxnLst/>
            <a:rect l="l" t="t" r="r" b="b"/>
            <a:pathLst>
              <a:path w="6444208" h="514350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5343508-74C1-4CAA-9324-E0F7ACC404DC}"/>
              </a:ext>
            </a:extLst>
          </p:cNvPr>
          <p:cNvGrpSpPr/>
          <p:nvPr userDrawn="1"/>
        </p:nvGrpSpPr>
        <p:grpSpPr>
          <a:xfrm>
            <a:off x="3078548" y="0"/>
            <a:ext cx="3375827" cy="6909262"/>
            <a:chOff x="1531612" y="0"/>
            <a:chExt cx="3375827" cy="6858000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EE1A43F8-E422-44D5-992D-34F95D22FAD3}"/>
                </a:ext>
              </a:extLst>
            </p:cNvPr>
            <p:cNvSpPr/>
            <p:nvPr/>
          </p:nvSpPr>
          <p:spPr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3887ABFF-373A-45AC-961C-3E52ECA3C972}"/>
                </a:ext>
              </a:extLst>
            </p:cNvPr>
            <p:cNvSpPr/>
            <p:nvPr/>
          </p:nvSpPr>
          <p:spPr>
            <a:xfrm>
              <a:off x="1531612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CFA2CC2-4612-4EE2-90AB-B415538446D3}"/>
              </a:ext>
            </a:extLst>
          </p:cNvPr>
          <p:cNvGrpSpPr/>
          <p:nvPr userDrawn="1"/>
        </p:nvGrpSpPr>
        <p:grpSpPr>
          <a:xfrm>
            <a:off x="11698028" y="5577840"/>
            <a:ext cx="529752" cy="1331422"/>
            <a:chOff x="11489652" y="4991405"/>
            <a:chExt cx="753203" cy="1866596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F3DD0C5-2670-4ACB-8EEA-1114032923F5}"/>
                </a:ext>
              </a:extLst>
            </p:cNvPr>
            <p:cNvSpPr/>
            <p:nvPr/>
          </p:nvSpPr>
          <p:spPr>
            <a:xfrm>
              <a:off x="11680176" y="5504185"/>
              <a:ext cx="562679" cy="1353816"/>
            </a:xfrm>
            <a:custGeom>
              <a:avLst/>
              <a:gdLst>
                <a:gd name="connsiteX0" fmla="*/ 339228 w 339228"/>
                <a:gd name="connsiteY0" fmla="*/ 0 h 839635"/>
                <a:gd name="connsiteX1" fmla="*/ 339228 w 339228"/>
                <a:gd name="connsiteY1" fmla="*/ 839635 h 839635"/>
                <a:gd name="connsiteX2" fmla="*/ 0 w 339228"/>
                <a:gd name="connsiteY2" fmla="*/ 839635 h 83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228" h="839635">
                  <a:moveTo>
                    <a:pt x="339228" y="0"/>
                  </a:moveTo>
                  <a:lnTo>
                    <a:pt x="339228" y="839635"/>
                  </a:lnTo>
                  <a:lnTo>
                    <a:pt x="0" y="839635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FCF5B2F3-93A4-4991-88B8-BA9B1260FF42}"/>
                </a:ext>
              </a:extLst>
            </p:cNvPr>
            <p:cNvSpPr/>
            <p:nvPr userDrawn="1"/>
          </p:nvSpPr>
          <p:spPr>
            <a:xfrm>
              <a:off x="11489652" y="4991405"/>
              <a:ext cx="753193" cy="1866596"/>
            </a:xfrm>
            <a:custGeom>
              <a:avLst/>
              <a:gdLst>
                <a:gd name="connsiteX0" fmla="*/ 702346 w 702346"/>
                <a:gd name="connsiteY0" fmla="*/ 0 h 1738401"/>
                <a:gd name="connsiteX1" fmla="*/ 702346 w 702346"/>
                <a:gd name="connsiteY1" fmla="*/ 428827 h 1738401"/>
                <a:gd name="connsiteX2" fmla="*/ 173254 w 702346"/>
                <a:gd name="connsiteY2" fmla="*/ 1738401 h 1738401"/>
                <a:gd name="connsiteX3" fmla="*/ 0 w 702346"/>
                <a:gd name="connsiteY3" fmla="*/ 1738401 h 1738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346" h="1738401">
                  <a:moveTo>
                    <a:pt x="702346" y="0"/>
                  </a:moveTo>
                  <a:lnTo>
                    <a:pt x="702346" y="428827"/>
                  </a:lnTo>
                  <a:lnTo>
                    <a:pt x="173254" y="1738401"/>
                  </a:lnTo>
                  <a:lnTo>
                    <a:pt x="0" y="1738401"/>
                  </a:lnTo>
                  <a:close/>
                </a:path>
              </a:pathLst>
            </a:custGeom>
            <a:solidFill>
              <a:srgbClr val="039ACF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66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52F6E0D-B311-4712-8F24-91A3096F0870}"/>
              </a:ext>
            </a:extLst>
          </p:cNvPr>
          <p:cNvGrpSpPr/>
          <p:nvPr userDrawn="1"/>
        </p:nvGrpSpPr>
        <p:grpSpPr>
          <a:xfrm>
            <a:off x="-61453" y="-11151"/>
            <a:ext cx="12314904" cy="6909263"/>
            <a:chOff x="-61453" y="-11151"/>
            <a:chExt cx="12314904" cy="690926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92EA381-98CE-4E3C-8594-B586B31CE7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926"/>
            <a:stretch/>
          </p:blipFill>
          <p:spPr>
            <a:xfrm>
              <a:off x="-61452" y="-11151"/>
              <a:ext cx="12314903" cy="6909263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6EBF749-5D8A-4207-A71B-B45DCF2D05AF}"/>
                </a:ext>
              </a:extLst>
            </p:cNvPr>
            <p:cNvSpPr/>
            <p:nvPr userDrawn="1"/>
          </p:nvSpPr>
          <p:spPr>
            <a:xfrm>
              <a:off x="-61453" y="0"/>
              <a:ext cx="12314903" cy="6898112"/>
            </a:xfrm>
            <a:prstGeom prst="rect">
              <a:avLst/>
            </a:prstGeom>
            <a:gradFill flip="none" rotWithShape="1">
              <a:gsLst>
                <a:gs pos="0">
                  <a:srgbClr val="1A5E87"/>
                </a:gs>
                <a:gs pos="100000">
                  <a:srgbClr val="04033F">
                    <a:alpha val="80000"/>
                  </a:srgb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251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082F2DE-06D9-4DB3-AEC1-7F3AFADA1C83}"/>
              </a:ext>
            </a:extLst>
          </p:cNvPr>
          <p:cNvGrpSpPr/>
          <p:nvPr userDrawn="1"/>
        </p:nvGrpSpPr>
        <p:grpSpPr>
          <a:xfrm>
            <a:off x="394159" y="310888"/>
            <a:ext cx="682341" cy="539179"/>
            <a:chOff x="1801006" y="1526207"/>
            <a:chExt cx="1242672" cy="98194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879BAAD-D596-4660-850C-986DA00828E2}"/>
                </a:ext>
              </a:extLst>
            </p:cNvPr>
            <p:cNvSpPr/>
            <p:nvPr userDrawn="1"/>
          </p:nvSpPr>
          <p:spPr>
            <a:xfrm>
              <a:off x="2224301" y="1732937"/>
              <a:ext cx="819377" cy="695740"/>
            </a:xfrm>
            <a:prstGeom prst="rect">
              <a:avLst/>
            </a:prstGeom>
            <a:solidFill>
              <a:srgbClr val="89DF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任意多边形 13">
              <a:extLst>
                <a:ext uri="{FF2B5EF4-FFF2-40B4-BE49-F238E27FC236}">
                  <a16:creationId xmlns:a16="http://schemas.microsoft.com/office/drawing/2014/main" id="{6E0A6764-AB13-4A78-B49D-46CD59722C15}"/>
                </a:ext>
              </a:extLst>
            </p:cNvPr>
            <p:cNvSpPr/>
            <p:nvPr userDrawn="1"/>
          </p:nvSpPr>
          <p:spPr>
            <a:xfrm>
              <a:off x="1801006" y="1526207"/>
              <a:ext cx="1063935" cy="981947"/>
            </a:xfrm>
            <a:custGeom>
              <a:avLst/>
              <a:gdLst>
                <a:gd name="connsiteX0" fmla="*/ 0 w 2864941"/>
                <a:gd name="connsiteY0" fmla="*/ 0 h 981947"/>
                <a:gd name="connsiteX1" fmla="*/ 2864941 w 2864941"/>
                <a:gd name="connsiteY1" fmla="*/ 0 h 981947"/>
                <a:gd name="connsiteX2" fmla="*/ 2041802 w 2864941"/>
                <a:gd name="connsiteY2" fmla="*/ 981947 h 981947"/>
                <a:gd name="connsiteX3" fmla="*/ 0 w 2864941"/>
                <a:gd name="connsiteY3" fmla="*/ 981947 h 9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4941" h="981947">
                  <a:moveTo>
                    <a:pt x="0" y="0"/>
                  </a:moveTo>
                  <a:lnTo>
                    <a:pt x="2864941" y="0"/>
                  </a:lnTo>
                  <a:lnTo>
                    <a:pt x="2041802" y="981947"/>
                  </a:lnTo>
                  <a:lnTo>
                    <a:pt x="0" y="981947"/>
                  </a:lnTo>
                  <a:close/>
                </a:path>
              </a:pathLst>
            </a:custGeom>
            <a:solidFill>
              <a:srgbClr val="005AA6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808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16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002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1" r:id="rId2"/>
    <p:sldLayoutId id="2147483682" r:id="rId3"/>
    <p:sldLayoutId id="2147483683" r:id="rId4"/>
    <p:sldLayoutId id="2147483684" r:id="rId5"/>
    <p:sldLayoutId id="2147483685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package" Target="../embeddings/Microsoft_Visio_Drawing.vsd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Visio_Drawing1.vsdx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1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0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0.png"/><Relationship Id="rId5" Type="http://schemas.openxmlformats.org/officeDocument/2006/relationships/image" Target="../media/image30.emf"/><Relationship Id="rId10" Type="http://schemas.openxmlformats.org/officeDocument/2006/relationships/image" Target="../media/image100.png"/><Relationship Id="rId4" Type="http://schemas.openxmlformats.org/officeDocument/2006/relationships/package" Target="../embeddings/Microsoft_Visio_Drawing2.vsdx"/><Relationship Id="rId9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1.png"/><Relationship Id="rId9" Type="http://schemas.openxmlformats.org/officeDocument/2006/relationships/image" Target="../media/image18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0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8282" y="1524132"/>
            <a:ext cx="8175445" cy="3529890"/>
          </a:xfrm>
          <a:prstGeom prst="rect">
            <a:avLst/>
          </a:prstGeom>
        </p:spPr>
      </p:pic>
      <p:sp>
        <p:nvSpPr>
          <p:cNvPr id="34" name="平行四边形 33">
            <a:extLst>
              <a:ext uri="{FF2B5EF4-FFF2-40B4-BE49-F238E27FC236}">
                <a16:creationId xmlns:a16="http://schemas.microsoft.com/office/drawing/2014/main" id="{86B2D4A7-EE6A-BF42-B6C7-8FA38A66A2CE}"/>
              </a:ext>
            </a:extLst>
          </p:cNvPr>
          <p:cNvSpPr/>
          <p:nvPr/>
        </p:nvSpPr>
        <p:spPr>
          <a:xfrm>
            <a:off x="9395331" y="0"/>
            <a:ext cx="5520696" cy="6858000"/>
          </a:xfrm>
          <a:prstGeom prst="parallelogram">
            <a:avLst>
              <a:gd name="adj" fmla="val 76100"/>
            </a:avLst>
          </a:prstGeom>
          <a:gradFill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effectLst>
            <a:outerShdw blurRad="762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平行四边形 13">
            <a:extLst>
              <a:ext uri="{FF2B5EF4-FFF2-40B4-BE49-F238E27FC236}">
                <a16:creationId xmlns:a16="http://schemas.microsoft.com/office/drawing/2014/main" id="{D823E484-0B40-2142-B031-E0D3C2E285D0}"/>
              </a:ext>
            </a:extLst>
          </p:cNvPr>
          <p:cNvSpPr/>
          <p:nvPr/>
        </p:nvSpPr>
        <p:spPr>
          <a:xfrm>
            <a:off x="-4017578" y="1296088"/>
            <a:ext cx="6973806" cy="5230678"/>
          </a:xfrm>
          <a:prstGeom prst="parallelogram">
            <a:avLst>
              <a:gd name="adj" fmla="val 60655"/>
            </a:avLst>
          </a:prstGeom>
          <a:solidFill>
            <a:srgbClr val="0070C0"/>
          </a:solidFill>
          <a:ln>
            <a:noFill/>
          </a:ln>
          <a:effectLst>
            <a:outerShdw blurRad="508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A8E4160F-A117-3742-A80D-C35D1C84BE1D}"/>
              </a:ext>
            </a:extLst>
          </p:cNvPr>
          <p:cNvSpPr/>
          <p:nvPr/>
        </p:nvSpPr>
        <p:spPr>
          <a:xfrm>
            <a:off x="2146465" y="1299877"/>
            <a:ext cx="1627559" cy="1337504"/>
          </a:xfrm>
          <a:prstGeom prst="triangle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三角形 29">
            <a:extLst>
              <a:ext uri="{FF2B5EF4-FFF2-40B4-BE49-F238E27FC236}">
                <a16:creationId xmlns:a16="http://schemas.microsoft.com/office/drawing/2014/main" id="{62928718-7D9F-894D-B6B3-73F71A130AE1}"/>
              </a:ext>
            </a:extLst>
          </p:cNvPr>
          <p:cNvSpPr/>
          <p:nvPr/>
        </p:nvSpPr>
        <p:spPr>
          <a:xfrm rot="10800000">
            <a:off x="3130492" y="1580243"/>
            <a:ext cx="1266785" cy="1041025"/>
          </a:xfrm>
          <a:prstGeom prst="triangle">
            <a:avLst/>
          </a:prstGeom>
          <a:solidFill>
            <a:srgbClr val="0064C8"/>
          </a:solidFill>
          <a:ln>
            <a:noFill/>
          </a:ln>
          <a:effectLst>
            <a:outerShdw blurRad="762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37242BB2-26E7-CA49-BE1E-84F60E12B8B6}"/>
              </a:ext>
            </a:extLst>
          </p:cNvPr>
          <p:cNvCxnSpPr>
            <a:cxnSpLocks/>
          </p:cNvCxnSpPr>
          <p:nvPr/>
        </p:nvCxnSpPr>
        <p:spPr>
          <a:xfrm flipH="1">
            <a:off x="11098400" y="5047329"/>
            <a:ext cx="1093600" cy="1810671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C9150DC7-FB14-DD4A-B235-3C48BD9D61EF}"/>
              </a:ext>
            </a:extLst>
          </p:cNvPr>
          <p:cNvCxnSpPr>
            <a:cxnSpLocks/>
          </p:cNvCxnSpPr>
          <p:nvPr/>
        </p:nvCxnSpPr>
        <p:spPr>
          <a:xfrm flipH="1">
            <a:off x="5823022" y="1135749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2F21B032-8745-2449-B83A-53B057574FFF}"/>
              </a:ext>
            </a:extLst>
          </p:cNvPr>
          <p:cNvCxnSpPr>
            <a:cxnSpLocks/>
          </p:cNvCxnSpPr>
          <p:nvPr/>
        </p:nvCxnSpPr>
        <p:spPr>
          <a:xfrm flipH="1">
            <a:off x="-85833" y="5240782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平行四边形 56">
            <a:extLst>
              <a:ext uri="{FF2B5EF4-FFF2-40B4-BE49-F238E27FC236}">
                <a16:creationId xmlns:a16="http://schemas.microsoft.com/office/drawing/2014/main" id="{DCF785ED-1755-D64A-A51D-E9D064A726E6}"/>
              </a:ext>
            </a:extLst>
          </p:cNvPr>
          <p:cNvSpPr/>
          <p:nvPr/>
        </p:nvSpPr>
        <p:spPr>
          <a:xfrm>
            <a:off x="-5495123" y="2100756"/>
            <a:ext cx="6973806" cy="5230678"/>
          </a:xfrm>
          <a:prstGeom prst="parallelogram">
            <a:avLst>
              <a:gd name="adj" fmla="val 60655"/>
            </a:avLst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A12E5D-A6AF-4A7A-AF92-BAC5402304BD}"/>
              </a:ext>
            </a:extLst>
          </p:cNvPr>
          <p:cNvSpPr txBox="1"/>
          <p:nvPr/>
        </p:nvSpPr>
        <p:spPr>
          <a:xfrm>
            <a:off x="4989854" y="4300596"/>
            <a:ext cx="50892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Group member: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Suo </a:t>
            </a:r>
            <a:r>
              <a:rPr kumimoji="1"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Dingyang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; Yu </a:t>
            </a:r>
            <a:r>
              <a:rPr kumimoji="1"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Zihui</a:t>
            </a:r>
            <a:endParaRPr kumimoji="1"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2A4011-5BEA-4638-977C-E3BC4816A160}"/>
              </a:ext>
            </a:extLst>
          </p:cNvPr>
          <p:cNvSpPr/>
          <p:nvPr/>
        </p:nvSpPr>
        <p:spPr>
          <a:xfrm>
            <a:off x="5484253" y="2407596"/>
            <a:ext cx="6099220" cy="1392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lnSpc>
                <a:spcPct val="130000"/>
              </a:lnSpc>
              <a:defRPr/>
            </a:pPr>
            <a:r>
              <a:rPr kumimoji="1" lang="en-US" altLang="zh-CN" sz="7200" b="1" dirty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Presentation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DDACF7-E0A3-4530-89D6-B003378BD5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242" y="1057192"/>
            <a:ext cx="2514152" cy="67329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67F2A89-EACF-4699-B405-E6A68521530A}"/>
              </a:ext>
            </a:extLst>
          </p:cNvPr>
          <p:cNvSpPr/>
          <p:nvPr/>
        </p:nvSpPr>
        <p:spPr>
          <a:xfrm>
            <a:off x="6442303" y="1761265"/>
            <a:ext cx="26474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Seminar2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F5AFA1-D0F5-4A9C-B5FC-20B4F885409E}"/>
              </a:ext>
            </a:extLst>
          </p:cNvPr>
          <p:cNvSpPr txBox="1"/>
          <p:nvPr/>
        </p:nvSpPr>
        <p:spPr>
          <a:xfrm>
            <a:off x="11711027" y="6208972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150662F-FF9F-4A40-9633-F8B520FCE6A1}"/>
              </a:ext>
            </a:extLst>
          </p:cNvPr>
          <p:cNvSpPr txBox="1"/>
          <p:nvPr/>
        </p:nvSpPr>
        <p:spPr>
          <a:xfrm>
            <a:off x="7300261" y="5632224"/>
            <a:ext cx="243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2023.10.17</a:t>
            </a:r>
            <a:endParaRPr kumimoji="1"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15589"/>
      </p:ext>
    </p:extLst>
  </p:cSld>
  <p:clrMapOvr>
    <a:masterClrMapping/>
  </p:clrMapOvr>
  <p:extLst>
    <p:ext uri="{E180D4A7-C9FB-4DFB-919C-405C955672EB}">
      <p14:showEvtLst xmlns:p14="http://schemas.microsoft.com/office/powerpoint/2010/main">
        <p14:playEvt time="0" objId="21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9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76">
            <a:extLst>
              <a:ext uri="{FF2B5EF4-FFF2-40B4-BE49-F238E27FC236}">
                <a16:creationId xmlns:a16="http://schemas.microsoft.com/office/drawing/2014/main" id="{D0BE0627-68E5-41E6-9C95-3CAFA0D6578E}"/>
              </a:ext>
            </a:extLst>
          </p:cNvPr>
          <p:cNvSpPr/>
          <p:nvPr/>
        </p:nvSpPr>
        <p:spPr>
          <a:xfrm flipH="1">
            <a:off x="472439" y="319249"/>
            <a:ext cx="1589824" cy="1441259"/>
          </a:xfrm>
          <a:custGeom>
            <a:avLst/>
            <a:gdLst>
              <a:gd name="connsiteX0" fmla="*/ 5148624 w 5999018"/>
              <a:gd name="connsiteY0" fmla="*/ 0 h 1700788"/>
              <a:gd name="connsiteX1" fmla="*/ 3953495 w 5999018"/>
              <a:gd name="connsiteY1" fmla="*/ 0 h 1700788"/>
              <a:gd name="connsiteX2" fmla="*/ 1195129 w 5999018"/>
              <a:gd name="connsiteY2" fmla="*/ 0 h 1700788"/>
              <a:gd name="connsiteX3" fmla="*/ 0 w 5999018"/>
              <a:gd name="connsiteY3" fmla="*/ 0 h 1700788"/>
              <a:gd name="connsiteX4" fmla="*/ 0 w 5999018"/>
              <a:gd name="connsiteY4" fmla="*/ 1700788 h 1700788"/>
              <a:gd name="connsiteX5" fmla="*/ 1195129 w 5999018"/>
              <a:gd name="connsiteY5" fmla="*/ 1700788 h 1700788"/>
              <a:gd name="connsiteX6" fmla="*/ 3953495 w 5999018"/>
              <a:gd name="connsiteY6" fmla="*/ 1700788 h 1700788"/>
              <a:gd name="connsiteX7" fmla="*/ 5148624 w 5999018"/>
              <a:gd name="connsiteY7" fmla="*/ 1700788 h 1700788"/>
              <a:gd name="connsiteX8" fmla="*/ 5999018 w 5999018"/>
              <a:gd name="connsiteY8" fmla="*/ 850394 h 170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99018" h="1700788">
                <a:moveTo>
                  <a:pt x="5148624" y="0"/>
                </a:moveTo>
                <a:lnTo>
                  <a:pt x="3953495" y="0"/>
                </a:lnTo>
                <a:lnTo>
                  <a:pt x="1195129" y="0"/>
                </a:lnTo>
                <a:lnTo>
                  <a:pt x="0" y="0"/>
                </a:lnTo>
                <a:lnTo>
                  <a:pt x="0" y="1700788"/>
                </a:lnTo>
                <a:lnTo>
                  <a:pt x="1195129" y="1700788"/>
                </a:lnTo>
                <a:lnTo>
                  <a:pt x="3953495" y="1700788"/>
                </a:lnTo>
                <a:lnTo>
                  <a:pt x="5148624" y="1700788"/>
                </a:lnTo>
                <a:lnTo>
                  <a:pt x="5999018" y="850394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50000"/>
                </a:schemeClr>
              </a:gs>
              <a:gs pos="100000">
                <a:srgbClr val="0070C0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占位符 1">
            <a:extLst>
              <a:ext uri="{FF2B5EF4-FFF2-40B4-BE49-F238E27FC236}">
                <a16:creationId xmlns:a16="http://schemas.microsoft.com/office/drawing/2014/main" id="{FAE29F67-39D8-4482-A819-9A8F636DDE2A}"/>
              </a:ext>
            </a:extLst>
          </p:cNvPr>
          <p:cNvSpPr txBox="1"/>
          <p:nvPr/>
        </p:nvSpPr>
        <p:spPr>
          <a:xfrm>
            <a:off x="2003123" y="920780"/>
            <a:ext cx="3754877" cy="66358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44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ONTENTS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74C39B-EE01-45A3-B96F-59CF3A8A2A3F}"/>
              </a:ext>
            </a:extLst>
          </p:cNvPr>
          <p:cNvSpPr/>
          <p:nvPr/>
        </p:nvSpPr>
        <p:spPr>
          <a:xfrm>
            <a:off x="891041" y="381259"/>
            <a:ext cx="1063112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C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9F45A2D-1DB2-4D10-8154-E1B336E09842}"/>
              </a:ext>
            </a:extLst>
          </p:cNvPr>
          <p:cNvGrpSpPr/>
          <p:nvPr/>
        </p:nvGrpSpPr>
        <p:grpSpPr>
          <a:xfrm>
            <a:off x="576661" y="2057625"/>
            <a:ext cx="679374" cy="589473"/>
            <a:chOff x="725726" y="1781746"/>
            <a:chExt cx="515267" cy="515267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762B5412-0803-42C0-96D7-0625BF2430CD}"/>
                </a:ext>
              </a:extLst>
            </p:cNvPr>
            <p:cNvSpPr/>
            <p:nvPr/>
          </p:nvSpPr>
          <p:spPr bwMode="auto">
            <a:xfrm>
              <a:off x="725726" y="1781746"/>
              <a:ext cx="515267" cy="515267"/>
            </a:xfrm>
            <a:prstGeom prst="ellipse">
              <a:avLst/>
            </a:prstGeom>
            <a:gradFill>
              <a:gsLst>
                <a:gs pos="0">
                  <a:srgbClr val="FBFBFB"/>
                </a:gs>
                <a:gs pos="100000">
                  <a:srgbClr val="CBCFD0"/>
                </a:gs>
              </a:gsLst>
              <a:lin ang="19800000" scaled="0"/>
            </a:gradFill>
            <a:ln w="22225" cap="flat" cmpd="sng" algn="ctr">
              <a:noFill/>
              <a:prstDash val="sysDot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alatino" charset="0"/>
                <a:ea typeface="华文宋体" panose="02010600040101010101" charset="-122"/>
                <a:cs typeface="+mn-cs"/>
                <a:sym typeface="Palatino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2116894E-76C9-4F8A-8117-7527B6CE0BA7}"/>
                </a:ext>
              </a:extLst>
            </p:cNvPr>
            <p:cNvSpPr/>
            <p:nvPr/>
          </p:nvSpPr>
          <p:spPr>
            <a:xfrm>
              <a:off x="792109" y="1823935"/>
              <a:ext cx="389296" cy="4573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tencil" panose="040409050D0802020404" pitchFamily="82" charset="0"/>
                  <a:ea typeface="等线" panose="02010600030101010101" pitchFamily="2" charset="-122"/>
                  <a:cs typeface="+mn-cs"/>
                </a:rPr>
                <a:t>01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tencil" panose="040409050D0802020404" pitchFamily="82" charset="0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52266479-2DD6-4A24-B4CC-1F3C9098E4D0}"/>
              </a:ext>
            </a:extLst>
          </p:cNvPr>
          <p:cNvSpPr/>
          <p:nvPr/>
        </p:nvSpPr>
        <p:spPr>
          <a:xfrm>
            <a:off x="1371555" y="2059974"/>
            <a:ext cx="41024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sz="32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Rectification Mode</a:t>
            </a:r>
            <a:endParaRPr lang="zh-CN" altLang="en-US" sz="32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D8C647C-F043-4052-AC78-B132FD0DCCFC}"/>
              </a:ext>
            </a:extLst>
          </p:cNvPr>
          <p:cNvSpPr/>
          <p:nvPr/>
        </p:nvSpPr>
        <p:spPr>
          <a:xfrm>
            <a:off x="1358748" y="2948287"/>
            <a:ext cx="56837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FR" altLang="zh-CN" sz="32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Active Inversion Mode</a:t>
            </a:r>
            <a:endParaRPr lang="zh-CN" altLang="en-US" sz="32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630C35DD-66C1-465C-BF02-7AC45E75C905}"/>
              </a:ext>
            </a:extLst>
          </p:cNvPr>
          <p:cNvSpPr/>
          <p:nvPr/>
        </p:nvSpPr>
        <p:spPr bwMode="auto">
          <a:xfrm>
            <a:off x="563855" y="2927396"/>
            <a:ext cx="676565" cy="589473"/>
          </a:xfrm>
          <a:prstGeom prst="ellipse">
            <a:avLst/>
          </a:prstGeom>
          <a:gradFill>
            <a:gsLst>
              <a:gs pos="0">
                <a:srgbClr val="FBFBFB"/>
              </a:gs>
              <a:gs pos="100000">
                <a:srgbClr val="CBCFD0"/>
              </a:gs>
            </a:gsLst>
            <a:lin ang="19800000" scaled="0"/>
          </a:gradFill>
          <a:ln w="22225" cap="flat" cmpd="sng" algn="ctr">
            <a:noFill/>
            <a:prstDash val="sysDot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alatino" charset="0"/>
              <a:ea typeface="华文宋体" panose="02010600040101010101" charset="-122"/>
              <a:cs typeface="+mn-cs"/>
              <a:sym typeface="Palatino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9ED0FF3-87EC-4597-9274-2A8EC94083BB}"/>
              </a:ext>
            </a:extLst>
          </p:cNvPr>
          <p:cNvSpPr/>
          <p:nvPr/>
        </p:nvSpPr>
        <p:spPr>
          <a:xfrm>
            <a:off x="628319" y="2960522"/>
            <a:ext cx="5565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tencil" panose="040409050D0802020404" pitchFamily="82" charset="0"/>
                <a:ea typeface="等线" panose="02010600030101010101" pitchFamily="2" charset="-122"/>
                <a:cs typeface="+mn-cs"/>
              </a:rPr>
              <a:t>02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tencil" panose="040409050D0802020404" pitchFamily="82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5FBAB032-E77A-41F2-9034-A166A1912DA9}"/>
              </a:ext>
            </a:extLst>
          </p:cNvPr>
          <p:cNvSpPr/>
          <p:nvPr/>
        </p:nvSpPr>
        <p:spPr bwMode="auto">
          <a:xfrm>
            <a:off x="563855" y="3853393"/>
            <a:ext cx="677509" cy="589473"/>
          </a:xfrm>
          <a:prstGeom prst="ellipse">
            <a:avLst/>
          </a:prstGeom>
          <a:gradFill>
            <a:gsLst>
              <a:gs pos="0">
                <a:srgbClr val="FBFBFB"/>
              </a:gs>
              <a:gs pos="100000">
                <a:srgbClr val="CBCFD0"/>
              </a:gs>
            </a:gsLst>
            <a:lin ang="19800000" scaled="0"/>
          </a:gradFill>
          <a:ln w="22225" cap="flat" cmpd="sng" algn="ctr">
            <a:noFill/>
            <a:prstDash val="sysDot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alatino" charset="0"/>
              <a:ea typeface="华文宋体" panose="02010600040101010101" charset="-122"/>
              <a:cs typeface="+mn-cs"/>
              <a:sym typeface="Palatino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7CFD069-1B70-4C65-AF18-0844E51344BB}"/>
              </a:ext>
            </a:extLst>
          </p:cNvPr>
          <p:cNvSpPr/>
          <p:nvPr/>
        </p:nvSpPr>
        <p:spPr>
          <a:xfrm>
            <a:off x="623187" y="3886519"/>
            <a:ext cx="5677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tencil" panose="040409050D0802020404" pitchFamily="82" charset="0"/>
                <a:ea typeface="等线" panose="02010600030101010101" pitchFamily="2" charset="-122"/>
                <a:cs typeface="+mn-cs"/>
              </a:rPr>
              <a:t>03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tencil" panose="040409050D0802020404" pitchFamily="82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8FCFEBB-F705-4C6E-B05F-DF6AC7209462}"/>
              </a:ext>
            </a:extLst>
          </p:cNvPr>
          <p:cNvSpPr txBox="1"/>
          <p:nvPr/>
        </p:nvSpPr>
        <p:spPr>
          <a:xfrm>
            <a:off x="11711027" y="6208972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08058DF-14CC-4072-B04B-F535655292B8}"/>
              </a:ext>
            </a:extLst>
          </p:cNvPr>
          <p:cNvSpPr/>
          <p:nvPr/>
        </p:nvSpPr>
        <p:spPr bwMode="auto">
          <a:xfrm>
            <a:off x="576661" y="5580843"/>
            <a:ext cx="679374" cy="589473"/>
          </a:xfrm>
          <a:prstGeom prst="ellipse">
            <a:avLst/>
          </a:prstGeom>
          <a:gradFill>
            <a:gsLst>
              <a:gs pos="0">
                <a:srgbClr val="FBFBFB"/>
              </a:gs>
              <a:gs pos="100000">
                <a:srgbClr val="CBCFD0"/>
              </a:gs>
            </a:gsLst>
            <a:lin ang="19800000" scaled="0"/>
          </a:gradFill>
          <a:ln w="22225" cap="flat" cmpd="sng" algn="ctr">
            <a:noFill/>
            <a:prstDash val="sysDot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alatino" charset="0"/>
              <a:ea typeface="华文宋体" panose="02010600040101010101" charset="-122"/>
              <a:cs typeface="+mn-cs"/>
              <a:sym typeface="Palatino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B11B4B-03C1-4F12-BA22-8F46B9EAD648}"/>
              </a:ext>
            </a:extLst>
          </p:cNvPr>
          <p:cNvSpPr/>
          <p:nvPr/>
        </p:nvSpPr>
        <p:spPr>
          <a:xfrm>
            <a:off x="1358748" y="3836600"/>
            <a:ext cx="65662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Principle of Capacitive filtering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9F0C19D-F5A3-4242-9A1D-DEE1FE3BB7F7}"/>
              </a:ext>
            </a:extLst>
          </p:cNvPr>
          <p:cNvSpPr/>
          <p:nvPr/>
        </p:nvSpPr>
        <p:spPr>
          <a:xfrm>
            <a:off x="1388652" y="4724913"/>
            <a:ext cx="26276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32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</a:t>
            </a:r>
            <a:endParaRPr lang="zh-CN" altLang="en-US" sz="32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CC797AF2-6017-49E4-B32C-04BD7C3625C4}"/>
              </a:ext>
            </a:extLst>
          </p:cNvPr>
          <p:cNvSpPr/>
          <p:nvPr/>
        </p:nvSpPr>
        <p:spPr bwMode="auto">
          <a:xfrm>
            <a:off x="576661" y="4733647"/>
            <a:ext cx="677509" cy="616223"/>
          </a:xfrm>
          <a:prstGeom prst="ellipse">
            <a:avLst/>
          </a:prstGeom>
          <a:gradFill>
            <a:gsLst>
              <a:gs pos="0">
                <a:srgbClr val="FBFBFB"/>
              </a:gs>
              <a:gs pos="100000">
                <a:srgbClr val="CBCFD0"/>
              </a:gs>
            </a:gsLst>
            <a:lin ang="19800000" scaled="0"/>
          </a:gradFill>
          <a:ln w="22225" cap="flat" cmpd="sng" algn="ctr">
            <a:noFill/>
            <a:prstDash val="sysDot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alatino" charset="0"/>
              <a:ea typeface="华文宋体" panose="02010600040101010101" charset="-122"/>
              <a:cs typeface="+mn-cs"/>
              <a:sym typeface="Palatino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64E7629-6D4A-4D66-82E1-0F64C213DDB5}"/>
              </a:ext>
            </a:extLst>
          </p:cNvPr>
          <p:cNvSpPr/>
          <p:nvPr/>
        </p:nvSpPr>
        <p:spPr>
          <a:xfrm>
            <a:off x="1358747" y="5613227"/>
            <a:ext cx="509342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Results and Analysis</a:t>
            </a:r>
            <a:endParaRPr lang="zh-CN" alt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B9386C4-58AB-4598-B128-E7A410194BAE}"/>
              </a:ext>
            </a:extLst>
          </p:cNvPr>
          <p:cNvSpPr/>
          <p:nvPr/>
        </p:nvSpPr>
        <p:spPr>
          <a:xfrm>
            <a:off x="626410" y="4779390"/>
            <a:ext cx="5966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tencil" panose="040409050D0802020404" pitchFamily="82" charset="0"/>
                <a:ea typeface="等线" panose="02010600030101010101" pitchFamily="2" charset="-122"/>
                <a:cs typeface="+mn-cs"/>
              </a:rPr>
              <a:t>04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tencil" panose="040409050D0802020404" pitchFamily="82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58A2A5F-859B-4BFB-BC9A-0B64B067ACBB}"/>
              </a:ext>
            </a:extLst>
          </p:cNvPr>
          <p:cNvSpPr/>
          <p:nvPr/>
        </p:nvSpPr>
        <p:spPr>
          <a:xfrm>
            <a:off x="603015" y="5613227"/>
            <a:ext cx="5982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tencil" panose="040409050D0802020404" pitchFamily="82" charset="0"/>
                <a:ea typeface="等线" panose="02010600030101010101" pitchFamily="2" charset="-122"/>
                <a:cs typeface="+mn-cs"/>
              </a:rPr>
              <a:t>05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tencil" panose="040409050D0802020404" pitchFamily="82" charset="0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184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4492E562-4BFF-407E-A59A-40E2E5E7517B}"/>
              </a:ext>
            </a:extLst>
          </p:cNvPr>
          <p:cNvSpPr txBox="1"/>
          <p:nvPr/>
        </p:nvSpPr>
        <p:spPr>
          <a:xfrm>
            <a:off x="7437119" y="947994"/>
            <a:ext cx="27316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01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2C8FBC-87CA-4CCA-8BA4-F6FE1AAFDE6B}"/>
              </a:ext>
            </a:extLst>
          </p:cNvPr>
          <p:cNvSpPr/>
          <p:nvPr/>
        </p:nvSpPr>
        <p:spPr>
          <a:xfrm>
            <a:off x="4951040" y="3689261"/>
            <a:ext cx="7240960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90000"/>
              </a:lnSpc>
              <a:spcBef>
                <a:spcPts val="1000"/>
              </a:spcBef>
              <a:defRPr/>
            </a:pPr>
            <a:r>
              <a:rPr lang="fr-FR" altLang="zh-CN" sz="54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Rectification Mode</a:t>
            </a:r>
            <a:endParaRPr lang="zh-CN" altLang="en-US" sz="5400" b="1" dirty="0"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2D19271-6C26-428E-BBB7-7A197FCB972F}"/>
              </a:ext>
            </a:extLst>
          </p:cNvPr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18183175-16BF-45F8-A25A-0F5CBD6938A5}"/>
              </a:ext>
            </a:extLst>
          </p:cNvPr>
          <p:cNvSpPr/>
          <p:nvPr/>
        </p:nvSpPr>
        <p:spPr>
          <a:xfrm>
            <a:off x="5117982" y="4757501"/>
            <a:ext cx="65660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 algn="ctr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32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Three-Phase Full Bridge Rectifier (Thyristor)</a:t>
            </a:r>
            <a:endParaRPr lang="zh-CN" altLang="en-US" sz="3600" i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1776B7-6BD7-4B6C-BFCA-7EB0275A2D92}"/>
              </a:ext>
            </a:extLst>
          </p:cNvPr>
          <p:cNvSpPr txBox="1"/>
          <p:nvPr/>
        </p:nvSpPr>
        <p:spPr>
          <a:xfrm>
            <a:off x="11533259" y="6137053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996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BDF36529-D946-4342-8BC6-48E6A0C9D6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0" t="5964" r="7336"/>
          <a:stretch/>
        </p:blipFill>
        <p:spPr>
          <a:xfrm>
            <a:off x="0" y="1339273"/>
            <a:ext cx="9409814" cy="483098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C9E12D6-4EF8-49CB-8B0A-197AD4CBF0BE}"/>
              </a:ext>
            </a:extLst>
          </p:cNvPr>
          <p:cNvSpPr/>
          <p:nvPr/>
        </p:nvSpPr>
        <p:spPr>
          <a:xfrm>
            <a:off x="9409815" y="4052700"/>
            <a:ext cx="2703418" cy="18836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86853" y="275321"/>
            <a:ext cx="4554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Model</a:t>
            </a:r>
            <a:endParaRPr lang="zh-CN" altLang="zh-CN" sz="36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DAAE72B-8DCC-4DA7-B299-77FC779EE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769875"/>
              </p:ext>
            </p:extLst>
          </p:nvPr>
        </p:nvGraphicFramePr>
        <p:xfrm>
          <a:off x="8866010" y="921652"/>
          <a:ext cx="3406872" cy="1682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Visio" r:id="rId4" imgW="2415707" imgH="1188626" progId="Visio.Drawing.15">
                  <p:embed/>
                </p:oleObj>
              </mc:Choice>
              <mc:Fallback>
                <p:oleObj name="Visio" r:id="rId4" imgW="2415707" imgH="1188626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6010" y="921652"/>
                        <a:ext cx="3406872" cy="16824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14A9657-5194-43FA-9C8C-9D08DBCD5A81}"/>
              </a:ext>
            </a:extLst>
          </p:cNvPr>
          <p:cNvSpPr txBox="1"/>
          <p:nvPr/>
        </p:nvSpPr>
        <p:spPr>
          <a:xfrm>
            <a:off x="9505593" y="4101134"/>
            <a:ext cx="2472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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thyristors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842CAA2-E3DB-4013-8BE4-56B038C15008}"/>
              </a:ext>
            </a:extLst>
          </p:cNvPr>
          <p:cNvSpPr txBox="1"/>
          <p:nvPr/>
        </p:nvSpPr>
        <p:spPr>
          <a:xfrm>
            <a:off x="9500972" y="4561146"/>
            <a:ext cx="2948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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generator 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CB9AA56-DF71-499B-8F09-ABDD951CAC41}"/>
              </a:ext>
            </a:extLst>
          </p:cNvPr>
          <p:cNvSpPr txBox="1"/>
          <p:nvPr/>
        </p:nvSpPr>
        <p:spPr>
          <a:xfrm>
            <a:off x="9500972" y="5021157"/>
            <a:ext cx="2612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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Three-phase power supply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EBAD217-CF0D-42A8-AC2B-DB7863894A1C}"/>
              </a:ext>
            </a:extLst>
          </p:cNvPr>
          <p:cNvSpPr txBox="1"/>
          <p:nvPr/>
        </p:nvSpPr>
        <p:spPr>
          <a:xfrm>
            <a:off x="11533259" y="6137053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F1E70B20-501F-4B07-A302-F638AFFFCC4A}"/>
                  </a:ext>
                </a:extLst>
              </p:cNvPr>
              <p:cNvSpPr txBox="1"/>
              <p:nvPr/>
            </p:nvSpPr>
            <p:spPr>
              <a:xfrm>
                <a:off x="9505592" y="2484088"/>
                <a:ext cx="2948913" cy="1617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4000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=85°</a:t>
                </a:r>
              </a:p>
              <a:p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R=</a:t>
                </a:r>
                <a:r>
                  <a:rPr lang="en-US" altLang="zh-CN" sz="28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8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Ω</a:t>
                </a:r>
              </a:p>
              <a:p>
                <a:r>
                  <a:rPr lang="en-US" altLang="zh-CN" sz="28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=5mH</a:t>
                </a:r>
                <a:endParaRPr lang="zh-CN" altLang="en-US" sz="4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F1E70B20-501F-4B07-A302-F638AFFF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592" y="2484088"/>
                <a:ext cx="2948913" cy="1617046"/>
              </a:xfrm>
              <a:prstGeom prst="rect">
                <a:avLst/>
              </a:prstGeom>
              <a:blipFill>
                <a:blip r:embed="rId6"/>
                <a:stretch>
                  <a:fillRect l="-4132" b="-5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6C71E020-E605-47CB-9EA9-712CAC3B0D8B}"/>
              </a:ext>
            </a:extLst>
          </p:cNvPr>
          <p:cNvSpPr/>
          <p:nvPr/>
        </p:nvSpPr>
        <p:spPr>
          <a:xfrm>
            <a:off x="9067952" y="3822003"/>
            <a:ext cx="3139238" cy="17994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69C709-5ED0-417F-9604-7FEF3235E8EA}"/>
              </a:ext>
            </a:extLst>
          </p:cNvPr>
          <p:cNvSpPr/>
          <p:nvPr/>
        </p:nvSpPr>
        <p:spPr>
          <a:xfrm>
            <a:off x="9067952" y="921652"/>
            <a:ext cx="3139238" cy="17994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/>
              <p:nvPr/>
            </p:nvSpPr>
            <p:spPr>
              <a:xfrm>
                <a:off x="9413812" y="1023076"/>
                <a:ext cx="322453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</a:t>
                </a:r>
                <a:r>
                  <a:rPr lang="zh-CN" altLang="en-US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DC-link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</m:sub>
                    </m:sSub>
                  </m:oMath>
                </a14:m>
                <a:r>
                  <a:rPr lang="en-US" altLang="zh-CN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3812" y="1023076"/>
                <a:ext cx="3224530" cy="954107"/>
              </a:xfrm>
              <a:prstGeom prst="rect">
                <a:avLst/>
              </a:prstGeom>
              <a:blipFill>
                <a:blip r:embed="rId3"/>
                <a:stretch>
                  <a:fillRect l="-3781" t="-705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86853" y="275321"/>
            <a:ext cx="46212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results</a:t>
            </a:r>
            <a:endParaRPr lang="zh-CN" altLang="zh-CN" sz="36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0BBE9E-636B-4ADB-A791-C7F5D01CBE0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75" r="21954" b="2993"/>
          <a:stretch/>
        </p:blipFill>
        <p:spPr>
          <a:xfrm>
            <a:off x="288554" y="921652"/>
            <a:ext cx="8779398" cy="57386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17935BC-23EF-4A42-A18E-A9FA0C60C433}"/>
                  </a:ext>
                </a:extLst>
              </p:cNvPr>
              <p:cNvSpPr/>
              <p:nvPr/>
            </p:nvSpPr>
            <p:spPr>
              <a:xfrm>
                <a:off x="9427365" y="3960054"/>
                <a:ext cx="3224529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</a:t>
                </a:r>
                <a:r>
                  <a:rPr lang="zh-CN" altLang="en-US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Load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</m:sub>
                    </m:sSub>
                  </m:oMath>
                </a14:m>
                <a:endParaRPr lang="zh-CN" altLang="en-US" sz="28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17935BC-23EF-4A42-A18E-A9FA0C60C4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7365" y="3960054"/>
                <a:ext cx="3224529" cy="954107"/>
              </a:xfrm>
              <a:prstGeom prst="rect">
                <a:avLst/>
              </a:prstGeom>
              <a:blipFill>
                <a:blip r:embed="rId5"/>
                <a:stretch>
                  <a:fillRect l="-3781" t="-705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3EF31C82-098C-4100-9159-E0C6F48A82BB}"/>
              </a:ext>
            </a:extLst>
          </p:cNvPr>
          <p:cNvSpPr txBox="1"/>
          <p:nvPr/>
        </p:nvSpPr>
        <p:spPr>
          <a:xfrm>
            <a:off x="11533259" y="6137053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E1FF383-FFF8-42F4-B30B-8BA20C799C8F}"/>
              </a:ext>
            </a:extLst>
          </p:cNvPr>
          <p:cNvSpPr txBox="1"/>
          <p:nvPr/>
        </p:nvSpPr>
        <p:spPr>
          <a:xfrm>
            <a:off x="9427366" y="4893676"/>
            <a:ext cx="3139238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Consecutive current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383DC8-89BE-443A-90E3-5CAA36645027}"/>
              </a:ext>
            </a:extLst>
          </p:cNvPr>
          <p:cNvSpPr txBox="1"/>
          <p:nvPr/>
        </p:nvSpPr>
        <p:spPr>
          <a:xfrm>
            <a:off x="9413812" y="1944552"/>
            <a:ext cx="3139238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 the zero point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296FA6-0AC6-4D15-AA70-2FFE4E6A920D}"/>
                  </a:ext>
                </a:extLst>
              </p:cNvPr>
              <p:cNvSpPr txBox="1"/>
              <p:nvPr/>
            </p:nvSpPr>
            <p:spPr>
              <a:xfrm>
                <a:off x="9147924" y="2810959"/>
                <a:ext cx="2948913" cy="693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4000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=85° ; </a:t>
                </a:r>
                <a:r>
                  <a:rPr lang="en-US" altLang="zh-CN" sz="28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=5mH</a:t>
                </a:r>
                <a:endParaRPr lang="zh-CN" altLang="en-US" sz="4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296FA6-0AC6-4D15-AA70-2FFE4E6A9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7924" y="2810959"/>
                <a:ext cx="2948913" cy="693716"/>
              </a:xfrm>
              <a:prstGeom prst="rect">
                <a:avLst/>
              </a:prstGeom>
              <a:blipFill>
                <a:blip r:embed="rId6"/>
                <a:stretch>
                  <a:fillRect b="-20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星形: 四角 28">
            <a:extLst>
              <a:ext uri="{FF2B5EF4-FFF2-40B4-BE49-F238E27FC236}">
                <a16:creationId xmlns:a16="http://schemas.microsoft.com/office/drawing/2014/main" id="{A2AC5AEC-4F20-4B69-AE95-978E1672BD96}"/>
              </a:ext>
            </a:extLst>
          </p:cNvPr>
          <p:cNvSpPr/>
          <p:nvPr/>
        </p:nvSpPr>
        <p:spPr>
          <a:xfrm>
            <a:off x="9182644" y="1109911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  <p:sp>
        <p:nvSpPr>
          <p:cNvPr id="30" name="星形: 四角 29">
            <a:extLst>
              <a:ext uri="{FF2B5EF4-FFF2-40B4-BE49-F238E27FC236}">
                <a16:creationId xmlns:a16="http://schemas.microsoft.com/office/drawing/2014/main" id="{ED38AE2E-228B-473F-B9BB-E3CF9BE8C878}"/>
              </a:ext>
            </a:extLst>
          </p:cNvPr>
          <p:cNvSpPr/>
          <p:nvPr/>
        </p:nvSpPr>
        <p:spPr>
          <a:xfrm>
            <a:off x="9196196" y="4073129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7649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8206AB9-AB2C-4E01-9FA7-223CE99A4478}"/>
              </a:ext>
            </a:extLst>
          </p:cNvPr>
          <p:cNvSpPr/>
          <p:nvPr/>
        </p:nvSpPr>
        <p:spPr>
          <a:xfrm>
            <a:off x="8702210" y="3840214"/>
            <a:ext cx="3502481" cy="1153556"/>
          </a:xfrm>
          <a:prstGeom prst="rect">
            <a:avLst/>
          </a:prstGeom>
          <a:solidFill>
            <a:srgbClr val="2E54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CA36B8-4AC6-4712-8222-0F49E3FBF4EF}"/>
              </a:ext>
            </a:extLst>
          </p:cNvPr>
          <p:cNvSpPr/>
          <p:nvPr/>
        </p:nvSpPr>
        <p:spPr>
          <a:xfrm>
            <a:off x="8702210" y="1023805"/>
            <a:ext cx="3493215" cy="1745735"/>
          </a:xfrm>
          <a:prstGeom prst="rect">
            <a:avLst/>
          </a:prstGeom>
          <a:solidFill>
            <a:srgbClr val="2E54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/>
              <p:nvPr/>
            </p:nvSpPr>
            <p:spPr>
              <a:xfrm>
                <a:off x="9019677" y="1083284"/>
                <a:ext cx="3638084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20000"/>
                  </a:spcBef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 AC-link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677" y="1083284"/>
                <a:ext cx="3638084" cy="954107"/>
              </a:xfrm>
              <a:prstGeom prst="rect">
                <a:avLst/>
              </a:prstGeom>
              <a:blipFill>
                <a:blip r:embed="rId3"/>
                <a:stretch>
                  <a:fillRect l="-3523" t="-705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86853" y="275321"/>
            <a:ext cx="46212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results</a:t>
            </a:r>
            <a:endParaRPr lang="zh-CN" altLang="zh-CN" sz="36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17935BC-23EF-4A42-A18E-A9FA0C60C433}"/>
                  </a:ext>
                </a:extLst>
              </p:cNvPr>
              <p:cNvSpPr/>
              <p:nvPr/>
            </p:nvSpPr>
            <p:spPr>
              <a:xfrm>
                <a:off x="9019677" y="3934871"/>
                <a:ext cx="322452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20000"/>
                  </a:spcBef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zh-CN" altLang="en-US" sz="40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17935BC-23EF-4A42-A18E-A9FA0C60C4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677" y="3934871"/>
                <a:ext cx="3224529" cy="523220"/>
              </a:xfrm>
              <a:prstGeom prst="rect">
                <a:avLst/>
              </a:prstGeom>
              <a:blipFill>
                <a:blip r:embed="rId4"/>
                <a:stretch>
                  <a:fillRect l="-3970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3EF31C82-098C-4100-9159-E0C6F48A82BB}"/>
              </a:ext>
            </a:extLst>
          </p:cNvPr>
          <p:cNvSpPr txBox="1"/>
          <p:nvPr/>
        </p:nvSpPr>
        <p:spPr>
          <a:xfrm>
            <a:off x="11595789" y="6230530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E1FF383-FFF8-42F4-B30B-8BA20C799C8F}"/>
              </a:ext>
            </a:extLst>
          </p:cNvPr>
          <p:cNvSpPr txBox="1"/>
          <p:nvPr/>
        </p:nvSpPr>
        <p:spPr>
          <a:xfrm>
            <a:off x="9065910" y="4288618"/>
            <a:ext cx="3139238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  current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383DC8-89BE-443A-90E3-5CAA36645027}"/>
              </a:ext>
            </a:extLst>
          </p:cNvPr>
          <p:cNvSpPr txBox="1"/>
          <p:nvPr/>
        </p:nvSpPr>
        <p:spPr>
          <a:xfrm>
            <a:off x="9104969" y="2021615"/>
            <a:ext cx="3139238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Phase voltage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星形: 四角 28">
            <a:extLst>
              <a:ext uri="{FF2B5EF4-FFF2-40B4-BE49-F238E27FC236}">
                <a16:creationId xmlns:a16="http://schemas.microsoft.com/office/drawing/2014/main" id="{A2AC5AEC-4F20-4B69-AE95-978E1672BD96}"/>
              </a:ext>
            </a:extLst>
          </p:cNvPr>
          <p:cNvSpPr/>
          <p:nvPr/>
        </p:nvSpPr>
        <p:spPr>
          <a:xfrm>
            <a:off x="8788509" y="1170119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  <p:sp>
        <p:nvSpPr>
          <p:cNvPr id="30" name="星形: 四角 29">
            <a:extLst>
              <a:ext uri="{FF2B5EF4-FFF2-40B4-BE49-F238E27FC236}">
                <a16:creationId xmlns:a16="http://schemas.microsoft.com/office/drawing/2014/main" id="{ED38AE2E-228B-473F-B9BB-E3CF9BE8C878}"/>
              </a:ext>
            </a:extLst>
          </p:cNvPr>
          <p:cNvSpPr/>
          <p:nvPr/>
        </p:nvSpPr>
        <p:spPr>
          <a:xfrm>
            <a:off x="8788508" y="4047946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E9B1D7F-576C-40D3-B139-2AD42AEA3C8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386" r="23295"/>
          <a:stretch/>
        </p:blipFill>
        <p:spPr>
          <a:xfrm>
            <a:off x="171186" y="1034342"/>
            <a:ext cx="8531025" cy="562593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C59F907-7066-469E-9F3E-BB22186A4CE1}"/>
              </a:ext>
            </a:extLst>
          </p:cNvPr>
          <p:cNvSpPr txBox="1"/>
          <p:nvPr/>
        </p:nvSpPr>
        <p:spPr>
          <a:xfrm>
            <a:off x="8791106" y="2622149"/>
            <a:ext cx="3463424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Three-phase alternating conduction</a:t>
            </a:r>
            <a:endParaRPr lang="zh-CN" altLang="en-US" sz="2400" kern="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0FCD6D-80AA-4A10-87C4-F2600CE0776A}"/>
              </a:ext>
            </a:extLst>
          </p:cNvPr>
          <p:cNvSpPr txBox="1"/>
          <p:nvPr/>
        </p:nvSpPr>
        <p:spPr>
          <a:xfrm>
            <a:off x="8841186" y="5145990"/>
            <a:ext cx="32245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yellow line: phase-a</a:t>
            </a:r>
          </a:p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line: phase-b</a:t>
            </a:r>
          </a:p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line: phase-c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31C171E-283F-4301-B4B2-A8543EF237B8}"/>
              </a:ext>
            </a:extLst>
          </p:cNvPr>
          <p:cNvSpPr/>
          <p:nvPr/>
        </p:nvSpPr>
        <p:spPr>
          <a:xfrm>
            <a:off x="2075380" y="1684962"/>
            <a:ext cx="260138" cy="260138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58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83885A71-926B-4F7D-BECE-D15E9C06E545}"/>
              </a:ext>
            </a:extLst>
          </p:cNvPr>
          <p:cNvSpPr/>
          <p:nvPr/>
        </p:nvSpPr>
        <p:spPr>
          <a:xfrm>
            <a:off x="8646115" y="1021023"/>
            <a:ext cx="3545885" cy="1575525"/>
          </a:xfrm>
          <a:prstGeom prst="rect">
            <a:avLst/>
          </a:prstGeom>
          <a:solidFill>
            <a:srgbClr val="2E54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/>
              <p:nvPr/>
            </p:nvSpPr>
            <p:spPr>
              <a:xfrm>
                <a:off x="8937484" y="1109837"/>
                <a:ext cx="3638084" cy="1460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20000"/>
                  </a:spcBef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 six thyristors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sub>
                    </m:sSub>
                  </m:oMath>
                </a14:m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484" y="1109837"/>
                <a:ext cx="3638084" cy="1460721"/>
              </a:xfrm>
              <a:prstGeom prst="rect">
                <a:avLst/>
              </a:prstGeom>
              <a:blipFill>
                <a:blip r:embed="rId3"/>
                <a:stretch>
                  <a:fillRect l="-3350" t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86853" y="275321"/>
            <a:ext cx="46212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results</a:t>
            </a:r>
            <a:endParaRPr lang="zh-CN" altLang="zh-CN" sz="36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F31C82-098C-4100-9159-E0C6F48A82BB}"/>
              </a:ext>
            </a:extLst>
          </p:cNvPr>
          <p:cNvSpPr txBox="1"/>
          <p:nvPr/>
        </p:nvSpPr>
        <p:spPr>
          <a:xfrm>
            <a:off x="11533259" y="6137053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D383DC8-89BE-443A-90E3-5CAA36645027}"/>
                  </a:ext>
                </a:extLst>
              </p:cNvPr>
              <p:cNvSpPr txBox="1"/>
              <p:nvPr/>
            </p:nvSpPr>
            <p:spPr>
              <a:xfrm>
                <a:off x="8957516" y="3927610"/>
                <a:ext cx="3139238" cy="2013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800" b="1" kern="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D383DC8-89BE-443A-90E3-5CAA36645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7516" y="3927610"/>
                <a:ext cx="3139238" cy="2013243"/>
              </a:xfrm>
              <a:prstGeom prst="rect">
                <a:avLst/>
              </a:prstGeom>
              <a:blipFill>
                <a:blip r:embed="rId4"/>
                <a:stretch>
                  <a:fillRect b="-33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星形: 四角 28">
            <a:extLst>
              <a:ext uri="{FF2B5EF4-FFF2-40B4-BE49-F238E27FC236}">
                <a16:creationId xmlns:a16="http://schemas.microsoft.com/office/drawing/2014/main" id="{A2AC5AEC-4F20-4B69-AE95-978E1672BD96}"/>
              </a:ext>
            </a:extLst>
          </p:cNvPr>
          <p:cNvSpPr/>
          <p:nvPr/>
        </p:nvSpPr>
        <p:spPr>
          <a:xfrm>
            <a:off x="8706316" y="1196672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59F907-7066-469E-9F3E-BB22186A4CE1}"/>
              </a:ext>
            </a:extLst>
          </p:cNvPr>
          <p:cNvSpPr txBox="1"/>
          <p:nvPr/>
        </p:nvSpPr>
        <p:spPr>
          <a:xfrm>
            <a:off x="8957516" y="2792748"/>
            <a:ext cx="3463424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thyristors alternating conduction</a:t>
            </a:r>
            <a:endParaRPr lang="zh-CN" altLang="en-US" sz="2400" kern="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CF6F8F-DBCE-4496-99F8-DA3AA4483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23" y="1006867"/>
            <a:ext cx="8252492" cy="54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0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C8F158A-DF6B-4FB1-BD90-DEF7ABBFBA03}"/>
              </a:ext>
            </a:extLst>
          </p:cNvPr>
          <p:cNvSpPr/>
          <p:nvPr/>
        </p:nvSpPr>
        <p:spPr>
          <a:xfrm>
            <a:off x="9586974" y="1356189"/>
            <a:ext cx="2721465" cy="1471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six thyristors cur</a:t>
            </a:r>
          </a:p>
          <a:p>
            <a:pPr lvl="0">
              <a:spcBef>
                <a:spcPct val="20000"/>
              </a:spcBef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86853" y="275321"/>
            <a:ext cx="118202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Comparison of theory and simulation</a:t>
            </a:r>
            <a:endParaRPr lang="zh-CN" altLang="zh-CN" sz="36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F31C82-098C-4100-9159-E0C6F48A82BB}"/>
              </a:ext>
            </a:extLst>
          </p:cNvPr>
          <p:cNvSpPr txBox="1"/>
          <p:nvPr/>
        </p:nvSpPr>
        <p:spPr>
          <a:xfrm>
            <a:off x="11533259" y="6137053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9FB36C31-33AA-4653-870A-A9EB4EC30E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0939927"/>
                  </p:ext>
                </p:extLst>
              </p:nvPr>
            </p:nvGraphicFramePr>
            <p:xfrm>
              <a:off x="558104" y="1109837"/>
              <a:ext cx="8832476" cy="488370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000161">
                      <a:extLst>
                        <a:ext uri="{9D8B030D-6E8A-4147-A177-3AD203B41FA5}">
                          <a16:colId xmlns:a16="http://schemas.microsoft.com/office/drawing/2014/main" val="4084829730"/>
                        </a:ext>
                      </a:extLst>
                    </a:gridCol>
                    <a:gridCol w="2784297">
                      <a:extLst>
                        <a:ext uri="{9D8B030D-6E8A-4147-A177-3AD203B41FA5}">
                          <a16:colId xmlns:a16="http://schemas.microsoft.com/office/drawing/2014/main" val="3418724267"/>
                        </a:ext>
                      </a:extLst>
                    </a:gridCol>
                    <a:gridCol w="1448656">
                      <a:extLst>
                        <a:ext uri="{9D8B030D-6E8A-4147-A177-3AD203B41FA5}">
                          <a16:colId xmlns:a16="http://schemas.microsoft.com/office/drawing/2014/main" val="39310425"/>
                        </a:ext>
                      </a:extLst>
                    </a:gridCol>
                    <a:gridCol w="1428108">
                      <a:extLst>
                        <a:ext uri="{9D8B030D-6E8A-4147-A177-3AD203B41FA5}">
                          <a16:colId xmlns:a16="http://schemas.microsoft.com/office/drawing/2014/main" val="3595264546"/>
                        </a:ext>
                      </a:extLst>
                    </a:gridCol>
                    <a:gridCol w="1171254">
                      <a:extLst>
                        <a:ext uri="{9D8B030D-6E8A-4147-A177-3AD203B41FA5}">
                          <a16:colId xmlns:a16="http://schemas.microsoft.com/office/drawing/2014/main" val="510084141"/>
                        </a:ext>
                      </a:extLst>
                    </a:gridCol>
                  </a:tblGrid>
                  <a:tr h="1761479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parameters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Approximate calculation formula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The calculated value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Measured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error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06443103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average DC-link voltage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27940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sz="2000" i="1" kern="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=2.34</m:t>
                                </m:r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i="1" kern="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𝑐𝑜𝑠</m:t>
                                </m:r>
                                <m:r>
                                  <a:rPr lang="en-US" sz="2000" i="1" kern="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44.87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43.18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3.8%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71008383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average DC-link current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27940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US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44.87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43.17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3.8%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33119294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RMS AC side current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27940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rad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36.64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35.17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4.0%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70258065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RMS Thyristor current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27940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𝑉𝑇</m:t>
                                    </m:r>
                                  </m:sub>
                                </m:sSub>
                                <m:r>
                                  <a:rPr lang="en-US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rad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25.91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29.61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14%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703415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9FB36C31-33AA-4653-870A-A9EB4EC30E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0939927"/>
                  </p:ext>
                </p:extLst>
              </p:nvPr>
            </p:nvGraphicFramePr>
            <p:xfrm>
              <a:off x="558104" y="1109837"/>
              <a:ext cx="8832476" cy="488370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000161">
                      <a:extLst>
                        <a:ext uri="{9D8B030D-6E8A-4147-A177-3AD203B41FA5}">
                          <a16:colId xmlns:a16="http://schemas.microsoft.com/office/drawing/2014/main" val="4084829730"/>
                        </a:ext>
                      </a:extLst>
                    </a:gridCol>
                    <a:gridCol w="2784297">
                      <a:extLst>
                        <a:ext uri="{9D8B030D-6E8A-4147-A177-3AD203B41FA5}">
                          <a16:colId xmlns:a16="http://schemas.microsoft.com/office/drawing/2014/main" val="3418724267"/>
                        </a:ext>
                      </a:extLst>
                    </a:gridCol>
                    <a:gridCol w="1448656">
                      <a:extLst>
                        <a:ext uri="{9D8B030D-6E8A-4147-A177-3AD203B41FA5}">
                          <a16:colId xmlns:a16="http://schemas.microsoft.com/office/drawing/2014/main" val="39310425"/>
                        </a:ext>
                      </a:extLst>
                    </a:gridCol>
                    <a:gridCol w="1428108">
                      <a:extLst>
                        <a:ext uri="{9D8B030D-6E8A-4147-A177-3AD203B41FA5}">
                          <a16:colId xmlns:a16="http://schemas.microsoft.com/office/drawing/2014/main" val="3595264546"/>
                        </a:ext>
                      </a:extLst>
                    </a:gridCol>
                    <a:gridCol w="1171254">
                      <a:extLst>
                        <a:ext uri="{9D8B030D-6E8A-4147-A177-3AD203B41FA5}">
                          <a16:colId xmlns:a16="http://schemas.microsoft.com/office/drawing/2014/main" val="510084141"/>
                        </a:ext>
                      </a:extLst>
                    </a:gridCol>
                  </a:tblGrid>
                  <a:tr h="1761479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parameters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Approximate calculation formula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The calculated value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Measured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error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06443103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average DC-link voltage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1991" t="-266055" r="-146389" b="-3724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44.87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43.18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3.8%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71008383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average DC-link current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1991" t="-369444" r="-146389" b="-275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44.87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43.17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3.8%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33119294"/>
                      </a:ext>
                    </a:extLst>
                  </a:tr>
                  <a:tr h="900557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RMS AC side current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1991" t="-342568" r="-146389" b="-1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36.64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35.17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4.0%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70258065"/>
                      </a:ext>
                    </a:extLst>
                  </a:tr>
                  <a:tr h="900557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RMS Thyristor current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1991" t="-442568" r="-146389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25.91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29.61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14%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703415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85110BB8-CD25-4E49-A002-1B42C18D131E}"/>
              </a:ext>
            </a:extLst>
          </p:cNvPr>
          <p:cNvSpPr/>
          <p:nvPr/>
        </p:nvSpPr>
        <p:spPr>
          <a:xfrm>
            <a:off x="9529281" y="1783661"/>
            <a:ext cx="25971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800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reasons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236D5A-D73A-444A-AF78-77808C32735C}"/>
              </a:ext>
            </a:extLst>
          </p:cNvPr>
          <p:cNvSpPr/>
          <p:nvPr/>
        </p:nvSpPr>
        <p:spPr>
          <a:xfrm>
            <a:off x="9390580" y="2682753"/>
            <a:ext cx="2784296" cy="1981714"/>
          </a:xfrm>
          <a:prstGeom prst="rect">
            <a:avLst/>
          </a:prstGeom>
          <a:solidFill>
            <a:srgbClr val="2E54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50744B-0A24-4372-AE67-6B70A5FF5F79}"/>
              </a:ext>
            </a:extLst>
          </p:cNvPr>
          <p:cNvSpPr txBox="1"/>
          <p:nvPr/>
        </p:nvSpPr>
        <p:spPr>
          <a:xfrm>
            <a:off x="9667982" y="2681033"/>
            <a:ext cx="2239766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Steady state</a:t>
            </a:r>
            <a:endParaRPr lang="zh-CN" altLang="en-US" sz="2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星形: 四角 15">
            <a:extLst>
              <a:ext uri="{FF2B5EF4-FFF2-40B4-BE49-F238E27FC236}">
                <a16:creationId xmlns:a16="http://schemas.microsoft.com/office/drawing/2014/main" id="{12137CD3-93FF-420A-8679-F42C60571A01}"/>
              </a:ext>
            </a:extLst>
          </p:cNvPr>
          <p:cNvSpPr/>
          <p:nvPr/>
        </p:nvSpPr>
        <p:spPr>
          <a:xfrm>
            <a:off x="9390580" y="2871012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EF7F6B-5224-4B45-A0E4-1050C524FC2D}"/>
              </a:ext>
            </a:extLst>
          </p:cNvPr>
          <p:cNvSpPr txBox="1"/>
          <p:nvPr/>
        </p:nvSpPr>
        <p:spPr>
          <a:xfrm>
            <a:off x="9667981" y="3388006"/>
            <a:ext cx="2640457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Finite  inductance value</a:t>
            </a:r>
            <a:endParaRPr lang="zh-CN" altLang="en-US" sz="2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" name="星形: 四角 19">
            <a:extLst>
              <a:ext uri="{FF2B5EF4-FFF2-40B4-BE49-F238E27FC236}">
                <a16:creationId xmlns:a16="http://schemas.microsoft.com/office/drawing/2014/main" id="{A0461F2D-ECCB-483E-9B5F-B62879E686B3}"/>
              </a:ext>
            </a:extLst>
          </p:cNvPr>
          <p:cNvSpPr/>
          <p:nvPr/>
        </p:nvSpPr>
        <p:spPr>
          <a:xfrm>
            <a:off x="9390580" y="3577985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1358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4492E562-4BFF-407E-A59A-40E2E5E7517B}"/>
              </a:ext>
            </a:extLst>
          </p:cNvPr>
          <p:cNvSpPr txBox="1"/>
          <p:nvPr/>
        </p:nvSpPr>
        <p:spPr>
          <a:xfrm>
            <a:off x="7437119" y="947994"/>
            <a:ext cx="27316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02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2C8FBC-87CA-4CCA-8BA4-F6FE1AAFDE6B}"/>
              </a:ext>
            </a:extLst>
          </p:cNvPr>
          <p:cNvSpPr/>
          <p:nvPr/>
        </p:nvSpPr>
        <p:spPr>
          <a:xfrm>
            <a:off x="4930492" y="3639148"/>
            <a:ext cx="726150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90000"/>
              </a:lnSpc>
              <a:spcBef>
                <a:spcPts val="1000"/>
              </a:spcBef>
              <a:defRPr/>
            </a:pPr>
            <a:r>
              <a:rPr lang="fr-FR" altLang="zh-CN" sz="48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Active inversion Mode</a:t>
            </a:r>
            <a:endParaRPr lang="zh-CN" altLang="en-US" sz="4800" b="1" dirty="0"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2D19271-6C26-428E-BBB7-7A197FCB972F}"/>
              </a:ext>
            </a:extLst>
          </p:cNvPr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18183175-16BF-45F8-A25A-0F5CBD6938A5}"/>
              </a:ext>
            </a:extLst>
          </p:cNvPr>
          <p:cNvSpPr/>
          <p:nvPr/>
        </p:nvSpPr>
        <p:spPr>
          <a:xfrm>
            <a:off x="5117982" y="4757501"/>
            <a:ext cx="65660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 algn="ctr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32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Three-Phase Full Bridge Rectifier (Thyristor)</a:t>
            </a:r>
            <a:endParaRPr lang="zh-CN" altLang="en-US" sz="3600" i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1776B7-6BD7-4B6C-BFCA-7EB0275A2D92}"/>
              </a:ext>
            </a:extLst>
          </p:cNvPr>
          <p:cNvSpPr txBox="1"/>
          <p:nvPr/>
        </p:nvSpPr>
        <p:spPr>
          <a:xfrm>
            <a:off x="11533259" y="6137053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5845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81BEA34-2836-4C6C-A29F-5B88DADB68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40" t="5049" r="3237"/>
          <a:stretch/>
        </p:blipFill>
        <p:spPr>
          <a:xfrm>
            <a:off x="270585" y="1581439"/>
            <a:ext cx="9243285" cy="4576184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86853" y="275321"/>
            <a:ext cx="4554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Model</a:t>
            </a:r>
            <a:endParaRPr lang="zh-CN" altLang="zh-CN" sz="36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EBAD217-CF0D-42A8-AC2B-DB7863894A1C}"/>
              </a:ext>
            </a:extLst>
          </p:cNvPr>
          <p:cNvSpPr txBox="1"/>
          <p:nvPr/>
        </p:nvSpPr>
        <p:spPr>
          <a:xfrm>
            <a:off x="11533259" y="6137053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F1E70B20-501F-4B07-A302-F638AFFFCC4A}"/>
                  </a:ext>
                </a:extLst>
              </p:cNvPr>
              <p:cNvSpPr txBox="1"/>
              <p:nvPr/>
            </p:nvSpPr>
            <p:spPr>
              <a:xfrm>
                <a:off x="9967929" y="3709805"/>
                <a:ext cx="2648737" cy="1986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4000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=170°</a:t>
                </a:r>
              </a:p>
              <a:p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E=-600V</a:t>
                </a:r>
              </a:p>
              <a:p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R=</a:t>
                </a:r>
                <a:r>
                  <a:rPr lang="en-US" altLang="zh-CN" sz="28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8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Ω</a:t>
                </a:r>
              </a:p>
              <a:p>
                <a:r>
                  <a:rPr lang="en-US" altLang="zh-CN" sz="28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=5mH</a:t>
                </a:r>
                <a:endParaRPr lang="zh-CN" altLang="en-US" sz="4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F1E70B20-501F-4B07-A302-F638AFFF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929" y="3709805"/>
                <a:ext cx="2648737" cy="1986378"/>
              </a:xfrm>
              <a:prstGeom prst="rect">
                <a:avLst/>
              </a:prstGeom>
              <a:blipFill>
                <a:blip r:embed="rId4"/>
                <a:stretch>
                  <a:fillRect l="-4598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4">
            <a:extLst>
              <a:ext uri="{FF2B5EF4-FFF2-40B4-BE49-F238E27FC236}">
                <a16:creationId xmlns:a16="http://schemas.microsoft.com/office/drawing/2014/main" id="{C7F233A1-F5AA-4679-91A8-CBD624A07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1663" y="120425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0A5B0B4-3AA5-4CB5-9BBC-D628CCF1E8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954826"/>
              </p:ext>
            </p:extLst>
          </p:nvPr>
        </p:nvGraphicFramePr>
        <p:xfrm>
          <a:off x="8836019" y="1403410"/>
          <a:ext cx="3515744" cy="1744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Visio" r:id="rId5" imgW="2431941" imgH="1193665" progId="Visio.Drawing.15">
                  <p:embed/>
                </p:oleObj>
              </mc:Choice>
              <mc:Fallback>
                <p:oleObj name="Visio" r:id="rId5" imgW="2431941" imgH="1193665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6019" y="1403410"/>
                        <a:ext cx="3515744" cy="17447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637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6C71E020-E605-47CB-9EA9-712CAC3B0D8B}"/>
              </a:ext>
            </a:extLst>
          </p:cNvPr>
          <p:cNvSpPr/>
          <p:nvPr/>
        </p:nvSpPr>
        <p:spPr>
          <a:xfrm>
            <a:off x="8904946" y="3798543"/>
            <a:ext cx="3287053" cy="2185890"/>
          </a:xfrm>
          <a:prstGeom prst="rect">
            <a:avLst/>
          </a:prstGeom>
          <a:solidFill>
            <a:srgbClr val="0053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69C709-5ED0-417F-9604-7FEF3235E8EA}"/>
              </a:ext>
            </a:extLst>
          </p:cNvPr>
          <p:cNvSpPr/>
          <p:nvPr/>
        </p:nvSpPr>
        <p:spPr>
          <a:xfrm>
            <a:off x="8904947" y="921652"/>
            <a:ext cx="3238920" cy="1799454"/>
          </a:xfrm>
          <a:prstGeom prst="rect">
            <a:avLst/>
          </a:prstGeom>
          <a:solidFill>
            <a:srgbClr val="2E54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/>
              <p:nvPr/>
            </p:nvSpPr>
            <p:spPr>
              <a:xfrm>
                <a:off x="9350489" y="1023076"/>
                <a:ext cx="322453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</a:t>
                </a:r>
                <a:r>
                  <a:rPr lang="zh-CN" altLang="en-US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DC-link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</m:sub>
                    </m:sSub>
                  </m:oMath>
                </a14:m>
                <a:r>
                  <a:rPr lang="en-US" altLang="zh-CN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489" y="1023076"/>
                <a:ext cx="3224530" cy="954107"/>
              </a:xfrm>
              <a:prstGeom prst="rect">
                <a:avLst/>
              </a:prstGeom>
              <a:blipFill>
                <a:blip r:embed="rId3"/>
                <a:stretch>
                  <a:fillRect l="-3970" t="-705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86853" y="275321"/>
            <a:ext cx="46212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results</a:t>
            </a:r>
            <a:endParaRPr lang="zh-CN" altLang="zh-CN" sz="36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17935BC-23EF-4A42-A18E-A9FA0C60C433}"/>
                  </a:ext>
                </a:extLst>
              </p:cNvPr>
              <p:cNvSpPr/>
              <p:nvPr/>
            </p:nvSpPr>
            <p:spPr>
              <a:xfrm>
                <a:off x="9350490" y="3936595"/>
                <a:ext cx="3224529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</a:t>
                </a:r>
                <a:r>
                  <a:rPr lang="zh-CN" altLang="en-US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Load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</m:sub>
                    </m:sSub>
                  </m:oMath>
                </a14:m>
                <a:endParaRPr lang="zh-CN" altLang="en-US" sz="28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17935BC-23EF-4A42-A18E-A9FA0C60C4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490" y="3936595"/>
                <a:ext cx="3224529" cy="954107"/>
              </a:xfrm>
              <a:prstGeom prst="rect">
                <a:avLst/>
              </a:prstGeom>
              <a:blipFill>
                <a:blip r:embed="rId4"/>
                <a:stretch>
                  <a:fillRect l="-3970" t="-705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3EF31C82-098C-4100-9159-E0C6F48A82BB}"/>
              </a:ext>
            </a:extLst>
          </p:cNvPr>
          <p:cNvSpPr txBox="1"/>
          <p:nvPr/>
        </p:nvSpPr>
        <p:spPr>
          <a:xfrm>
            <a:off x="11533259" y="6137053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E1FF383-FFF8-42F4-B30B-8BA20C799C8F}"/>
              </a:ext>
            </a:extLst>
          </p:cNvPr>
          <p:cNvSpPr txBox="1"/>
          <p:nvPr/>
        </p:nvSpPr>
        <p:spPr>
          <a:xfrm>
            <a:off x="9396723" y="4791840"/>
            <a:ext cx="3139238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Consecutive current</a:t>
            </a:r>
          </a:p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Maintain positive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383DC8-89BE-443A-90E3-5CAA36645027}"/>
              </a:ext>
            </a:extLst>
          </p:cNvPr>
          <p:cNvSpPr txBox="1"/>
          <p:nvPr/>
        </p:nvSpPr>
        <p:spPr>
          <a:xfrm>
            <a:off x="9350489" y="1944552"/>
            <a:ext cx="3139238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Always negative</a:t>
            </a:r>
            <a:endParaRPr lang="zh-CN" altLang="en-US" sz="2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296FA6-0AC6-4D15-AA70-2FFE4E6A920D}"/>
                  </a:ext>
                </a:extLst>
              </p:cNvPr>
              <p:cNvSpPr txBox="1"/>
              <p:nvPr/>
            </p:nvSpPr>
            <p:spPr>
              <a:xfrm>
                <a:off x="9049950" y="2782454"/>
                <a:ext cx="2948913" cy="693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4000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=170° ; </a:t>
                </a:r>
                <a:r>
                  <a:rPr lang="en-US" altLang="zh-CN" sz="28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=5mH</a:t>
                </a:r>
                <a:endParaRPr lang="zh-CN" altLang="en-US" sz="4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296FA6-0AC6-4D15-AA70-2FFE4E6A9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950" y="2782454"/>
                <a:ext cx="2948913" cy="693716"/>
              </a:xfrm>
              <a:prstGeom prst="rect">
                <a:avLst/>
              </a:prstGeom>
              <a:blipFill>
                <a:blip r:embed="rId5"/>
                <a:stretch>
                  <a:fillRect r="-3934" b="-20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星形: 四角 28">
            <a:extLst>
              <a:ext uri="{FF2B5EF4-FFF2-40B4-BE49-F238E27FC236}">
                <a16:creationId xmlns:a16="http://schemas.microsoft.com/office/drawing/2014/main" id="{A2AC5AEC-4F20-4B69-AE95-978E1672BD96}"/>
              </a:ext>
            </a:extLst>
          </p:cNvPr>
          <p:cNvSpPr/>
          <p:nvPr/>
        </p:nvSpPr>
        <p:spPr>
          <a:xfrm>
            <a:off x="9119321" y="1109911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  <p:sp>
        <p:nvSpPr>
          <p:cNvPr id="30" name="星形: 四角 29">
            <a:extLst>
              <a:ext uri="{FF2B5EF4-FFF2-40B4-BE49-F238E27FC236}">
                <a16:creationId xmlns:a16="http://schemas.microsoft.com/office/drawing/2014/main" id="{ED38AE2E-228B-473F-B9BB-E3CF9BE8C878}"/>
              </a:ext>
            </a:extLst>
          </p:cNvPr>
          <p:cNvSpPr/>
          <p:nvPr/>
        </p:nvSpPr>
        <p:spPr>
          <a:xfrm>
            <a:off x="9119321" y="4049670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BD05509-4921-45E8-A5B4-080CCDB30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04" y="921652"/>
            <a:ext cx="8626601" cy="566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8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8206AB9-AB2C-4E01-9FA7-223CE99A4478}"/>
              </a:ext>
            </a:extLst>
          </p:cNvPr>
          <p:cNvSpPr/>
          <p:nvPr/>
        </p:nvSpPr>
        <p:spPr>
          <a:xfrm>
            <a:off x="8566608" y="3764275"/>
            <a:ext cx="3638083" cy="1153556"/>
          </a:xfrm>
          <a:prstGeom prst="rect">
            <a:avLst/>
          </a:prstGeom>
          <a:solidFill>
            <a:srgbClr val="2E54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CA36B8-4AC6-4712-8222-0F49E3FBF4EF}"/>
              </a:ext>
            </a:extLst>
          </p:cNvPr>
          <p:cNvSpPr/>
          <p:nvPr/>
        </p:nvSpPr>
        <p:spPr>
          <a:xfrm>
            <a:off x="8573783" y="926984"/>
            <a:ext cx="3638084" cy="1745735"/>
          </a:xfrm>
          <a:prstGeom prst="rect">
            <a:avLst/>
          </a:prstGeom>
          <a:solidFill>
            <a:srgbClr val="2E54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/>
              <p:nvPr/>
            </p:nvSpPr>
            <p:spPr>
              <a:xfrm>
                <a:off x="9065910" y="986463"/>
                <a:ext cx="3638084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20000"/>
                  </a:spcBef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 AC-link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910" y="986463"/>
                <a:ext cx="3638084" cy="954107"/>
              </a:xfrm>
              <a:prstGeom prst="rect">
                <a:avLst/>
              </a:prstGeom>
              <a:blipFill>
                <a:blip r:embed="rId3"/>
                <a:stretch>
                  <a:fillRect l="-3350" t="-705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86853" y="275321"/>
            <a:ext cx="46212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results</a:t>
            </a:r>
            <a:endParaRPr lang="zh-CN" altLang="zh-CN" sz="36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17935BC-23EF-4A42-A18E-A9FA0C60C433}"/>
                  </a:ext>
                </a:extLst>
              </p:cNvPr>
              <p:cNvSpPr/>
              <p:nvPr/>
            </p:nvSpPr>
            <p:spPr>
              <a:xfrm>
                <a:off x="9019677" y="3858932"/>
                <a:ext cx="322452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20000"/>
                  </a:spcBef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zh-CN" altLang="en-US" sz="40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17935BC-23EF-4A42-A18E-A9FA0C60C4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677" y="3858932"/>
                <a:ext cx="3224529" cy="523220"/>
              </a:xfrm>
              <a:prstGeom prst="rect">
                <a:avLst/>
              </a:prstGeom>
              <a:blipFill>
                <a:blip r:embed="rId4"/>
                <a:stretch>
                  <a:fillRect l="-3970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3EF31C82-098C-4100-9159-E0C6F48A82BB}"/>
              </a:ext>
            </a:extLst>
          </p:cNvPr>
          <p:cNvSpPr txBox="1"/>
          <p:nvPr/>
        </p:nvSpPr>
        <p:spPr>
          <a:xfrm>
            <a:off x="11595789" y="6230530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E1FF383-FFF8-42F4-B30B-8BA20C799C8F}"/>
              </a:ext>
            </a:extLst>
          </p:cNvPr>
          <p:cNvSpPr txBox="1"/>
          <p:nvPr/>
        </p:nvSpPr>
        <p:spPr>
          <a:xfrm>
            <a:off x="9065910" y="4212679"/>
            <a:ext cx="3139238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Consecutive current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383DC8-89BE-443A-90E3-5CAA36645027}"/>
              </a:ext>
            </a:extLst>
          </p:cNvPr>
          <p:cNvSpPr txBox="1"/>
          <p:nvPr/>
        </p:nvSpPr>
        <p:spPr>
          <a:xfrm>
            <a:off x="9151202" y="1924794"/>
            <a:ext cx="3139238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Phase voltage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星形: 四角 28">
            <a:extLst>
              <a:ext uri="{FF2B5EF4-FFF2-40B4-BE49-F238E27FC236}">
                <a16:creationId xmlns:a16="http://schemas.microsoft.com/office/drawing/2014/main" id="{A2AC5AEC-4F20-4B69-AE95-978E1672BD96}"/>
              </a:ext>
            </a:extLst>
          </p:cNvPr>
          <p:cNvSpPr/>
          <p:nvPr/>
        </p:nvSpPr>
        <p:spPr>
          <a:xfrm>
            <a:off x="8834742" y="1073298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  <p:sp>
        <p:nvSpPr>
          <p:cNvPr id="30" name="星形: 四角 29">
            <a:extLst>
              <a:ext uri="{FF2B5EF4-FFF2-40B4-BE49-F238E27FC236}">
                <a16:creationId xmlns:a16="http://schemas.microsoft.com/office/drawing/2014/main" id="{ED38AE2E-228B-473F-B9BB-E3CF9BE8C878}"/>
              </a:ext>
            </a:extLst>
          </p:cNvPr>
          <p:cNvSpPr/>
          <p:nvPr/>
        </p:nvSpPr>
        <p:spPr>
          <a:xfrm>
            <a:off x="8788508" y="3972007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59F907-7066-469E-9F3E-BB22186A4CE1}"/>
              </a:ext>
            </a:extLst>
          </p:cNvPr>
          <p:cNvSpPr txBox="1"/>
          <p:nvPr/>
        </p:nvSpPr>
        <p:spPr>
          <a:xfrm>
            <a:off x="8834742" y="2608523"/>
            <a:ext cx="3463424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Three-phase alternating conduction</a:t>
            </a:r>
            <a:endParaRPr lang="zh-CN" altLang="en-US" sz="2400" kern="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0FCD6D-80AA-4A10-87C4-F2600CE0776A}"/>
              </a:ext>
            </a:extLst>
          </p:cNvPr>
          <p:cNvSpPr txBox="1"/>
          <p:nvPr/>
        </p:nvSpPr>
        <p:spPr>
          <a:xfrm>
            <a:off x="8841186" y="5012488"/>
            <a:ext cx="32245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yellow line: phase-a</a:t>
            </a:r>
          </a:p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line: phase-b</a:t>
            </a:r>
          </a:p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line: phase-c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3EA05E-65A2-43B0-BCF9-FE89A9AC1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344" y="937749"/>
            <a:ext cx="8209349" cy="5387214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BDE0BE12-2E9B-4D32-BF91-F6F470B2BDE8}"/>
              </a:ext>
            </a:extLst>
          </p:cNvPr>
          <p:cNvSpPr/>
          <p:nvPr/>
        </p:nvSpPr>
        <p:spPr>
          <a:xfrm>
            <a:off x="2640459" y="1660411"/>
            <a:ext cx="260138" cy="260138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79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83885A71-926B-4F7D-BECE-D15E9C06E545}"/>
              </a:ext>
            </a:extLst>
          </p:cNvPr>
          <p:cNvSpPr/>
          <p:nvPr/>
        </p:nvSpPr>
        <p:spPr>
          <a:xfrm>
            <a:off x="8455631" y="1021023"/>
            <a:ext cx="3736369" cy="1575525"/>
          </a:xfrm>
          <a:prstGeom prst="rect">
            <a:avLst/>
          </a:prstGeom>
          <a:solidFill>
            <a:srgbClr val="2E54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/>
              <p:nvPr/>
            </p:nvSpPr>
            <p:spPr>
              <a:xfrm>
                <a:off x="8937484" y="1109837"/>
                <a:ext cx="3638084" cy="1460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20000"/>
                  </a:spcBef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 six thyristors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𝑽𝑻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sub>
                    </m:sSub>
                  </m:oMath>
                </a14:m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8F158A-DF6B-4FB1-BD90-DEF7ABBFB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484" y="1109837"/>
                <a:ext cx="3638084" cy="1460721"/>
              </a:xfrm>
              <a:prstGeom prst="rect">
                <a:avLst/>
              </a:prstGeom>
              <a:blipFill>
                <a:blip r:embed="rId3"/>
                <a:stretch>
                  <a:fillRect l="-3350" t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86853" y="275321"/>
            <a:ext cx="46212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results</a:t>
            </a:r>
            <a:endParaRPr lang="zh-CN" altLang="zh-CN" sz="36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F31C82-098C-4100-9159-E0C6F48A82BB}"/>
              </a:ext>
            </a:extLst>
          </p:cNvPr>
          <p:cNvSpPr txBox="1"/>
          <p:nvPr/>
        </p:nvSpPr>
        <p:spPr>
          <a:xfrm>
            <a:off x="11533259" y="6137053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D383DC8-89BE-443A-90E3-5CAA36645027}"/>
                  </a:ext>
                </a:extLst>
              </p:cNvPr>
              <p:cNvSpPr txBox="1"/>
              <p:nvPr/>
            </p:nvSpPr>
            <p:spPr>
              <a:xfrm>
                <a:off x="8957516" y="3927610"/>
                <a:ext cx="3139238" cy="2013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US" altLang="zh-CN" sz="20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𝑽𝑻</m:t>
                        </m:r>
                      </m:e>
                      <m:sub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  <m:r>
                      <a:rPr lang="en-US" altLang="zh-CN" sz="20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800" b="1" kern="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D383DC8-89BE-443A-90E3-5CAA36645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7516" y="3927610"/>
                <a:ext cx="3139238" cy="2013243"/>
              </a:xfrm>
              <a:prstGeom prst="rect">
                <a:avLst/>
              </a:prstGeom>
              <a:blipFill>
                <a:blip r:embed="rId4"/>
                <a:stretch>
                  <a:fillRect b="-33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星形: 四角 28">
            <a:extLst>
              <a:ext uri="{FF2B5EF4-FFF2-40B4-BE49-F238E27FC236}">
                <a16:creationId xmlns:a16="http://schemas.microsoft.com/office/drawing/2014/main" id="{A2AC5AEC-4F20-4B69-AE95-978E1672BD96}"/>
              </a:ext>
            </a:extLst>
          </p:cNvPr>
          <p:cNvSpPr/>
          <p:nvPr/>
        </p:nvSpPr>
        <p:spPr>
          <a:xfrm>
            <a:off x="8706316" y="1196672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59F907-7066-469E-9F3E-BB22186A4CE1}"/>
              </a:ext>
            </a:extLst>
          </p:cNvPr>
          <p:cNvSpPr txBox="1"/>
          <p:nvPr/>
        </p:nvSpPr>
        <p:spPr>
          <a:xfrm>
            <a:off x="8957516" y="2792748"/>
            <a:ext cx="3463424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thyristors alternating conduction</a:t>
            </a:r>
            <a:endParaRPr lang="zh-CN" altLang="en-US" sz="2400" kern="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57727AA-7E21-4363-83C9-562606CAA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05" y="1021023"/>
            <a:ext cx="8134226" cy="537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3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C8F158A-DF6B-4FB1-BD90-DEF7ABBFBA03}"/>
              </a:ext>
            </a:extLst>
          </p:cNvPr>
          <p:cNvSpPr/>
          <p:nvPr/>
        </p:nvSpPr>
        <p:spPr>
          <a:xfrm>
            <a:off x="9586974" y="1356189"/>
            <a:ext cx="2721465" cy="1471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six thyristors cur</a:t>
            </a:r>
          </a:p>
          <a:p>
            <a:pPr lvl="0">
              <a:spcBef>
                <a:spcPct val="20000"/>
              </a:spcBef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86853" y="275321"/>
            <a:ext cx="118202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Comparison of theory and simulation</a:t>
            </a:r>
            <a:endParaRPr lang="zh-CN" altLang="zh-CN" sz="3600" b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F31C82-098C-4100-9159-E0C6F48A82BB}"/>
              </a:ext>
            </a:extLst>
          </p:cNvPr>
          <p:cNvSpPr txBox="1"/>
          <p:nvPr/>
        </p:nvSpPr>
        <p:spPr>
          <a:xfrm>
            <a:off x="11533259" y="6137053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9FB36C31-33AA-4653-870A-A9EB4EC30E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8020980"/>
                  </p:ext>
                </p:extLst>
              </p:nvPr>
            </p:nvGraphicFramePr>
            <p:xfrm>
              <a:off x="558104" y="1109837"/>
              <a:ext cx="8832476" cy="488370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000161">
                      <a:extLst>
                        <a:ext uri="{9D8B030D-6E8A-4147-A177-3AD203B41FA5}">
                          <a16:colId xmlns:a16="http://schemas.microsoft.com/office/drawing/2014/main" val="4084829730"/>
                        </a:ext>
                      </a:extLst>
                    </a:gridCol>
                    <a:gridCol w="2794571">
                      <a:extLst>
                        <a:ext uri="{9D8B030D-6E8A-4147-A177-3AD203B41FA5}">
                          <a16:colId xmlns:a16="http://schemas.microsoft.com/office/drawing/2014/main" val="3418724267"/>
                        </a:ext>
                      </a:extLst>
                    </a:gridCol>
                    <a:gridCol w="1345915">
                      <a:extLst>
                        <a:ext uri="{9D8B030D-6E8A-4147-A177-3AD203B41FA5}">
                          <a16:colId xmlns:a16="http://schemas.microsoft.com/office/drawing/2014/main" val="39310425"/>
                        </a:ext>
                      </a:extLst>
                    </a:gridCol>
                    <a:gridCol w="1520575">
                      <a:extLst>
                        <a:ext uri="{9D8B030D-6E8A-4147-A177-3AD203B41FA5}">
                          <a16:colId xmlns:a16="http://schemas.microsoft.com/office/drawing/2014/main" val="3595264546"/>
                        </a:ext>
                      </a:extLst>
                    </a:gridCol>
                    <a:gridCol w="1171254">
                      <a:extLst>
                        <a:ext uri="{9D8B030D-6E8A-4147-A177-3AD203B41FA5}">
                          <a16:colId xmlns:a16="http://schemas.microsoft.com/office/drawing/2014/main" val="510084141"/>
                        </a:ext>
                      </a:extLst>
                    </a:gridCol>
                  </a:tblGrid>
                  <a:tr h="1761479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parameters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Approximate calculation formula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The calculated value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Measured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error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06443103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average DC-link voltage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27940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sz="2000" kern="0">
                                    <a:effectLst/>
                                    <a:latin typeface="Cambria Math" panose="02040503050406030204" pitchFamily="18" charset="0"/>
                                  </a:rPr>
                                  <m:t>=−2.34</m:t>
                                </m:r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kern="0">
                                    <a:effectLst/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sz="2000" kern="0">
                                    <a:effectLst/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-507.0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-508.3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0.26%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71008383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average DC-link current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27940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sz="2000" ker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US" sz="20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93.0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91.67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1.4%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33119294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 AC side current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27940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ker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sz="20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rad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75.93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75.59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0.44%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70258065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 Thyristor current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27940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𝑉𝑇</m:t>
                                    </m:r>
                                  </m:sub>
                                </m:sSub>
                                <m:r>
                                  <a:rPr lang="en-US" sz="2000" ker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rad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53.69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58.45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8.9%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703415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9FB36C31-33AA-4653-870A-A9EB4EC30E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8020980"/>
                  </p:ext>
                </p:extLst>
              </p:nvPr>
            </p:nvGraphicFramePr>
            <p:xfrm>
              <a:off x="558104" y="1109837"/>
              <a:ext cx="8832476" cy="488370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000161">
                      <a:extLst>
                        <a:ext uri="{9D8B030D-6E8A-4147-A177-3AD203B41FA5}">
                          <a16:colId xmlns:a16="http://schemas.microsoft.com/office/drawing/2014/main" val="4084829730"/>
                        </a:ext>
                      </a:extLst>
                    </a:gridCol>
                    <a:gridCol w="2794571">
                      <a:extLst>
                        <a:ext uri="{9D8B030D-6E8A-4147-A177-3AD203B41FA5}">
                          <a16:colId xmlns:a16="http://schemas.microsoft.com/office/drawing/2014/main" val="3418724267"/>
                        </a:ext>
                      </a:extLst>
                    </a:gridCol>
                    <a:gridCol w="1345915">
                      <a:extLst>
                        <a:ext uri="{9D8B030D-6E8A-4147-A177-3AD203B41FA5}">
                          <a16:colId xmlns:a16="http://schemas.microsoft.com/office/drawing/2014/main" val="39310425"/>
                        </a:ext>
                      </a:extLst>
                    </a:gridCol>
                    <a:gridCol w="1520575">
                      <a:extLst>
                        <a:ext uri="{9D8B030D-6E8A-4147-A177-3AD203B41FA5}">
                          <a16:colId xmlns:a16="http://schemas.microsoft.com/office/drawing/2014/main" val="3595264546"/>
                        </a:ext>
                      </a:extLst>
                    </a:gridCol>
                    <a:gridCol w="1171254">
                      <a:extLst>
                        <a:ext uri="{9D8B030D-6E8A-4147-A177-3AD203B41FA5}">
                          <a16:colId xmlns:a16="http://schemas.microsoft.com/office/drawing/2014/main" val="510084141"/>
                        </a:ext>
                      </a:extLst>
                    </a:gridCol>
                  </a:tblGrid>
                  <a:tr h="1761479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parameters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Approximate calculation formula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The calculated value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Measured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error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06443103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average DC-link voltage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1678" t="-266055" r="-145316" b="-3724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-507.0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-508.3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0.26%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71008383"/>
                      </a:ext>
                    </a:extLst>
                  </a:tr>
                  <a:tr h="660555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average DC-link current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1678" t="-369444" r="-145316" b="-275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93.0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91.67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1.4%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33119294"/>
                      </a:ext>
                    </a:extLst>
                  </a:tr>
                  <a:tr h="900557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 AC side current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1678" t="-342568" r="-145316" b="-1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75.93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75.59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0.44%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70258065"/>
                      </a:ext>
                    </a:extLst>
                  </a:tr>
                  <a:tr h="900557"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 Thyristor current </a:t>
                          </a:r>
                          <a:endParaRPr lang="zh-CN" sz="20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1678" t="-442568" r="-145316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53.69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58.45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/>
                          <a:r>
                            <a:rPr lang="en-US" sz="20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8.9%</a:t>
                          </a:r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703415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85110BB8-CD25-4E49-A002-1B42C18D131E}"/>
              </a:ext>
            </a:extLst>
          </p:cNvPr>
          <p:cNvSpPr/>
          <p:nvPr/>
        </p:nvSpPr>
        <p:spPr>
          <a:xfrm>
            <a:off x="9529281" y="1783661"/>
            <a:ext cx="25971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800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reasons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236D5A-D73A-444A-AF78-77808C32735C}"/>
              </a:ext>
            </a:extLst>
          </p:cNvPr>
          <p:cNvSpPr/>
          <p:nvPr/>
        </p:nvSpPr>
        <p:spPr>
          <a:xfrm>
            <a:off x="9390580" y="2682753"/>
            <a:ext cx="2784296" cy="1981714"/>
          </a:xfrm>
          <a:prstGeom prst="rect">
            <a:avLst/>
          </a:prstGeom>
          <a:solidFill>
            <a:srgbClr val="2E54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50744B-0A24-4372-AE67-6B70A5FF5F79}"/>
              </a:ext>
            </a:extLst>
          </p:cNvPr>
          <p:cNvSpPr txBox="1"/>
          <p:nvPr/>
        </p:nvSpPr>
        <p:spPr>
          <a:xfrm>
            <a:off x="9667982" y="2681033"/>
            <a:ext cx="2239766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Steady state</a:t>
            </a:r>
            <a:endParaRPr lang="zh-CN" altLang="en-US" sz="2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星形: 四角 15">
            <a:extLst>
              <a:ext uri="{FF2B5EF4-FFF2-40B4-BE49-F238E27FC236}">
                <a16:creationId xmlns:a16="http://schemas.microsoft.com/office/drawing/2014/main" id="{12137CD3-93FF-420A-8679-F42C60571A01}"/>
              </a:ext>
            </a:extLst>
          </p:cNvPr>
          <p:cNvSpPr/>
          <p:nvPr/>
        </p:nvSpPr>
        <p:spPr>
          <a:xfrm>
            <a:off x="9390580" y="2871012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EF7F6B-5224-4B45-A0E4-1050C524FC2D}"/>
              </a:ext>
            </a:extLst>
          </p:cNvPr>
          <p:cNvSpPr txBox="1"/>
          <p:nvPr/>
        </p:nvSpPr>
        <p:spPr>
          <a:xfrm>
            <a:off x="9667981" y="3388006"/>
            <a:ext cx="2640457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Finite  inductance value</a:t>
            </a:r>
            <a:endParaRPr lang="zh-CN" altLang="en-US" sz="2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" name="星形: 四角 19">
            <a:extLst>
              <a:ext uri="{FF2B5EF4-FFF2-40B4-BE49-F238E27FC236}">
                <a16:creationId xmlns:a16="http://schemas.microsoft.com/office/drawing/2014/main" id="{A0461F2D-ECCB-483E-9B5F-B62879E686B3}"/>
              </a:ext>
            </a:extLst>
          </p:cNvPr>
          <p:cNvSpPr/>
          <p:nvPr/>
        </p:nvSpPr>
        <p:spPr>
          <a:xfrm>
            <a:off x="9390580" y="3577985"/>
            <a:ext cx="277402" cy="308224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  <a:highlight>
                <a:srgbClr val="89DFFD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5187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4492E562-4BFF-407E-A59A-40E2E5E7517B}"/>
              </a:ext>
            </a:extLst>
          </p:cNvPr>
          <p:cNvSpPr txBox="1"/>
          <p:nvPr/>
        </p:nvSpPr>
        <p:spPr>
          <a:xfrm>
            <a:off x="7437119" y="947994"/>
            <a:ext cx="27316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03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2C8FBC-87CA-4CCA-8BA4-F6FE1AAFDE6B}"/>
              </a:ext>
            </a:extLst>
          </p:cNvPr>
          <p:cNvSpPr/>
          <p:nvPr/>
        </p:nvSpPr>
        <p:spPr>
          <a:xfrm>
            <a:off x="5266000" y="3707215"/>
            <a:ext cx="5969051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54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Principle</a:t>
            </a:r>
            <a:endParaRPr kumimoji="0" lang="zh-CN" altLang="en-US" sz="5400" b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2D19271-6C26-428E-BBB7-7A197FCB972F}"/>
              </a:ext>
            </a:extLst>
          </p:cNvPr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BF07766-27C7-E07C-57B6-790EDE9CBB4C}"/>
              </a:ext>
            </a:extLst>
          </p:cNvPr>
          <p:cNvSpPr txBox="1"/>
          <p:nvPr/>
        </p:nvSpPr>
        <p:spPr>
          <a:xfrm>
            <a:off x="3053817" y="3270509"/>
            <a:ext cx="324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E2E295-84C5-5888-CEF4-8FA894A4DA85}"/>
              </a:ext>
            </a:extLst>
          </p:cNvPr>
          <p:cNvSpPr txBox="1"/>
          <p:nvPr/>
        </p:nvSpPr>
        <p:spPr>
          <a:xfrm>
            <a:off x="3053817" y="3270509"/>
            <a:ext cx="6121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1F9048-85CF-4212-BA80-C74D73BD8461}"/>
              </a:ext>
            </a:extLst>
          </p:cNvPr>
          <p:cNvSpPr/>
          <p:nvPr/>
        </p:nvSpPr>
        <p:spPr>
          <a:xfrm>
            <a:off x="5117982" y="4757501"/>
            <a:ext cx="65660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 algn="ctr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32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Capacitive filtering in diode bridge</a:t>
            </a:r>
            <a:endParaRPr lang="zh-CN" altLang="en-US" sz="3600" i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0E6744-D13A-430E-963B-8BA103C5E651}"/>
              </a:ext>
            </a:extLst>
          </p:cNvPr>
          <p:cNvSpPr txBox="1"/>
          <p:nvPr/>
        </p:nvSpPr>
        <p:spPr>
          <a:xfrm>
            <a:off x="11354629" y="6075408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1071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52000" y="288000"/>
            <a:ext cx="2207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Principle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73E1B0-B1DA-3A67-8DC6-768E5C1D817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899819" y="3441614"/>
            <a:ext cx="26085813" cy="5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2BAFEC5-AA05-FBB6-5816-75169B55E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563" y="1824575"/>
          <a:ext cx="6931359" cy="3023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r:id="rId4" imgW="2339173" imgH="1021064" progId="Visio.Drawing.15">
                  <p:embed/>
                </p:oleObj>
              </mc:Choice>
              <mc:Fallback>
                <p:oleObj r:id="rId4" imgW="2339173" imgH="1021064" progId="Visio.Drawing.15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2BAFEC5-AA05-FBB6-5816-75169B55EC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63" y="1824575"/>
                        <a:ext cx="6931359" cy="30233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14FAFA-579A-7576-9B6A-E278EC50C416}"/>
                  </a:ext>
                </a:extLst>
              </p:cNvPr>
              <p:cNvSpPr txBox="1"/>
              <p:nvPr/>
            </p:nvSpPr>
            <p:spPr>
              <a:xfrm>
                <a:off x="6567599" y="1809997"/>
                <a:ext cx="61396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𝐴𝑠𝑖𝑛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𝑏𝑎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𝑏𝑐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𝑐𝑎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𝑐𝑏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dirty="0"/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14FAFA-579A-7576-9B6A-E278EC50C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599" y="1809997"/>
                <a:ext cx="6139658" cy="276999"/>
              </a:xfrm>
              <a:prstGeom prst="rect">
                <a:avLst/>
              </a:prstGeom>
              <a:blipFill>
                <a:blip r:embed="rId6"/>
                <a:stretch>
                  <a:fillRect t="-4444" b="-3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C6580F8-F61F-D0D8-EEFB-64B7E5802D9B}"/>
                  </a:ext>
                </a:extLst>
              </p:cNvPr>
              <p:cNvSpPr txBox="1"/>
              <p:nvPr/>
            </p:nvSpPr>
            <p:spPr>
              <a:xfrm>
                <a:off x="7833514" y="2356095"/>
                <a:ext cx="3774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𝑡h𝑒𝑛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𝑑𝑒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C6580F8-F61F-D0D8-EEFB-64B7E5802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514" y="2356095"/>
                <a:ext cx="3774175" cy="276999"/>
              </a:xfrm>
              <a:prstGeom prst="rect">
                <a:avLst/>
              </a:prstGeom>
              <a:blipFill>
                <a:blip r:embed="rId7"/>
                <a:stretch>
                  <a:fillRect l="-1292" t="-28261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E9BB66A-7469-C7BA-1958-3D2465A43027}"/>
                  </a:ext>
                </a:extLst>
              </p:cNvPr>
              <p:cNvSpPr txBox="1"/>
              <p:nvPr/>
            </p:nvSpPr>
            <p:spPr>
              <a:xfrm>
                <a:off x="8550270" y="2690080"/>
                <a:ext cx="2174316" cy="663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E9BB66A-7469-C7BA-1958-3D2465A43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70" y="2690080"/>
                <a:ext cx="2174316" cy="6635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FDC6F19-CFFF-4B01-E21E-D8568DA77AFD}"/>
                  </a:ext>
                </a:extLst>
              </p:cNvPr>
              <p:cNvSpPr txBox="1"/>
              <p:nvPr/>
            </p:nvSpPr>
            <p:spPr>
              <a:xfrm>
                <a:off x="7782714" y="3242017"/>
                <a:ext cx="13992224" cy="947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𝑑𝑈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𝑑𝑒</m:t>
                        </m:r>
                      </m:sub>
                    </m:sSub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FDC6F19-CFFF-4B01-E21E-D8568DA77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714" y="3242017"/>
                <a:ext cx="13992224" cy="947311"/>
              </a:xfrm>
              <a:prstGeom prst="rect">
                <a:avLst/>
              </a:prstGeom>
              <a:blipFill>
                <a:blip r:embed="rId9"/>
                <a:stretch>
                  <a:fillRect l="-131"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C39A997-6952-BF9F-F3A7-91CCE204B67A}"/>
                  </a:ext>
                </a:extLst>
              </p:cNvPr>
              <p:cNvSpPr txBox="1"/>
              <p:nvPr/>
            </p:nvSpPr>
            <p:spPr>
              <a:xfrm>
                <a:off x="8243999" y="4250133"/>
                <a:ext cx="23748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C39A997-6952-BF9F-F3A7-91CCE204B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999" y="4250133"/>
                <a:ext cx="237480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2DF2AAED-DDC1-4A9E-B190-AA1E943DB9BA}"/>
              </a:ext>
            </a:extLst>
          </p:cNvPr>
          <p:cNvSpPr txBox="1"/>
          <p:nvPr/>
        </p:nvSpPr>
        <p:spPr>
          <a:xfrm>
            <a:off x="11533259" y="6243379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537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AF24331-C662-4664-8A2A-2FA0B70E90F6}"/>
                  </a:ext>
                </a:extLst>
              </p:cNvPr>
              <p:cNvSpPr/>
              <p:nvPr/>
            </p:nvSpPr>
            <p:spPr>
              <a:xfrm>
                <a:off x="1152000" y="288000"/>
                <a:ext cx="292092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Scope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</m:oMath>
                </a14:m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AF24331-C662-4664-8A2A-2FA0B70E9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000" y="288000"/>
                <a:ext cx="2920928" cy="646331"/>
              </a:xfrm>
              <a:prstGeom prst="rect">
                <a:avLst/>
              </a:prstGeom>
              <a:blipFill>
                <a:blip r:embed="rId2"/>
                <a:stretch>
                  <a:fillRect l="-6472" t="-14151" b="-34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1763739" y="3583518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E809097-CDAD-4D98-85B4-B5DA08761D51}"/>
              </a:ext>
            </a:extLst>
          </p:cNvPr>
          <p:cNvGrpSpPr/>
          <p:nvPr/>
        </p:nvGrpSpPr>
        <p:grpSpPr>
          <a:xfrm>
            <a:off x="8211512" y="3583518"/>
            <a:ext cx="1506640" cy="574723"/>
            <a:chOff x="1030092" y="2801429"/>
            <a:chExt cx="2749471" cy="57472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0DC2E47-72B3-46D0-80B7-17B2ED35D91D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1BA1470-CF6D-49A2-97FF-DD093DD11558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2D88F08-1CF4-DF81-1DC5-30AD52D0B3B4}"/>
                  </a:ext>
                </a:extLst>
              </p:cNvPr>
              <p:cNvSpPr txBox="1"/>
              <p:nvPr/>
            </p:nvSpPr>
            <p:spPr>
              <a:xfrm>
                <a:off x="7438055" y="1003782"/>
                <a:ext cx="27278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Determination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2D88F08-1CF4-DF81-1DC5-30AD52D0B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055" y="1003782"/>
                <a:ext cx="2727850" cy="400110"/>
              </a:xfrm>
              <a:prstGeom prst="rect">
                <a:avLst/>
              </a:prstGeom>
              <a:blipFill>
                <a:blip r:embed="rId3"/>
                <a:stretch>
                  <a:fillRect l="-2232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7D134EC-B872-3A5D-FA8E-26F43115A651}"/>
                  </a:ext>
                </a:extLst>
              </p:cNvPr>
              <p:cNvSpPr txBox="1"/>
              <p:nvPr/>
            </p:nvSpPr>
            <p:spPr>
              <a:xfrm>
                <a:off x="5323885" y="1668040"/>
                <a:ext cx="6096000" cy="1855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               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𝐴𝑤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)(−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CN" b="0" dirty="0"/>
              </a:p>
              <a:p>
                <a:pPr algn="ctr"/>
                <a:r>
                  <a:rPr lang="en-US" altLang="zh-CN" b="0" dirty="0"/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𝑤𝐶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func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7D134EC-B872-3A5D-FA8E-26F43115A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885" y="1668040"/>
                <a:ext cx="6096000" cy="1855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FDECFF3-DBDB-BAC5-5A2C-727C5ABB6963}"/>
                  </a:ext>
                </a:extLst>
              </p:cNvPr>
              <p:cNvSpPr txBox="1"/>
              <p:nvPr/>
            </p:nvSpPr>
            <p:spPr>
              <a:xfrm>
                <a:off x="7140711" y="4292138"/>
                <a:ext cx="4675950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𝐴𝑠𝑖𝑛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FDECFF3-DBDB-BAC5-5A2C-727C5ABB6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711" y="4292138"/>
                <a:ext cx="4675950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0C2D5B1-9002-BF61-C38B-F0A738ACB3C3}"/>
                  </a:ext>
                </a:extLst>
              </p:cNvPr>
              <p:cNvSpPr txBox="1"/>
              <p:nvPr/>
            </p:nvSpPr>
            <p:spPr>
              <a:xfrm>
                <a:off x="7574581" y="3737634"/>
                <a:ext cx="64928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b="1" dirty="0"/>
                  <a:t>Determination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0C2D5B1-9002-BF61-C38B-F0A738ACB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581" y="3737634"/>
                <a:ext cx="6492874" cy="369332"/>
              </a:xfrm>
              <a:prstGeom prst="rect">
                <a:avLst/>
              </a:prstGeom>
              <a:blipFill>
                <a:blip r:embed="rId6"/>
                <a:stretch>
                  <a:fillRect l="-84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148D9C8-FB0C-30B6-28C9-4B0BBF77EB19}"/>
                  </a:ext>
                </a:extLst>
              </p:cNvPr>
              <p:cNvSpPr txBox="1"/>
              <p:nvPr/>
            </p:nvSpPr>
            <p:spPr>
              <a:xfrm>
                <a:off x="2985812" y="5398868"/>
                <a:ext cx="6492874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rad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b="0" i="1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148D9C8-FB0C-30B6-28C9-4B0BBF77E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812" y="5398868"/>
                <a:ext cx="6492874" cy="9106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4B4EAA66-17AD-8708-336C-D2A07C7E0E5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685" y="1220498"/>
            <a:ext cx="4840315" cy="35717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D29AD96-B535-1D7A-BF33-E6BB9229526A}"/>
                  </a:ext>
                </a:extLst>
              </p:cNvPr>
              <p:cNvSpPr txBox="1"/>
              <p:nvPr/>
            </p:nvSpPr>
            <p:spPr>
              <a:xfrm>
                <a:off x="9257715" y="5695965"/>
                <a:ext cx="70354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D29AD96-B535-1D7A-BF33-E6BB92295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715" y="5695965"/>
                <a:ext cx="703542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18EBCB75-6F09-4194-8495-93FD819C6A91}"/>
              </a:ext>
            </a:extLst>
          </p:cNvPr>
          <p:cNvSpPr txBox="1"/>
          <p:nvPr/>
        </p:nvSpPr>
        <p:spPr>
          <a:xfrm>
            <a:off x="11533259" y="6243379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676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AF24331-C662-4664-8A2A-2FA0B70E90F6}"/>
                  </a:ext>
                </a:extLst>
              </p:cNvPr>
              <p:cNvSpPr/>
              <p:nvPr/>
            </p:nvSpPr>
            <p:spPr>
              <a:xfrm>
                <a:off x="1152000" y="288000"/>
                <a:ext cx="362618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2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</m:sub>
                      </m:sSub>
                      <m:r>
                        <a:rPr lang="en-US" altLang="zh-CN" sz="3600" b="1" i="1" ker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,</m:t>
                      </m:r>
                      <m:sSub>
                        <m:sSubPr>
                          <m:ctrlP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𝒐</m:t>
                          </m:r>
                        </m:sub>
                      </m:sSub>
                      <m:r>
                        <a:rPr lang="en-US" altLang="zh-CN" sz="3600" b="1" i="1" ker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3600" b="1" i="1" ker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𝒂𝒏𝒅</m:t>
                      </m:r>
                      <m:r>
                        <a:rPr lang="en-US" altLang="zh-CN" sz="3600" b="1" i="1" ker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3600" b="1" i="1" ker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𝑻𝑯𝑫</m:t>
                      </m:r>
                    </m:oMath>
                  </m:oMathPara>
                </a14:m>
                <a:endParaRPr lang="zh-CN" altLang="en-US" sz="3600" b="1" kern="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AF24331-C662-4664-8A2A-2FA0B70E9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000" y="288000"/>
                <a:ext cx="3626185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1763739" y="3583518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E809097-CDAD-4D98-85B4-B5DA08761D51}"/>
              </a:ext>
            </a:extLst>
          </p:cNvPr>
          <p:cNvGrpSpPr/>
          <p:nvPr/>
        </p:nvGrpSpPr>
        <p:grpSpPr>
          <a:xfrm>
            <a:off x="8211512" y="3583518"/>
            <a:ext cx="1506640" cy="574723"/>
            <a:chOff x="1030092" y="2801429"/>
            <a:chExt cx="2749471" cy="57472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0DC2E47-72B3-46D0-80B7-17B2ED35D91D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1BA1470-CF6D-49A2-97FF-DD093DD11558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4BFBC404-BB34-3806-66A0-6BE2436D7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40" y="1437428"/>
            <a:ext cx="5121183" cy="398314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46F2380-A4A8-03E2-E3A4-0453576D66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435" y="1448181"/>
            <a:ext cx="4596792" cy="146336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3DB6466-388B-47B4-9413-010C56A3707A}"/>
              </a:ext>
            </a:extLst>
          </p:cNvPr>
          <p:cNvSpPr txBox="1"/>
          <p:nvPr/>
        </p:nvSpPr>
        <p:spPr>
          <a:xfrm>
            <a:off x="11533259" y="6243379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546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4492E562-4BFF-407E-A59A-40E2E5E7517B}"/>
              </a:ext>
            </a:extLst>
          </p:cNvPr>
          <p:cNvSpPr txBox="1"/>
          <p:nvPr/>
        </p:nvSpPr>
        <p:spPr>
          <a:xfrm>
            <a:off x="7437119" y="947994"/>
            <a:ext cx="27316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04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2C8FBC-87CA-4CCA-8BA4-F6FE1AAFDE6B}"/>
              </a:ext>
            </a:extLst>
          </p:cNvPr>
          <p:cNvSpPr/>
          <p:nvPr/>
        </p:nvSpPr>
        <p:spPr>
          <a:xfrm>
            <a:off x="5266000" y="3707215"/>
            <a:ext cx="5969051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54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0" lang="en-US" altLang="zh-CN" sz="5400" b="1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imulat</a:t>
            </a:r>
            <a:r>
              <a:rPr lang="en-US" altLang="zh-CN" sz="54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ion</a:t>
            </a:r>
            <a:endParaRPr kumimoji="0" lang="zh-CN" altLang="en-US" sz="5400" b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2D19271-6C26-428E-BBB7-7A197FCB972F}"/>
              </a:ext>
            </a:extLst>
          </p:cNvPr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9D21E0A-FFFD-47E2-A033-5C9E50CDDA6A}"/>
              </a:ext>
            </a:extLst>
          </p:cNvPr>
          <p:cNvSpPr/>
          <p:nvPr/>
        </p:nvSpPr>
        <p:spPr>
          <a:xfrm>
            <a:off x="5117982" y="4757501"/>
            <a:ext cx="65660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 algn="ctr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等线" panose="02010600030101010101" pitchFamily="2" charset="-122"/>
              </a:rPr>
              <a:t>D</a:t>
            </a:r>
            <a:r>
              <a:rPr lang="en-US" altLang="zh-CN" sz="32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iode bridge capacitive load</a:t>
            </a:r>
            <a:endParaRPr lang="zh-CN" altLang="en-US" sz="3600" i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004A19-6BAD-44D2-A5E4-B5DD713BF143}"/>
              </a:ext>
            </a:extLst>
          </p:cNvPr>
          <p:cNvSpPr txBox="1"/>
          <p:nvPr/>
        </p:nvSpPr>
        <p:spPr>
          <a:xfrm>
            <a:off x="11235051" y="6068718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5291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AF24331-C662-4664-8A2A-2FA0B70E90F6}"/>
              </a:ext>
            </a:extLst>
          </p:cNvPr>
          <p:cNvSpPr/>
          <p:nvPr/>
        </p:nvSpPr>
        <p:spPr>
          <a:xfrm>
            <a:off x="1152000" y="288000"/>
            <a:ext cx="2634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1763739" y="3583518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E809097-CDAD-4D98-85B4-B5DA08761D51}"/>
              </a:ext>
            </a:extLst>
          </p:cNvPr>
          <p:cNvGrpSpPr/>
          <p:nvPr/>
        </p:nvGrpSpPr>
        <p:grpSpPr>
          <a:xfrm>
            <a:off x="8211512" y="3583518"/>
            <a:ext cx="1506640" cy="574723"/>
            <a:chOff x="1030092" y="2801429"/>
            <a:chExt cx="2749471" cy="57472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0DC2E47-72B3-46D0-80B7-17B2ED35D91D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1BA1470-CF6D-49A2-97FF-DD093DD11558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0B857D4-3554-6230-8E0D-336D670DE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28" y="1470107"/>
            <a:ext cx="4610337" cy="20003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611006B-5BBB-EBF1-474B-DAADD1A18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165" y="768720"/>
            <a:ext cx="5374509" cy="59157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28CBEC4-8A24-F377-475E-EA78EC1E3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52" y="3955392"/>
            <a:ext cx="2057506" cy="227976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23797C7-4658-B4FF-C8A6-81CF4FFA7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437" y="3911280"/>
            <a:ext cx="3562533" cy="2241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115E58C-E31E-F37D-701E-DC45CEB57058}"/>
                  </a:ext>
                </a:extLst>
              </p:cNvPr>
              <p:cNvSpPr txBox="1"/>
              <p:nvPr/>
            </p:nvSpPr>
            <p:spPr>
              <a:xfrm>
                <a:off x="435380" y="1093222"/>
                <a:ext cx="39266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115E58C-E31E-F37D-701E-DC45CEB5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80" y="1093222"/>
                <a:ext cx="39266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98270D65-BBD2-C722-1778-719D1D766B65}"/>
              </a:ext>
            </a:extLst>
          </p:cNvPr>
          <p:cNvSpPr/>
          <p:nvPr/>
        </p:nvSpPr>
        <p:spPr>
          <a:xfrm>
            <a:off x="449004" y="1217551"/>
            <a:ext cx="113414" cy="12765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664CE657-2185-8305-D01C-5739D37E42FA}"/>
              </a:ext>
            </a:extLst>
          </p:cNvPr>
          <p:cNvSpPr/>
          <p:nvPr/>
        </p:nvSpPr>
        <p:spPr>
          <a:xfrm>
            <a:off x="6496813" y="483515"/>
            <a:ext cx="113414" cy="12765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0A6519C3-D8F3-778D-D944-559F993DE960}"/>
              </a:ext>
            </a:extLst>
          </p:cNvPr>
          <p:cNvSpPr/>
          <p:nvPr/>
        </p:nvSpPr>
        <p:spPr>
          <a:xfrm>
            <a:off x="499045" y="3619451"/>
            <a:ext cx="113414" cy="12765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2BE70D-AC01-EE1E-65C3-396686C7DC7C}"/>
              </a:ext>
            </a:extLst>
          </p:cNvPr>
          <p:cNvSpPr txBox="1"/>
          <p:nvPr/>
        </p:nvSpPr>
        <p:spPr>
          <a:xfrm>
            <a:off x="660349" y="3541948"/>
            <a:ext cx="97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THD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9CC409-5855-CD67-220A-417A18B4C995}"/>
              </a:ext>
            </a:extLst>
          </p:cNvPr>
          <p:cNvSpPr txBox="1"/>
          <p:nvPr/>
        </p:nvSpPr>
        <p:spPr>
          <a:xfrm>
            <a:off x="6764110" y="293064"/>
            <a:ext cx="25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PF</a:t>
            </a:r>
            <a:endParaRPr lang="zh-CN" altLang="en-US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81D738-F29C-4781-B0ED-3E07CBBE8B54}"/>
              </a:ext>
            </a:extLst>
          </p:cNvPr>
          <p:cNvSpPr txBox="1"/>
          <p:nvPr/>
        </p:nvSpPr>
        <p:spPr>
          <a:xfrm>
            <a:off x="11235051" y="6068718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205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4492E562-4BFF-407E-A59A-40E2E5E7517B}"/>
              </a:ext>
            </a:extLst>
          </p:cNvPr>
          <p:cNvSpPr txBox="1"/>
          <p:nvPr/>
        </p:nvSpPr>
        <p:spPr>
          <a:xfrm>
            <a:off x="7437119" y="947994"/>
            <a:ext cx="27316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05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2C8FBC-87CA-4CCA-8BA4-F6FE1AAFDE6B}"/>
              </a:ext>
            </a:extLst>
          </p:cNvPr>
          <p:cNvSpPr/>
          <p:nvPr/>
        </p:nvSpPr>
        <p:spPr>
          <a:xfrm>
            <a:off x="4978133" y="3707215"/>
            <a:ext cx="7213867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Results and analysis</a:t>
            </a:r>
            <a:endParaRPr kumimoji="0" lang="zh-CN" altLang="en-US" sz="5400" b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2D19271-6C26-428E-BBB7-7A197FCB972F}"/>
              </a:ext>
            </a:extLst>
          </p:cNvPr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CBB5E5D-77C8-4B28-8A54-93F8A969521A}"/>
              </a:ext>
            </a:extLst>
          </p:cNvPr>
          <p:cNvSpPr txBox="1"/>
          <p:nvPr/>
        </p:nvSpPr>
        <p:spPr>
          <a:xfrm>
            <a:off x="11235051" y="6068718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63C2A4-87D5-42D4-AC16-B51627C26FC6}"/>
              </a:ext>
            </a:extLst>
          </p:cNvPr>
          <p:cNvSpPr/>
          <p:nvPr/>
        </p:nvSpPr>
        <p:spPr>
          <a:xfrm>
            <a:off x="5117982" y="4757501"/>
            <a:ext cx="65660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 algn="ctr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等线" panose="02010600030101010101" pitchFamily="2" charset="-122"/>
              </a:rPr>
              <a:t>D</a:t>
            </a:r>
            <a:r>
              <a:rPr lang="en-US" altLang="zh-CN" sz="32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iode bridge capacitive load</a:t>
            </a:r>
            <a:endParaRPr lang="zh-CN" altLang="en-US" sz="3600" i="1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1677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AF24331-C662-4664-8A2A-2FA0B70E90F6}"/>
              </a:ext>
            </a:extLst>
          </p:cNvPr>
          <p:cNvSpPr/>
          <p:nvPr/>
        </p:nvSpPr>
        <p:spPr>
          <a:xfrm>
            <a:off x="1152000" y="288000"/>
            <a:ext cx="37273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Output voltage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5858312" y="1135087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E777C0-4B4D-F33F-3B0E-C282CBAE3820}"/>
                  </a:ext>
                </a:extLst>
              </p:cNvPr>
              <p:cNvSpPr txBox="1"/>
              <p:nvPr/>
            </p:nvSpPr>
            <p:spPr>
              <a:xfrm>
                <a:off x="6611631" y="2332419"/>
                <a:ext cx="6096000" cy="2815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𝑤𝐶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func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𝑑𝑒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𝑑𝑤𝑡</m:t>
                              </m:r>
                            </m:e>
                          </m:nary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E777C0-4B4D-F33F-3B0E-C282CBAE3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631" y="2332419"/>
                <a:ext cx="6096000" cy="28157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4B4EAA66-17AD-8708-336C-D2A07C7E0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972" y="3025972"/>
            <a:ext cx="4080533" cy="30118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893256C-A97B-E916-B577-B84525531C6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02"/>
          <a:stretch/>
        </p:blipFill>
        <p:spPr bwMode="auto">
          <a:xfrm>
            <a:off x="505773" y="1016974"/>
            <a:ext cx="7466133" cy="200899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824421F-4690-496F-B119-0E694ED9A04A}"/>
              </a:ext>
            </a:extLst>
          </p:cNvPr>
          <p:cNvSpPr txBox="1"/>
          <p:nvPr/>
        </p:nvSpPr>
        <p:spPr>
          <a:xfrm>
            <a:off x="11235051" y="6068718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894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AF24331-C662-4664-8A2A-2FA0B70E90F6}"/>
              </a:ext>
            </a:extLst>
          </p:cNvPr>
          <p:cNvSpPr/>
          <p:nvPr/>
        </p:nvSpPr>
        <p:spPr>
          <a:xfrm>
            <a:off x="1152000" y="288000"/>
            <a:ext cx="31678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Power factor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1763739" y="3583518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E809097-CDAD-4D98-85B4-B5DA08761D51}"/>
              </a:ext>
            </a:extLst>
          </p:cNvPr>
          <p:cNvGrpSpPr/>
          <p:nvPr/>
        </p:nvGrpSpPr>
        <p:grpSpPr>
          <a:xfrm>
            <a:off x="8211512" y="3583518"/>
            <a:ext cx="1506640" cy="574723"/>
            <a:chOff x="1030092" y="2801429"/>
            <a:chExt cx="2749471" cy="57472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0DC2E47-72B3-46D0-80B7-17B2ED35D91D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1BA1470-CF6D-49A2-97FF-DD093DD11558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62CEE69-9275-9277-6418-3FD0BFF493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2" t="33626" r="4421" b="33200"/>
          <a:stretch/>
        </p:blipFill>
        <p:spPr>
          <a:xfrm>
            <a:off x="150829" y="929967"/>
            <a:ext cx="6804153" cy="19707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3A978BA-D920-E103-939A-729D526186EF}"/>
                  </a:ext>
                </a:extLst>
              </p:cNvPr>
              <p:cNvSpPr txBox="1"/>
              <p:nvPr/>
            </p:nvSpPr>
            <p:spPr>
              <a:xfrm>
                <a:off x="8123316" y="2318436"/>
                <a:ext cx="2383971" cy="2917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↓↓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↓</m:t>
                      </m:r>
                    </m:oMath>
                  </m:oMathPara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endParaRPr lang="en-US" altLang="zh-CN" b="0" dirty="0">
                  <a:ea typeface="Cambria Math" panose="02040503050406030204" pitchFamily="18" charset="0"/>
                </a:endParaRPr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3A978BA-D920-E103-939A-729D52618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316" y="2318436"/>
                <a:ext cx="2383971" cy="29171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72C0C8E8-28CF-2B64-21E8-8D22EAEF03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834"/>
          <a:stretch/>
        </p:blipFill>
        <p:spPr>
          <a:xfrm>
            <a:off x="-33453" y="2759785"/>
            <a:ext cx="6804153" cy="409821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F8FA76F-AF94-48AA-9830-1123FA3F66A9}"/>
              </a:ext>
            </a:extLst>
          </p:cNvPr>
          <p:cNvSpPr txBox="1"/>
          <p:nvPr/>
        </p:nvSpPr>
        <p:spPr>
          <a:xfrm>
            <a:off x="11235051" y="6068718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531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AF24331-C662-4664-8A2A-2FA0B70E90F6}"/>
              </a:ext>
            </a:extLst>
          </p:cNvPr>
          <p:cNvSpPr/>
          <p:nvPr/>
        </p:nvSpPr>
        <p:spPr>
          <a:xfrm>
            <a:off x="1152000" y="288000"/>
            <a:ext cx="12186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THD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1763739" y="3583518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41BA1470-CF6D-49A2-97FF-DD093DD11558}"/>
              </a:ext>
            </a:extLst>
          </p:cNvPr>
          <p:cNvCxnSpPr/>
          <p:nvPr/>
        </p:nvCxnSpPr>
        <p:spPr>
          <a:xfrm>
            <a:off x="8846469" y="4158241"/>
            <a:ext cx="236725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5112A856-705B-875A-5B00-ABF7A27AD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70"/>
          <a:stretch/>
        </p:blipFill>
        <p:spPr bwMode="auto">
          <a:xfrm>
            <a:off x="1052945" y="1047389"/>
            <a:ext cx="8191652" cy="227495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7425703-63F5-D87C-96E8-F69142BD31DA}"/>
                  </a:ext>
                </a:extLst>
              </p:cNvPr>
              <p:cNvSpPr txBox="1"/>
              <p:nvPr/>
            </p:nvSpPr>
            <p:spPr>
              <a:xfrm>
                <a:off x="1761301" y="3973575"/>
                <a:ext cx="60937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kern="0" dirty="0">
                    <a:effectLst/>
                    <a:ea typeface="Segoe UI" panose="020B0502040204020203" pitchFamily="34" charset="0"/>
                  </a:rPr>
                  <a:t>THD</a:t>
                </a:r>
                <a14:m>
                  <m:oMath xmlns:m="http://schemas.openxmlformats.org/officeDocument/2006/math">
                    <m:r>
                      <a:rPr lang="en-US" altLang="zh-CN" sz="180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US" altLang="zh-CN" sz="1800" b="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</m:t>
                    </m:r>
                    <m:sSub>
                      <m:sSubPr>
                        <m:ctrlPr>
                          <a:rPr lang="en-US" altLang="zh-CN" sz="1800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1800" b="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1800" kern="0" dirty="0"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fluctuates greatly, resulting in high THD. 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7425703-63F5-D87C-96E8-F69142BD3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301" y="3973575"/>
                <a:ext cx="6093724" cy="369332"/>
              </a:xfrm>
              <a:prstGeom prst="rect">
                <a:avLst/>
              </a:prstGeom>
              <a:blipFill>
                <a:blip r:embed="rId3"/>
                <a:stretch>
                  <a:fillRect l="-900" t="-11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F69CCAE-6C9D-B68D-6CA5-B40674346BBE}"/>
                  </a:ext>
                </a:extLst>
              </p:cNvPr>
              <p:cNvSpPr txBox="1"/>
              <p:nvPr/>
            </p:nvSpPr>
            <p:spPr>
              <a:xfrm>
                <a:off x="1761301" y="4624624"/>
                <a:ext cx="801446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</a:rPr>
                  <a:t>THD</a:t>
                </a:r>
                <a14:m>
                  <m:oMath xmlns:m="http://schemas.openxmlformats.org/officeDocument/2006/math">
                    <m:r>
                      <a:rPr lang="en-US" altLang="zh-CN" sz="1800" i="1" kern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altLang="zh-CN" sz="1800" b="0" i="1" kern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</m:oMath>
                </a14:m>
                <a:r>
                  <a:rPr lang="zh-CN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</a:rPr>
                  <a:t> </a:t>
                </a:r>
                <a:r>
                  <a:rPr lang="zh-CN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discharge time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altLang="zh-CN" sz="1800" kern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Segoe UI" panose="020B0502040204020203" pitchFamily="34" charset="0"/>
                  <a:cs typeface="Times New Roman" panose="02020603050405020304" pitchFamily="18" charset="0"/>
                </a:endParaRPr>
              </a:p>
              <a:p>
                <a:r>
                  <a:rPr lang="zh-CN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               </a:t>
                </a:r>
                <a:r>
                  <a:rPr lang="zh-CN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id is closer to a narrow pulse</a:t>
                </a:r>
                <a14:m>
                  <m:oMath xmlns:m="http://schemas.openxmlformats.org/officeDocument/2006/math">
                    <m:r>
                      <a:rPr lang="zh-CN" altLang="en-US" sz="1800" i="1" kern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zh-CN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contains more harmonic components</a:t>
                </a:r>
                <a:endParaRPr lang="zh-CN" altLang="zh-CN" sz="16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F69CCAE-6C9D-B68D-6CA5-B40674346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301" y="4624624"/>
                <a:ext cx="8014466" cy="646331"/>
              </a:xfrm>
              <a:prstGeom prst="rect">
                <a:avLst/>
              </a:prstGeom>
              <a:blipFill>
                <a:blip r:embed="rId4"/>
                <a:stretch>
                  <a:fillRect l="-684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07F7B2B5-B6E4-44BF-830D-30E898ABFC42}"/>
              </a:ext>
            </a:extLst>
          </p:cNvPr>
          <p:cNvSpPr txBox="1"/>
          <p:nvPr/>
        </p:nvSpPr>
        <p:spPr>
          <a:xfrm>
            <a:off x="11235051" y="6068718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fld>
            <a:endParaRPr lang="zh-CN" altLang="en-US" sz="28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300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1049" y="1855366"/>
            <a:ext cx="8175445" cy="3529890"/>
          </a:xfrm>
          <a:prstGeom prst="rect">
            <a:avLst/>
          </a:prstGeom>
        </p:spPr>
      </p:pic>
      <p:sp>
        <p:nvSpPr>
          <p:cNvPr id="34" name="平行四边形 33">
            <a:extLst>
              <a:ext uri="{FF2B5EF4-FFF2-40B4-BE49-F238E27FC236}">
                <a16:creationId xmlns:a16="http://schemas.microsoft.com/office/drawing/2014/main" id="{86B2D4A7-EE6A-BF42-B6C7-8FA38A66A2CE}"/>
              </a:ext>
            </a:extLst>
          </p:cNvPr>
          <p:cNvSpPr/>
          <p:nvPr/>
        </p:nvSpPr>
        <p:spPr>
          <a:xfrm>
            <a:off x="9700192" y="-21822"/>
            <a:ext cx="5520696" cy="6858000"/>
          </a:xfrm>
          <a:prstGeom prst="parallelogram">
            <a:avLst>
              <a:gd name="adj" fmla="val 76100"/>
            </a:avLst>
          </a:prstGeom>
          <a:gradFill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effectLst>
            <a:outerShdw blurRad="762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平行四边形 13">
            <a:extLst>
              <a:ext uri="{FF2B5EF4-FFF2-40B4-BE49-F238E27FC236}">
                <a16:creationId xmlns:a16="http://schemas.microsoft.com/office/drawing/2014/main" id="{D823E484-0B40-2142-B031-E0D3C2E285D0}"/>
              </a:ext>
            </a:extLst>
          </p:cNvPr>
          <p:cNvSpPr/>
          <p:nvPr/>
        </p:nvSpPr>
        <p:spPr>
          <a:xfrm>
            <a:off x="-4160345" y="1627322"/>
            <a:ext cx="6973806" cy="5230678"/>
          </a:xfrm>
          <a:prstGeom prst="parallelogram">
            <a:avLst>
              <a:gd name="adj" fmla="val 60655"/>
            </a:avLst>
          </a:prstGeom>
          <a:solidFill>
            <a:srgbClr val="0070C0"/>
          </a:solidFill>
          <a:ln>
            <a:noFill/>
          </a:ln>
          <a:effectLst>
            <a:outerShdw blurRad="508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A8E4160F-A117-3742-A80D-C35D1C84BE1D}"/>
              </a:ext>
            </a:extLst>
          </p:cNvPr>
          <p:cNvSpPr/>
          <p:nvPr/>
        </p:nvSpPr>
        <p:spPr>
          <a:xfrm>
            <a:off x="2003698" y="1631111"/>
            <a:ext cx="1627559" cy="1337504"/>
          </a:xfrm>
          <a:prstGeom prst="triangle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三角形 29">
            <a:extLst>
              <a:ext uri="{FF2B5EF4-FFF2-40B4-BE49-F238E27FC236}">
                <a16:creationId xmlns:a16="http://schemas.microsoft.com/office/drawing/2014/main" id="{62928718-7D9F-894D-B6B3-73F71A130AE1}"/>
              </a:ext>
            </a:extLst>
          </p:cNvPr>
          <p:cNvSpPr/>
          <p:nvPr/>
        </p:nvSpPr>
        <p:spPr>
          <a:xfrm rot="10800000">
            <a:off x="2987725" y="1911477"/>
            <a:ext cx="1266785" cy="1041025"/>
          </a:xfrm>
          <a:prstGeom prst="triangle">
            <a:avLst/>
          </a:prstGeom>
          <a:solidFill>
            <a:srgbClr val="0064C8"/>
          </a:solidFill>
          <a:ln>
            <a:noFill/>
          </a:ln>
          <a:effectLst>
            <a:outerShdw blurRad="762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37242BB2-26E7-CA49-BE1E-84F60E12B8B6}"/>
              </a:ext>
            </a:extLst>
          </p:cNvPr>
          <p:cNvCxnSpPr>
            <a:cxnSpLocks/>
          </p:cNvCxnSpPr>
          <p:nvPr/>
        </p:nvCxnSpPr>
        <p:spPr>
          <a:xfrm flipH="1">
            <a:off x="11287970" y="5356368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C9150DC7-FB14-DD4A-B235-3C48BD9D61EF}"/>
              </a:ext>
            </a:extLst>
          </p:cNvPr>
          <p:cNvCxnSpPr>
            <a:cxnSpLocks/>
          </p:cNvCxnSpPr>
          <p:nvPr/>
        </p:nvCxnSpPr>
        <p:spPr>
          <a:xfrm flipH="1">
            <a:off x="5680255" y="1466983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2F21B032-8745-2449-B83A-53B057574FFF}"/>
              </a:ext>
            </a:extLst>
          </p:cNvPr>
          <p:cNvCxnSpPr>
            <a:cxnSpLocks/>
          </p:cNvCxnSpPr>
          <p:nvPr/>
        </p:nvCxnSpPr>
        <p:spPr>
          <a:xfrm flipH="1">
            <a:off x="-228600" y="5572016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平行四边形 56">
            <a:extLst>
              <a:ext uri="{FF2B5EF4-FFF2-40B4-BE49-F238E27FC236}">
                <a16:creationId xmlns:a16="http://schemas.microsoft.com/office/drawing/2014/main" id="{DCF785ED-1755-D64A-A51D-E9D064A726E6}"/>
              </a:ext>
            </a:extLst>
          </p:cNvPr>
          <p:cNvSpPr/>
          <p:nvPr/>
        </p:nvSpPr>
        <p:spPr>
          <a:xfrm>
            <a:off x="-5637890" y="2431990"/>
            <a:ext cx="6973806" cy="5230678"/>
          </a:xfrm>
          <a:prstGeom prst="parallelogram">
            <a:avLst>
              <a:gd name="adj" fmla="val 60655"/>
            </a:avLst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2A4011-5BEA-4638-977C-E3BC4816A160}"/>
              </a:ext>
            </a:extLst>
          </p:cNvPr>
          <p:cNvSpPr/>
          <p:nvPr/>
        </p:nvSpPr>
        <p:spPr>
          <a:xfrm>
            <a:off x="6150474" y="2444140"/>
            <a:ext cx="4546538" cy="1680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dist">
              <a:lnSpc>
                <a:spcPct val="130000"/>
              </a:lnSpc>
              <a:defRPr/>
            </a:pPr>
            <a:r>
              <a:rPr kumimoji="1" lang="en-US" altLang="zh-CN" sz="8800" b="1" dirty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Thanks</a:t>
            </a:r>
            <a:endParaRPr kumimoji="1"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微软雅黑" panose="020B0503020204020204" pitchFamily="34" charset="-122"/>
              <a:cs typeface="Times New Roman" pitchFamily="18" charset="0"/>
              <a:sym typeface="+mn-ea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FA42F5D-7B88-4193-AE99-6698853CB4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600" y="1911477"/>
            <a:ext cx="2514152" cy="67329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364F787-377E-47CB-8FAC-3CD87699BBB7}"/>
              </a:ext>
            </a:extLst>
          </p:cNvPr>
          <p:cNvSpPr txBox="1"/>
          <p:nvPr/>
        </p:nvSpPr>
        <p:spPr>
          <a:xfrm>
            <a:off x="10697011" y="5845574"/>
            <a:ext cx="658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9335FC-5757-41EA-95D7-D299D4E5AAF1}" type="slidenum">
              <a:rPr lang="zh-CN" altLang="en-US" sz="28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fld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9AF1116-81FA-4B21-ABAB-ED8EC37971CC}"/>
              </a:ext>
            </a:extLst>
          </p:cNvPr>
          <p:cNvCxnSpPr/>
          <p:nvPr/>
        </p:nvCxnSpPr>
        <p:spPr>
          <a:xfrm>
            <a:off x="5074614" y="4026450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E72A8EF-E86C-47C7-B94D-EB06F14D2D38}"/>
              </a:ext>
            </a:extLst>
          </p:cNvPr>
          <p:cNvSpPr txBox="1"/>
          <p:nvPr/>
        </p:nvSpPr>
        <p:spPr>
          <a:xfrm>
            <a:off x="7626475" y="5250617"/>
            <a:ext cx="243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2023.10.17</a:t>
            </a:r>
            <a:endParaRPr kumimoji="1"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939064"/>
      </p:ext>
    </p:extLst>
  </p:cSld>
  <p:clrMapOvr>
    <a:masterClrMapping/>
  </p:clrMapOvr>
  <p:extLst>
    <p:ext uri="{E180D4A7-C9FB-4DFB-919C-405C955672EB}">
      <p14:showEvtLst xmlns:p14="http://schemas.microsoft.com/office/powerpoint/2010/main">
        <p14:playEvt time="0" objId="21"/>
      </p14:showEvtLst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6576</TotalTime>
  <Words>732</Words>
  <Application>Microsoft Office PowerPoint</Application>
  <PresentationFormat>宽屏</PresentationFormat>
  <Paragraphs>235</Paragraphs>
  <Slides>25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Palatino</vt:lpstr>
      <vt:lpstr>等线</vt:lpstr>
      <vt:lpstr>思源黑体 CN Normal</vt:lpstr>
      <vt:lpstr>微软雅黑</vt:lpstr>
      <vt:lpstr>Arial</vt:lpstr>
      <vt:lpstr>Arial Black</vt:lpstr>
      <vt:lpstr>Cambria Math</vt:lpstr>
      <vt:lpstr>Stencil</vt:lpstr>
      <vt:lpstr>Times New Roman</vt:lpstr>
      <vt:lpstr>Office 主题​​</vt:lpstr>
      <vt:lpstr>Visio</vt:lpstr>
      <vt:lpstr>Microsoft Visio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董洋</dc:creator>
  <cp:lastModifiedBy>索定扬 索定扬</cp:lastModifiedBy>
  <cp:revision>448</cp:revision>
  <dcterms:created xsi:type="dcterms:W3CDTF">2020-08-21T00:34:25Z</dcterms:created>
  <dcterms:modified xsi:type="dcterms:W3CDTF">2023-10-17T08:34:22Z</dcterms:modified>
</cp:coreProperties>
</file>